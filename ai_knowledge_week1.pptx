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4" r:id="rId9"/>
    <p:sldId id="265" r:id="rId10"/>
    <p:sldId id="266" r:id="rId11"/>
    <p:sldId id="271" r:id="rId12"/>
    <p:sldId id="268" r:id="rId13"/>
    <p:sldId id="269" r:id="rId14"/>
    <p:sldId id="270" r:id="rId15"/>
    <p:sldId id="272" r:id="rId16"/>
    <p:sldId id="273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knowledge_ba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34.xml"/><Relationship Id="rId20" Type="http://schemas.openxmlformats.org/officeDocument/2006/relationships/tags" Target="../tags/tag33.xml"/><Relationship Id="rId2" Type="http://schemas.openxmlformats.org/officeDocument/2006/relationships/tags" Target="../tags/tag15.xml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676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1676400" y="0"/>
            <a:ext cx="152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2019300" y="1143000"/>
            <a:ext cx="9220200" cy="9525"/>
          </a:xfrm>
          <a:custGeom>
            <a:avLst/>
            <a:gdLst/>
            <a:ahLst/>
            <a:cxnLst/>
            <a:rect l="l" t="t" r="r" b="b"/>
            <a:pathLst>
              <a:path w="9220200" h="9525">
                <a:moveTo>
                  <a:pt x="0" y="0"/>
                </a:moveTo>
                <a:lnTo>
                  <a:pt x="9220200" y="0"/>
                </a:lnTo>
              </a:path>
            </a:pathLst>
          </a:custGeom>
          <a:solidFill>
            <a:srgbClr val="000000"/>
          </a:solidFill>
          <a:ln w="19050">
            <a:solidFill>
              <a:schemeClr val="accent5"/>
            </a:solidFill>
          </a:ln>
        </p:spPr>
      </p:sp>
      <p:grpSp>
        <p:nvGrpSpPr>
          <p:cNvPr id="31" name="Group 31"/>
          <p:cNvGrpSpPr/>
          <p:nvPr>
            <p:custDataLst>
              <p:tags r:id="rId1"/>
            </p:custDataLst>
          </p:nvPr>
        </p:nvGrpSpPr>
        <p:grpSpPr>
          <a:xfrm>
            <a:off x="601980" y="1266825"/>
            <a:ext cx="10230496" cy="3661410"/>
            <a:chOff x="601980" y="1266825"/>
            <a:chExt cx="10230496" cy="366141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266825"/>
              <a:ext cx="944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知识库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371090" y="1534477"/>
              <a:ext cx="232798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从概念到</a:t>
              </a:r>
              <a:endParaRPr lang="zh-CN" sz="4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371090" y="2325052"/>
              <a:ext cx="232798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工具实践</a:t>
              </a:r>
              <a:endParaRPr lang="zh-CN" sz="4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41879" y="3276283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把理解变成行动</a:t>
              </a:r>
              <a:endParaRPr lang="zh-CN" sz="19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79699" y="3818573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把知识组织成工作流</a:t>
              </a:r>
              <a:endParaRPr lang="zh-CN" sz="19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99820" y="4509135"/>
              <a:ext cx="1600200" cy="4191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6400" y="460946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99410" y="4509135"/>
              <a:ext cx="1600200" cy="4191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79800" y="460946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99000" y="4509135"/>
              <a:ext cx="1600200" cy="4191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83200" y="460946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0642" y="1378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学习路径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667500" y="18097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9" name="Ellipse 19"/>
            <p:cNvSpPr/>
            <p:nvPr>
              <p:custDataLst>
                <p:tags r:id="rId2"/>
              </p:custDataLst>
            </p:nvPr>
          </p:nvSpPr>
          <p:spPr>
            <a:xfrm>
              <a:off x="6724650" y="213360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>
              <p:custDataLst>
                <p:tags r:id="rId3"/>
              </p:custDataLst>
            </p:nvPr>
          </p:nvSpPr>
          <p:spPr>
            <a:xfrm>
              <a:off x="6912965" y="23021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4"/>
              </p:custDataLst>
            </p:nvPr>
          </p:nvSpPr>
          <p:spPr>
            <a:xfrm>
              <a:off x="7418070" y="20812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理解概念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5"/>
              </p:custDataLst>
            </p:nvPr>
          </p:nvSpPr>
          <p:spPr>
            <a:xfrm>
              <a:off x="7422642" y="2502218"/>
              <a:ext cx="3049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/ Prompt / Agent / RAG / MCP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Ellipse 23"/>
            <p:cNvSpPr/>
            <p:nvPr>
              <p:custDataLst>
                <p:tags r:id="rId6"/>
              </p:custDataLst>
            </p:nvPr>
          </p:nvSpPr>
          <p:spPr>
            <a:xfrm>
              <a:off x="6724650" y="31051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>
              <p:custDataLst>
                <p:tags r:id="rId7"/>
              </p:custDataLst>
            </p:nvPr>
          </p:nvSpPr>
          <p:spPr>
            <a:xfrm>
              <a:off x="6912965" y="32737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>
              <p:custDataLst>
                <p:tags r:id="rId8"/>
              </p:custDataLst>
            </p:nvPr>
          </p:nvSpPr>
          <p:spPr>
            <a:xfrm>
              <a:off x="7418070" y="30527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上手工具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>
              <p:custDataLst>
                <p:tags r:id="rId9"/>
              </p:custDataLst>
            </p:nvPr>
          </p:nvSpPr>
          <p:spPr>
            <a:xfrm>
              <a:off x="7422642" y="3473768"/>
              <a:ext cx="3409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 / Codex / WorkBuddy / Obsidian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Ellipse 27"/>
            <p:cNvSpPr/>
            <p:nvPr>
              <p:custDataLst>
                <p:tags r:id="rId10"/>
              </p:custDataLst>
            </p:nvPr>
          </p:nvSpPr>
          <p:spPr>
            <a:xfrm>
              <a:off x="6724650" y="407670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>
              <p:custDataLst>
                <p:tags r:id="rId11"/>
              </p:custDataLst>
            </p:nvPr>
          </p:nvSpPr>
          <p:spPr>
            <a:xfrm>
              <a:off x="6912965" y="4245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>
              <p:custDataLst>
                <p:tags r:id="rId12"/>
              </p:custDataLst>
            </p:nvPr>
          </p:nvSpPr>
          <p:spPr>
            <a:xfrm>
              <a:off x="7418070" y="40243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落到项目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>
              <p:custDataLst>
                <p:tags r:id="rId13"/>
              </p:custDataLst>
            </p:nvPr>
          </p:nvSpPr>
          <p:spPr>
            <a:xfrm>
              <a:off x="7422642" y="44453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从知识到可运行界面，再到知识库沉淀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14400" y="685800"/>
            <a:ext cx="10744200" cy="190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669798" y="1168718"/>
            <a:ext cx="10836402" cy="4184332"/>
            <a:chOff x="669798" y="1168718"/>
            <a:chExt cx="10836402" cy="4184332"/>
          </a:xfrm>
        </p:grpSpPr>
        <p:sp>
          <p:nvSpPr>
            <p:cNvPr id="4" name="TextBox 4"/>
            <p:cNvSpPr txBox="1"/>
            <p:nvPr/>
          </p:nvSpPr>
          <p:spPr>
            <a:xfrm>
              <a:off x="678942" y="11687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概念基础 02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9798" y="1622108"/>
              <a:ext cx="2037080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AI</a:t>
              </a:r>
              <a:endParaRPr lang="en-US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6656" y="23012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不是为了追热词，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656" y="264414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而是为了让处理信息、表达和执行更高效。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6477000" y="1219200"/>
              <a:ext cx="5029200" cy="12001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1132" y="13544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基础认知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4180" y="1819275"/>
              <a:ext cx="4429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 LLM、Prompt、Agent、RAG、MCP 的关系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77000" y="2686050"/>
              <a:ext cx="5029200" cy="12001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71132" y="28213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应用场景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74180" y="32861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学习、写作、编程、知识管理、自动化协作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477000" y="4152900"/>
              <a:ext cx="5029200" cy="12001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71132" y="42881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学习路线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74180" y="4752975"/>
              <a:ext cx="4064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概念 → Prompt → Agent → 知识库 → 工具实践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38862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7418" y="4146232"/>
              <a:ext cx="40283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结果：把“会问问题”变成“能完成任务”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4"/>
          <p:cNvGrpSpPr/>
          <p:nvPr/>
        </p:nvGrpSpPr>
        <p:grpSpPr>
          <a:xfrm>
            <a:off x="669798" y="1073468"/>
            <a:ext cx="10836402" cy="3993832"/>
            <a:chOff x="669798" y="1073468"/>
            <a:chExt cx="10836402" cy="3993832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107346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概念基础 03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1526858"/>
              <a:ext cx="84296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LLM：先预测下一个词，再生成完整答案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7418" y="2184082"/>
              <a:ext cx="7092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是基于海量文本训练的模型，擅长理解上下文并续写自然语言。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2971800"/>
              <a:ext cx="2857500" cy="2095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60120" y="318611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训练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63930" y="37052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海量文本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63930" y="4029075"/>
              <a:ext cx="1283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Transformer</a:t>
              </a:r>
              <a:endParaRPr lang="en-US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3930" y="4352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统计规律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962400" y="2971800"/>
              <a:ext cx="4267200" cy="20955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56532" y="3202305"/>
              <a:ext cx="39841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 → 下一个 token → 输出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4267200" y="37338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85615" y="3781425"/>
              <a:ext cx="36195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模型不是“查字典”，而是在语义空间里做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概率生成。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59580" y="4391025"/>
              <a:ext cx="36195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它能续写、归纳、翻译、写代码，也能处理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非结构化文本。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2971800"/>
              <a:ext cx="2933700" cy="2095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65870" y="318611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69680" y="37242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07880" y="37242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46080" y="37242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推理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0" y="40862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07880" y="40862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翻译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46080" y="4086225"/>
              <a:ext cx="243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ժҪ</a:t>
              </a:r>
              <a:endParaRPr lang="en-US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05266" y="4630102"/>
              <a:ext cx="25337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提醒：模型偏语言模式，不等于事实。</a:t>
              </a:r>
              <a:endParaRPr lang="zh-CN" sz="10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669798" y="1035368"/>
            <a:ext cx="10836402" cy="4252721"/>
            <a:chOff x="669798" y="1035368"/>
            <a:chExt cx="10836402" cy="4252721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103536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概念基础 04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1488758"/>
              <a:ext cx="91532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Prompt Engineering：把意图写成可执行指令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7418" y="2145982"/>
              <a:ext cx="36151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核心不是“说得多”，而是“说得准”。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2990850"/>
              <a:ext cx="2362200" cy="12573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3732" y="31642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角色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7542" y="36071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你希望模型扮演谁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3238500" y="2990850"/>
              <a:ext cx="2362200" cy="12573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456432" y="31642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60242" y="36071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要完成什么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91200" y="2990850"/>
              <a:ext cx="2362200" cy="12573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09132" y="316420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2942" y="36071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给它必要背景与约束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43900" y="2990850"/>
              <a:ext cx="3162300" cy="12573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61832" y="31642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输出格式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5642" y="36071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让结果可以直接使用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4724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7418" y="4965382"/>
              <a:ext cx="66529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增强项：Few-Shot、Chain-of-Thought、检查清单、反例约束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4"/>
          <p:cNvGrpSpPr/>
          <p:nvPr/>
        </p:nvGrpSpPr>
        <p:grpSpPr>
          <a:xfrm>
            <a:off x="824738" y="340678"/>
            <a:ext cx="10035032" cy="6168072"/>
            <a:chOff x="824738" y="340678"/>
            <a:chExt cx="10035032" cy="6168072"/>
          </a:xfrm>
        </p:grpSpPr>
        <p:sp>
          <p:nvSpPr>
            <p:cNvPr id="2" name="TextBox 2"/>
            <p:cNvSpPr txBox="1"/>
            <p:nvPr/>
          </p:nvSpPr>
          <p:spPr>
            <a:xfrm>
              <a:off x="824992" y="34067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概念基础 05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24738" y="738823"/>
              <a:ext cx="62235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Agent：从回答问题到完成任务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74903" y="1293177"/>
              <a:ext cx="48590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是大脑，Agent 是会调用工具的行动系统。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Ellipse 5"/>
            <p:cNvSpPr/>
            <p:nvPr/>
          </p:nvSpPr>
          <p:spPr>
            <a:xfrm>
              <a:off x="5205730" y="2992120"/>
              <a:ext cx="1943100" cy="19431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34155" y="355663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</a:t>
              </a:r>
              <a:endParaRPr lang="en-US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789168" y="4014153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任务闭环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512570" y="3763010"/>
              <a:ext cx="1638300" cy="9906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10512" y="3893820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感知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88592" y="430434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读取输入与状态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095750" y="1752600"/>
              <a:ext cx="1638300" cy="9906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51782" y="182816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规划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51782" y="230409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拆解可执行步骤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221470" y="3501390"/>
              <a:ext cx="1638300" cy="9906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80347" y="355663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80347" y="4060508"/>
              <a:ext cx="11562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调用工具/API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45610" y="5518150"/>
              <a:ext cx="1638300" cy="9906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58462" y="567753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反思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51782" y="6105843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评估结果并调整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 rot="360000">
              <a:off x="2925445" y="2012315"/>
              <a:ext cx="1028700" cy="1847850"/>
            </a:xfrm>
            <a:custGeom>
              <a:avLst/>
              <a:gdLst/>
              <a:ahLst/>
              <a:cxnLst/>
              <a:rect l="l" t="t" r="r" b="b"/>
              <a:pathLst>
                <a:path w="1028700" h="1847850">
                  <a:moveTo>
                    <a:pt x="0" y="1847850"/>
                  </a:moveTo>
                  <a:lnTo>
                    <a:pt x="10287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5782310" y="2119630"/>
              <a:ext cx="3390900" cy="1847850"/>
            </a:xfrm>
            <a:custGeom>
              <a:avLst/>
              <a:gdLst/>
              <a:ahLst/>
              <a:cxnLst/>
              <a:rect l="l" t="t" r="r" b="b"/>
              <a:pathLst>
                <a:path w="3390900" h="1847850">
                  <a:moveTo>
                    <a:pt x="0" y="0"/>
                  </a:moveTo>
                  <a:lnTo>
                    <a:pt x="3390900" y="18478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5822315" y="4324985"/>
              <a:ext cx="3390900" cy="1352550"/>
            </a:xfrm>
            <a:custGeom>
              <a:avLst/>
              <a:gdLst/>
              <a:ahLst/>
              <a:cxnLst/>
              <a:rect l="l" t="t" r="r" b="b"/>
              <a:pathLst>
                <a:path w="3390900" h="1352550">
                  <a:moveTo>
                    <a:pt x="3390900" y="0"/>
                  </a:moveTo>
                  <a:lnTo>
                    <a:pt x="0" y="13525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3216910" y="4753610"/>
              <a:ext cx="1028700" cy="1352550"/>
            </a:xfrm>
            <a:custGeom>
              <a:avLst/>
              <a:gdLst/>
              <a:ahLst/>
              <a:cxnLst/>
              <a:rect l="l" t="t" r="r" b="b"/>
              <a:pathLst>
                <a:path w="1028700" h="1352550">
                  <a:moveTo>
                    <a:pt x="1028700" y="135255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7"/>
          <p:cNvGrpSpPr/>
          <p:nvPr/>
        </p:nvGrpSpPr>
        <p:grpSpPr>
          <a:xfrm>
            <a:off x="669798" y="1035368"/>
            <a:ext cx="10836402" cy="4372927"/>
            <a:chOff x="669798" y="1035368"/>
            <a:chExt cx="10836402" cy="437292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1035368"/>
              <a:ext cx="92392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概念基础 0</a:t>
              </a:r>
              <a:r>
                <a:rPr lang="en-US" alt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</a:t>
              </a:r>
              <a:endParaRPr lang="en-US" alt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1488758"/>
              <a:ext cx="69949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Fine-tuning：让模型更懂特定领域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7418" y="2145982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微调是在通用模型基础上，用领域数据再次训练。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3009900"/>
              <a:ext cx="4953000" cy="2000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1070" y="31861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适合微调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3705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固定格式输出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4880" y="4048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稳定风格或语气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4880" y="43910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专业任务表现提升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553200" y="3009900"/>
              <a:ext cx="4953000" cy="2000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08470" y="3186112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不优先微调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12280" y="3705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知识变化很快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2280" y="40481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需要频繁更新资料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12280" y="4391025"/>
              <a:ext cx="2351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先考虑 RAG，再考虑微调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5638800" y="401955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92980" y="5114925"/>
              <a:ext cx="58287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判断：知识更新快用 RAG；行为稳定且数据充足时再微调。</a:t>
              </a:r>
              <a:endParaRPr lang="zh-CN" sz="15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5"/>
          <p:cNvGrpSpPr/>
          <p:nvPr>
            <p:custDataLst>
              <p:tags r:id="rId1"/>
            </p:custDataLst>
          </p:nvPr>
        </p:nvGrpSpPr>
        <p:grpSpPr>
          <a:xfrm>
            <a:off x="669798" y="1035368"/>
            <a:ext cx="10836402" cy="4070032"/>
            <a:chOff x="669798" y="1035368"/>
            <a:chExt cx="10836402" cy="4070032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1035368"/>
              <a:ext cx="92392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工具实践 0</a:t>
              </a:r>
              <a:r>
                <a:rPr lang="en-US" alt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</a:t>
              </a:r>
              <a:endParaRPr lang="en-US" alt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1488758"/>
              <a:ext cx="81003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工具不是越多越好，而是分工要清楚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7418" y="2145982"/>
              <a:ext cx="63551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 读懂，Codex 构建，WorkBuddy 编排，Obsidian 沉淀。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>
              <p:custDataLst>
                <p:tags r:id="rId2"/>
              </p:custDataLst>
            </p:nvPr>
          </p:nvSpPr>
          <p:spPr>
            <a:xfrm>
              <a:off x="685800" y="3009900"/>
              <a:ext cx="2457450" cy="2095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6" name="TextBox 6"/>
            <p:cNvSpPr txBox="1"/>
            <p:nvPr>
              <p:custDataLst>
                <p:tags r:id="rId3"/>
              </p:custDataLst>
            </p:nvPr>
          </p:nvSpPr>
          <p:spPr>
            <a:xfrm>
              <a:off x="941070" y="3186112"/>
              <a:ext cx="10020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Claude</a:t>
              </a:r>
              <a:endParaRPr lang="en-US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>
              <p:custDataLst>
                <p:tags r:id="rId4"/>
              </p:custDataLst>
            </p:nvPr>
          </p:nvSpPr>
          <p:spPr>
            <a:xfrm>
              <a:off x="944880" y="37052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多轮对话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>
              <p:custDataLst>
                <p:tags r:id="rId5"/>
              </p:custDataLst>
            </p:nvPr>
          </p:nvSpPr>
          <p:spPr>
            <a:xfrm>
              <a:off x="944880" y="4029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文档分析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6"/>
              </p:custDataLst>
            </p:nvPr>
          </p:nvSpPr>
          <p:spPr>
            <a:xfrm>
              <a:off x="944880" y="4352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知识归类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>
              <p:custDataLst>
                <p:tags r:id="rId7"/>
              </p:custDataLst>
            </p:nvPr>
          </p:nvSpPr>
          <p:spPr>
            <a:xfrm>
              <a:off x="3333750" y="3009900"/>
              <a:ext cx="2457450" cy="20955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>
              <p:custDataLst>
                <p:tags r:id="rId8"/>
              </p:custDataLst>
            </p:nvPr>
          </p:nvSpPr>
          <p:spPr>
            <a:xfrm>
              <a:off x="3589020" y="3186112"/>
              <a:ext cx="9073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Codex</a:t>
              </a:r>
              <a:endParaRPr lang="en-US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>
              <p:custDataLst>
                <p:tags r:id="rId9"/>
              </p:custDataLst>
            </p:nvPr>
          </p:nvSpPr>
          <p:spPr>
            <a:xfrm>
              <a:off x="3592830" y="37052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10"/>
              </p:custDataLst>
            </p:nvPr>
          </p:nvSpPr>
          <p:spPr>
            <a:xfrm>
              <a:off x="3592830" y="4029075"/>
              <a:ext cx="858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PPT 制作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11"/>
              </p:custDataLst>
            </p:nvPr>
          </p:nvSpPr>
          <p:spPr>
            <a:xfrm>
              <a:off x="3592830" y="4352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技能生态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>
              <p:custDataLst>
                <p:tags r:id="rId12"/>
              </p:custDataLst>
            </p:nvPr>
          </p:nvSpPr>
          <p:spPr>
            <a:xfrm>
              <a:off x="5981700" y="3009900"/>
              <a:ext cx="2457450" cy="2095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>
              <p:custDataLst>
                <p:tags r:id="rId13"/>
              </p:custDataLst>
            </p:nvPr>
          </p:nvSpPr>
          <p:spPr>
            <a:xfrm>
              <a:off x="6236970" y="3186112"/>
              <a:ext cx="16813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WorkBuddy</a:t>
              </a:r>
              <a:endParaRPr lang="en-US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4"/>
              </p:custDataLst>
            </p:nvPr>
          </p:nvSpPr>
          <p:spPr>
            <a:xfrm>
              <a:off x="6240780" y="3705225"/>
              <a:ext cx="1312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 Agent 协同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5"/>
              </p:custDataLst>
            </p:nvPr>
          </p:nvSpPr>
          <p:spPr>
            <a:xfrm>
              <a:off x="6240780" y="40290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工作流编排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6"/>
              </p:custDataLst>
            </p:nvPr>
          </p:nvSpPr>
          <p:spPr>
            <a:xfrm>
              <a:off x="6240780" y="4352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>
              <p:custDataLst>
                <p:tags r:id="rId17"/>
              </p:custDataLst>
            </p:nvPr>
          </p:nvSpPr>
          <p:spPr>
            <a:xfrm>
              <a:off x="8629650" y="3009900"/>
              <a:ext cx="2876550" cy="20955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>
              <p:custDataLst>
                <p:tags r:id="rId18"/>
              </p:custDataLst>
            </p:nvPr>
          </p:nvSpPr>
          <p:spPr>
            <a:xfrm>
              <a:off x="8884920" y="3186112"/>
              <a:ext cx="13360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Obsidian</a:t>
              </a:r>
              <a:endParaRPr lang="en-US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9"/>
              </p:custDataLst>
            </p:nvPr>
          </p:nvSpPr>
          <p:spPr>
            <a:xfrm>
              <a:off x="8888730" y="37052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本地笔记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20"/>
              </p:custDataLst>
            </p:nvPr>
          </p:nvSpPr>
          <p:spPr>
            <a:xfrm>
              <a:off x="8888730" y="4029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双向链接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21"/>
              </p:custDataLst>
            </p:nvPr>
          </p:nvSpPr>
          <p:spPr>
            <a:xfrm>
              <a:off x="8888730" y="4352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插件体系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869440" y="11264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7"/>
          <p:cNvGrpSpPr/>
          <p:nvPr/>
        </p:nvGrpSpPr>
        <p:grpSpPr>
          <a:xfrm>
            <a:off x="669798" y="1035368"/>
            <a:ext cx="10836402" cy="3974782"/>
            <a:chOff x="669798" y="1035368"/>
            <a:chExt cx="10836402" cy="3974782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1035368"/>
              <a:ext cx="82867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工具实践 </a:t>
              </a:r>
              <a:r>
                <a:rPr lang="en-US" alt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en-US" alt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1488758"/>
              <a:ext cx="679631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Claude：把复杂材料变成清晰结构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7418" y="21459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适合多轮对话、文档分析和知识归类。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3009900"/>
              <a:ext cx="3048000" cy="2000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1070" y="3186112"/>
              <a:ext cx="12473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读材料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36671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上传文档、笔记、想法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4880" y="40290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快速识别主题和结构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0" y="3009900"/>
              <a:ext cx="3048000" cy="2000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446270" y="3186112"/>
              <a:ext cx="156535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追问校正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50080" y="36671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多轮对话修正理解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50080" y="40290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让结论更接近需求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96200" y="3009900"/>
              <a:ext cx="3810000" cy="2000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51470" y="3186112"/>
              <a:ext cx="156535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输出归类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55280" y="36671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总结、提纲、表格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55280" y="4029075"/>
              <a:ext cx="2191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适合作为 Obsidian 输入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669798" y="1035368"/>
            <a:ext cx="10836402" cy="4336732"/>
            <a:chOff x="669798" y="1035368"/>
            <a:chExt cx="10836402" cy="4336732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1035368"/>
              <a:ext cx="82867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工具实践 </a:t>
              </a:r>
              <a:r>
                <a:rPr lang="en-US" alt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</a:t>
              </a:r>
              <a:endParaRPr lang="en-US" alt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1488758"/>
              <a:ext cx="667387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Codex：从一句需求到可运行产物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7418" y="2145982"/>
              <a:ext cx="42999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它擅长编程、网页、小游戏和 PPT 制作。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3009900"/>
              <a:ext cx="5676900" cy="2362200"/>
            </a:xfrm>
            <a:prstGeom prst="rect">
              <a:avLst/>
            </a:prstGeom>
            <a:solidFill>
              <a:schemeClr val="dk1"/>
            </a:solidFill>
            <a:ln w="9525">
              <a:solidFill>
                <a:schemeClr val="accent5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14400" y="3238500"/>
              <a:ext cx="5219700" cy="228600"/>
            </a:xfrm>
            <a:prstGeom prst="rect">
              <a:avLst/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19175" y="3305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09675" y="33051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400175" y="3305175"/>
              <a:ext cx="95250" cy="952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7542" y="3664268"/>
              <a:ext cx="3047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5E7E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&gt; 需求：做一个大学生自我介绍 PPT</a:t>
              </a:r>
              <a:endParaRPr lang="zh-CN" sz="1350" dirty="0">
                <a:solidFill>
                  <a:srgbClr val="E5E7E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4007168"/>
              <a:ext cx="4286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5E7E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&gt; 输出：页面结构 / 配色 / SVG 页面 / 可编辑文件</a:t>
              </a:r>
              <a:endParaRPr lang="zh-CN" sz="1350" dirty="0">
                <a:solidFill>
                  <a:srgbClr val="E5E7E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4350068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5E7E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&gt; 验证：本地预览 + 修改 + 重新导出</a:t>
              </a:r>
              <a:endParaRPr lang="zh-CN" sz="1350" dirty="0">
                <a:solidFill>
                  <a:srgbClr val="E5E7E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43700" y="3009900"/>
              <a:ext cx="4762500" cy="2362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98970" y="31861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技能生态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02780" y="3705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编程：生成和修改代码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02780" y="4048125"/>
              <a:ext cx="2287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PPT：生成可编辑幻灯片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02780" y="43910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小项目：小游戏、页面、工具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03542" y="4826318"/>
              <a:ext cx="34867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一句话：把“想法”变成“能运行的东西”。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i小游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495" y="422275"/>
            <a:ext cx="10108565" cy="60109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4"/>
          <p:cNvGrpSpPr/>
          <p:nvPr/>
        </p:nvGrpSpPr>
        <p:grpSpPr>
          <a:xfrm>
            <a:off x="669798" y="1035368"/>
            <a:ext cx="10836402" cy="4355782"/>
            <a:chOff x="669798" y="1035368"/>
            <a:chExt cx="10836402" cy="4355782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1035368"/>
              <a:ext cx="92392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工具实践 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1488758"/>
              <a:ext cx="6511925" cy="969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Obsidian：让知识可连接、可检索、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可复用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2509837"/>
              <a:ext cx="56314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底座是本地 Markdown，最强的是双向链接和插件体系。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3009900"/>
              <a:ext cx="4248150" cy="2381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1070" y="3186112"/>
              <a:ext cx="8269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Vault</a:t>
              </a:r>
              <a:endParaRPr lang="en-US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Ellipse 7"/>
            <p:cNvSpPr/>
            <p:nvPr/>
          </p:nvSpPr>
          <p:spPr>
            <a:xfrm>
              <a:off x="1409700" y="3924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400300" y="36576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990850" y="419100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714750" y="3562350"/>
              <a:ext cx="228600" cy="228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752600" y="3829050"/>
              <a:ext cx="647700" cy="266700"/>
            </a:xfrm>
            <a:custGeom>
              <a:avLst/>
              <a:gdLst/>
              <a:ahLst/>
              <a:cxnLst/>
              <a:rect l="l" t="t" r="r" b="b"/>
              <a:pathLst>
                <a:path w="647700" h="266700">
                  <a:moveTo>
                    <a:pt x="0" y="26670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86050" y="3829050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0" y="0"/>
                  </a:moveTo>
                  <a:lnTo>
                    <a:pt x="304800" y="4572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295650" y="3714750"/>
              <a:ext cx="419100" cy="590550"/>
            </a:xfrm>
            <a:custGeom>
              <a:avLst/>
              <a:gdLst/>
              <a:ahLst/>
              <a:cxnLst/>
              <a:rect l="l" t="t" r="r" b="b"/>
              <a:pathLst>
                <a:path w="419100" h="590550">
                  <a:moveTo>
                    <a:pt x="0" y="59055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4791075"/>
              <a:ext cx="3549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[[双向链接]] 把笔记从目录变成网络。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0" y="3009900"/>
              <a:ext cx="6172200" cy="1066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90794" y="31613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核心插件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93842" y="3569018"/>
              <a:ext cx="53330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Dataview / Excalidraw / Templater / Omnisearch / QuickAdd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0" y="4286250"/>
              <a:ext cx="2971800" cy="1104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91556" y="4472940"/>
              <a:ext cx="135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Graph View</a:t>
              </a:r>
              <a:endParaRPr lang="en-US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93842" y="48453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看见知识之间的关系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534400" y="4286250"/>
              <a:ext cx="2971800" cy="1104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91956" y="44729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用途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94242" y="4845368"/>
              <a:ext cx="2276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 / 复盘 / 项目 / 资料库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656715" y="1243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4705" y="238125"/>
            <a:ext cx="2995295" cy="2691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1"/>
          <p:cNvGrpSpPr/>
          <p:nvPr/>
        </p:nvGrpSpPr>
        <p:grpSpPr>
          <a:xfrm>
            <a:off x="525018" y="1035368"/>
            <a:ext cx="10981182" cy="5441632"/>
            <a:chOff x="525018" y="1035368"/>
            <a:chExt cx="10981182" cy="5441632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1035368"/>
              <a:ext cx="9144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项目案例 </a:t>
              </a:r>
              <a:r>
                <a:rPr lang="en-US" alt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</a:t>
              </a:r>
              <a:endParaRPr lang="en-US" alt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488758"/>
              <a:ext cx="5965190" cy="8959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把知识变成一个可运行的界面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2435542"/>
              <a:ext cx="46910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 辅助完成 Qt 5.14 风场雷达控制界面。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669798" y="3362008"/>
              <a:ext cx="5753100" cy="2805430"/>
            </a:xfrm>
            <a:prstGeom prst="rect">
              <a:avLst/>
            </a:prstGeom>
            <a:solidFill>
              <a:schemeClr val="dk1"/>
            </a:solidFill>
            <a:ln w="9525">
              <a:solidFill>
                <a:schemeClr val="accent5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" y="3430270"/>
              <a:ext cx="5295900" cy="266700"/>
            </a:xfrm>
            <a:prstGeom prst="rect">
              <a:avLst/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14146" y="3440747"/>
              <a:ext cx="2342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E7EB"/>
                  </a:solidFill>
                  <a:latin typeface="+mn-lt"/>
                  <a:ea typeface="+mn-ea"/>
                  <a:cs typeface="+mn-cs"/>
                </a:rPr>
                <a:t>系统 | 设备 | 测量 | 视图 | 数据 | 帮助</a:t>
              </a:r>
              <a:endParaRPr lang="zh-CN" sz="1050" dirty="0">
                <a:solidFill>
                  <a:srgbClr val="E5E7E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4179570"/>
              <a:ext cx="1409700" cy="1638300"/>
            </a:xfrm>
            <a:prstGeom prst="rect">
              <a:avLst/>
            </a:prstGeom>
            <a:solidFill>
              <a:srgbClr val="252F3D"/>
            </a:solidFill>
            <a:ln w="9525">
              <a:solidFill>
                <a:srgbClr val="3D4A5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2990" y="42576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5E7EB"/>
                  </a:solidFill>
                  <a:latin typeface="+mn-lt"/>
                  <a:ea typeface="+mn-ea"/>
                  <a:cs typeface="+mn-cs"/>
                </a:rPr>
                <a:t>导航</a:t>
              </a:r>
              <a:endParaRPr lang="zh-CN" sz="1500" b="1" dirty="0">
                <a:solidFill>
                  <a:srgbClr val="E5E7E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1974" y="48475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5E7EB"/>
                  </a:solidFill>
                  <a:latin typeface="+mn-lt"/>
                  <a:ea typeface="+mn-ea"/>
                  <a:cs typeface="+mn-cs"/>
                </a:rPr>
                <a:t>三维风场</a:t>
              </a:r>
              <a:endParaRPr lang="zh-CN" sz="1200" dirty="0">
                <a:solidFill>
                  <a:srgbClr val="E5E7E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7209" y="51631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5E7EB"/>
                  </a:solidFill>
                  <a:latin typeface="+mn-lt"/>
                  <a:ea typeface="+mn-ea"/>
                  <a:cs typeface="+mn-cs"/>
                </a:rPr>
                <a:t>风矢量图表</a:t>
              </a:r>
              <a:endParaRPr lang="zh-CN" sz="1200" dirty="0">
                <a:solidFill>
                  <a:srgbClr val="E5E7E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7209" y="5442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5E7EB"/>
                  </a:solidFill>
                  <a:latin typeface="+mn-lt"/>
                  <a:ea typeface="+mn-ea"/>
                  <a:cs typeface="+mn-cs"/>
                </a:rPr>
                <a:t>状态与告警</a:t>
              </a:r>
              <a:endParaRPr lang="zh-CN" sz="1200" dirty="0">
                <a:solidFill>
                  <a:srgbClr val="E5E7E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480945" y="4170045"/>
              <a:ext cx="3543300" cy="1638300"/>
            </a:xfrm>
            <a:prstGeom prst="rect">
              <a:avLst/>
            </a:prstGeom>
            <a:solidFill>
              <a:srgbClr val="0A0A0A"/>
            </a:solidFill>
            <a:ln w="9525">
              <a:solidFill>
                <a:srgbClr val="3D4A5C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472180" y="4318000"/>
              <a:ext cx="1028700" cy="102870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982085" y="4274820"/>
              <a:ext cx="9525" cy="1028700"/>
            </a:xfrm>
            <a:custGeom>
              <a:avLst/>
              <a:gdLst/>
              <a:ahLst/>
              <a:cxnLst/>
              <a:rect l="l" t="t" r="r" b="b"/>
              <a:pathLst>
                <a:path w="9525" h="1028700">
                  <a:moveTo>
                    <a:pt x="0" y="0"/>
                  </a:moveTo>
                  <a:lnTo>
                    <a:pt x="0" y="10287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467100" y="4827905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3682365" y="4553585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6096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682365" y="451866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60960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10100" y="4229100"/>
              <a:ext cx="1333500" cy="1638300"/>
            </a:xfrm>
            <a:prstGeom prst="rect">
              <a:avLst/>
            </a:prstGeom>
            <a:solidFill>
              <a:srgbClr val="101826"/>
            </a:solidFill>
            <a:ln w="9525">
              <a:solidFill>
                <a:srgbClr val="3D4A5C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657725" y="4318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657725" y="453834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657725" y="4824730"/>
              <a:ext cx="152400" cy="152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871466" y="427513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E7EB"/>
                  </a:solidFill>
                  <a:latin typeface="+mn-lt"/>
                  <a:ea typeface="+mn-ea"/>
                  <a:cs typeface="+mn-cs"/>
                </a:rPr>
                <a:t>正常</a:t>
              </a:r>
              <a:endParaRPr lang="zh-CN" sz="1050" dirty="0">
                <a:solidFill>
                  <a:srgbClr val="E5E7E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71466" y="45323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E7EB"/>
                  </a:solidFill>
                  <a:latin typeface="+mn-lt"/>
                  <a:ea typeface="+mn-ea"/>
                  <a:cs typeface="+mn-cs"/>
                </a:rPr>
                <a:t>警告</a:t>
              </a:r>
              <a:endParaRPr lang="zh-CN" sz="1050" dirty="0">
                <a:solidFill>
                  <a:srgbClr val="E5E7E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71466" y="481552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5E7EB"/>
                  </a:solidFill>
                  <a:latin typeface="+mn-lt"/>
                  <a:ea typeface="+mn-ea"/>
                  <a:cs typeface="+mn-cs"/>
                </a:rPr>
                <a:t>异常</a:t>
              </a:r>
              <a:endParaRPr lang="zh-CN" sz="1050" dirty="0">
                <a:solidFill>
                  <a:srgbClr val="E5E7E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743700" y="3962400"/>
              <a:ext cx="4762500" cy="2514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50202" y="438340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技术栈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02780" y="5041265"/>
              <a:ext cx="3014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Qt 5.14 / C++11 / Qt Designer</a:t>
              </a:r>
              <a:endParaRPr lang="en-US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02780" y="5524500"/>
              <a:ext cx="35992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StyleSheet / 自定义组件 / 状态指示器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9732" y="6007418"/>
              <a:ext cx="3330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闭环：需求 → UI → 组件 → 运行 → 沉淀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32" name="图片 31" descr="界面效果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0" y="703580"/>
            <a:ext cx="4744720" cy="2949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>
            <p:custDataLst>
              <p:tags r:id="rId1"/>
            </p:custDataLst>
          </p:nvPr>
        </p:nvGrpSpPr>
        <p:grpSpPr>
          <a:xfrm>
            <a:off x="669798" y="1111568"/>
            <a:ext cx="12125325" cy="5601335"/>
            <a:chOff x="669798" y="1111568"/>
            <a:chExt cx="12125325" cy="5601335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1111568"/>
              <a:ext cx="58102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总结 </a:t>
              </a:r>
              <a:r>
                <a:rPr lang="en-US" alt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</a:t>
              </a:r>
              <a:endParaRPr lang="en-US" alt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en-US" alt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156495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从概念理解，到工具使用，再到实际落地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7418" y="2203132"/>
              <a:ext cx="63887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学习的终点不是知道更多名词，而是能持续完成真实任务。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>
              <p:custDataLst>
                <p:tags r:id="rId2"/>
              </p:custDataLst>
            </p:nvPr>
          </p:nvSpPr>
          <p:spPr>
            <a:xfrm>
              <a:off x="685800" y="3067050"/>
              <a:ext cx="3124200" cy="1809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6" name="TextBox 6"/>
            <p:cNvSpPr txBox="1"/>
            <p:nvPr>
              <p:custDataLst>
                <p:tags r:id="rId3"/>
              </p:custDataLst>
            </p:nvPr>
          </p:nvSpPr>
          <p:spPr>
            <a:xfrm>
              <a:off x="940308" y="326517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>
              <p:custDataLst>
                <p:tags r:id="rId4"/>
              </p:custDataLst>
            </p:nvPr>
          </p:nvSpPr>
          <p:spPr>
            <a:xfrm>
              <a:off x="944880" y="3781425"/>
              <a:ext cx="284543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知道 LLM / Prompt / Agent / RAG 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 MCP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>
              <p:custDataLst>
                <p:tags r:id="rId5"/>
              </p:custDataLst>
            </p:nvPr>
          </p:nvSpPr>
          <p:spPr>
            <a:xfrm>
              <a:off x="4533900" y="3067050"/>
              <a:ext cx="3124200" cy="18097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>
              <p:custDataLst>
                <p:tags r:id="rId6"/>
              </p:custDataLst>
            </p:nvPr>
          </p:nvSpPr>
          <p:spPr>
            <a:xfrm>
              <a:off x="4788408" y="326517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7"/>
              </p:custDataLst>
            </p:nvPr>
          </p:nvSpPr>
          <p:spPr>
            <a:xfrm>
              <a:off x="4792980" y="3781425"/>
              <a:ext cx="245300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 / Codex / WorkBuddy</a:t>
              </a:r>
              <a:endParaRPr lang="en-US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/ Obsidian</a:t>
              </a:r>
              <a:endParaRPr lang="en-US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>
              <p:custDataLst>
                <p:tags r:id="rId8"/>
              </p:custDataLst>
            </p:nvPr>
          </p:nvSpPr>
          <p:spPr>
            <a:xfrm>
              <a:off x="8382000" y="3067050"/>
              <a:ext cx="3124200" cy="1809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2" name="TextBox 12"/>
            <p:cNvSpPr txBox="1"/>
            <p:nvPr>
              <p:custDataLst>
                <p:tags r:id="rId9"/>
              </p:custDataLst>
            </p:nvPr>
          </p:nvSpPr>
          <p:spPr>
            <a:xfrm>
              <a:off x="8636508" y="326517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10"/>
              </p:custDataLst>
            </p:nvPr>
          </p:nvSpPr>
          <p:spPr>
            <a:xfrm>
              <a:off x="8641080" y="37814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把知识放进真实工程和知识库里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5673" y="5211763"/>
              <a:ext cx="12109450" cy="1501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下一步：选一个真实问题，搭一条自己的 AI 工作流。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在 </a:t>
              </a:r>
              <a:r>
                <a:rPr lang="en-US" alt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WorkBuddy </a:t>
              </a:r>
              <a:r>
                <a:rPr lang="zh-CN" alt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中搭建一个专门针对 **"</a:t>
              </a:r>
              <a:r>
                <a:rPr lang="en-US" alt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C++ </a:t>
              </a:r>
              <a:r>
                <a:rPr lang="zh-CN" alt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算法竞赛</a:t>
              </a:r>
              <a:r>
                <a:rPr lang="en-US" alt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"** </a:t>
              </a:r>
              <a:r>
                <a:rPr lang="zh-CN" alt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的 </a:t>
              </a:r>
              <a:r>
                <a:rPr lang="en-US" alt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Agent，</a:t>
              </a:r>
              <a:r>
                <a:rPr lang="zh-CN" alt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能够显著提升你的刷题、调试、找 </a:t>
              </a:r>
              <a:r>
                <a:rPr lang="en-US" alt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Bug </a:t>
              </a:r>
              <a:r>
                <a:rPr lang="zh-CN" alt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以及写题</a:t>
              </a:r>
              <a:endParaRPr lang="zh-CN" altLang="en-US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解的效率。</a:t>
              </a:r>
              <a:endParaRPr lang="en-US" alt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 ⽤⼯作流⾃动化错题整理</a:t>
              </a:r>
              <a:endParaRPr lang="zh-CN" altLang="en-US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通过搭建的</a:t>
              </a:r>
              <a:r>
                <a:rPr lang="en-US" alt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agent，</a:t>
              </a:r>
              <a:r>
                <a:rPr lang="zh-CN" alt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完成题解，将题解自动化转化为</a:t>
              </a:r>
              <a:r>
                <a:rPr lang="en-US" alt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md</a:t>
              </a:r>
              <a:r>
                <a:rPr lang="zh-CN" alt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文档收入到</a:t>
              </a:r>
              <a:r>
                <a:rPr lang="en-US" alt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obsidian</a:t>
              </a:r>
              <a:r>
                <a:rPr lang="zh-CN" alt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库中，方便总结成知识库。</a:t>
              </a:r>
              <a:endParaRPr lang="zh-CN" altLang="en-US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85800" y="3238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075082"/>
                </a:solidFill>
              </a:defRPr>
            </a:pPr>
            <a:r>
              <a:rPr sz="1050" b="1">
                <a:solidFill>
                  <a:srgbClr val="075082"/>
                </a:solidFill>
              </a:rPr>
              <a:t>项目落地</a:t>
            </a:r>
            <a:endParaRPr sz="1050" b="1">
              <a:solidFill>
                <a:srgbClr val="07508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39450" y="3238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1CB8A6"/>
                </a:solidFill>
              </a:defRPr>
            </a:pPr>
            <a:r>
              <a:rPr sz="1050" b="1">
                <a:solidFill>
                  <a:srgbClr val="1CB8A6"/>
                </a:solidFill>
              </a:rPr>
              <a:t>14</a:t>
            </a:r>
            <a:endParaRPr sz="1050" b="1">
              <a:solidFill>
                <a:srgbClr val="1CB8A6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723900"/>
            <a:ext cx="10820400" cy="0"/>
          </a:xfrm>
          <a:prstGeom prst="line">
            <a:avLst/>
          </a:prstGeom>
          <a:noFill/>
          <a:ln w="11430">
            <a:solidFill>
              <a:srgbClr val="D7E5E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02870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075082"/>
                </a:solidFill>
              </a:defRPr>
            </a:pPr>
            <a:r>
              <a:rPr sz="2700" b="1">
                <a:solidFill>
                  <a:srgbClr val="075082"/>
                </a:solidFill>
              </a:rPr>
              <a:t>WorkBuddy：自动执行与本地归档</a:t>
            </a:r>
            <a:endParaRPr sz="2700" b="1">
              <a:solidFill>
                <a:srgbClr val="075082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657350"/>
            <a:ext cx="838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667789"/>
                </a:solidFill>
              </a:defRPr>
            </a:pPr>
            <a:r>
              <a:rPr sz="1425" b="0">
                <a:solidFill>
                  <a:srgbClr val="667789"/>
                </a:solidFill>
              </a:rPr>
              <a:t>示例展示从任务触发到结果产出的自动化链路。</a:t>
            </a:r>
            <a:endParaRPr sz="1425" b="0">
              <a:solidFill>
                <a:srgbClr val="667789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81050" y="2095500"/>
            <a:ext cx="10629900" cy="4057650"/>
          </a:xfrm>
          <a:prstGeom prst="roundRect">
            <a:avLst>
              <a:gd name="adj" fmla="val 2347"/>
            </a:avLst>
          </a:prstGeom>
          <a:solidFill>
            <a:srgbClr val="FFFFFF"/>
          </a:solidFill>
          <a:ln w="9525">
            <a:solidFill>
              <a:srgbClr val="D7E5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7130" y="2324100"/>
            <a:ext cx="6137740" cy="3600450"/>
          </a:xfrm>
          <a:prstGeom prst="roundRect">
            <a:avLst>
              <a:gd name="adj" fmla="val 2116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85800" y="3238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075082"/>
                </a:solidFill>
              </a:defRPr>
            </a:pPr>
            <a:r>
              <a:rPr sz="1050" b="1">
                <a:solidFill>
                  <a:srgbClr val="075082"/>
                </a:solidFill>
              </a:rPr>
              <a:t>项目落地</a:t>
            </a:r>
            <a:endParaRPr sz="1050" b="1">
              <a:solidFill>
                <a:srgbClr val="075082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39450" y="3238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1">
                <a:solidFill>
                  <a:srgbClr val="1CB8A6"/>
                </a:solidFill>
              </a:defRPr>
            </a:pPr>
            <a:r>
              <a:rPr sz="1050" b="1">
                <a:solidFill>
                  <a:srgbClr val="1CB8A6"/>
                </a:solidFill>
              </a:rPr>
              <a:t>15</a:t>
            </a:r>
            <a:endParaRPr sz="1050" b="1">
              <a:solidFill>
                <a:srgbClr val="1CB8A6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723900"/>
            <a:ext cx="10820400" cy="0"/>
          </a:xfrm>
          <a:prstGeom prst="line">
            <a:avLst/>
          </a:prstGeom>
          <a:noFill/>
          <a:ln w="11430">
            <a:solidFill>
              <a:srgbClr val="D7E5E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02870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075082"/>
                </a:solidFill>
              </a:defRPr>
            </a:pPr>
            <a:r>
              <a:rPr sz="2700" b="1">
                <a:solidFill>
                  <a:srgbClr val="075082"/>
                </a:solidFill>
              </a:rPr>
              <a:t>Obsidian：题解沉淀为可检索知识库</a:t>
            </a:r>
            <a:endParaRPr sz="2700" b="1">
              <a:solidFill>
                <a:srgbClr val="075082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657350"/>
            <a:ext cx="838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667789"/>
                </a:solidFill>
              </a:defRPr>
            </a:pPr>
            <a:r>
              <a:rPr sz="1425" b="0">
                <a:solidFill>
                  <a:srgbClr val="667789"/>
                </a:solidFill>
              </a:rPr>
              <a:t>自动化产出的 Markdown 继续进入本地知识网络。</a:t>
            </a:r>
            <a:endParaRPr sz="1425" b="0">
              <a:solidFill>
                <a:srgbClr val="667789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81050" y="2095500"/>
            <a:ext cx="10629900" cy="4057650"/>
          </a:xfrm>
          <a:prstGeom prst="roundRect">
            <a:avLst>
              <a:gd name="adj" fmla="val 2347"/>
            </a:avLst>
          </a:prstGeom>
          <a:solidFill>
            <a:srgbClr val="17212B"/>
          </a:solidFill>
          <a:ln w="9525">
            <a:solidFill>
              <a:srgbClr val="23394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6744" y="2324100"/>
            <a:ext cx="6698512" cy="3600450"/>
          </a:xfrm>
          <a:prstGeom prst="roundRect">
            <a:avLst>
              <a:gd name="adj" fmla="val 2116"/>
            </a:avLst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2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3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4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5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6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7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8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9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10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11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12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13.xml><?xml version="1.0" encoding="utf-8"?>
<p:tagLst xmlns:p="http://schemas.openxmlformats.org/presentationml/2006/main">
  <p:tag name="KSO_WM_DIAGRAM_VIRTUALLY_FRAME" val="{&quot;height&quot;:359.56503937007875,&quot;left&quot;:47.4,&quot;top&quot;:99.75,&quot;width&quot;:805.5508661417322}"/>
</p:tagLst>
</file>

<file path=ppt/tags/tag14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15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16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17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18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19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20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21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22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23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24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25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26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27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28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29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30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31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32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33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34.xml><?xml version="1.0" encoding="utf-8"?>
<p:tagLst xmlns:p="http://schemas.openxmlformats.org/presentationml/2006/main">
  <p:tag name="KSO_WM_DIAGRAM_VIRTUALLY_FRAME" val="{&quot;height&quot;:320.47496062992127,&quot;left&quot;:52.739999999999995,&quot;top&quot;:81.52503937007874,&quot;width&quot;:853.26}"/>
</p:tagLst>
</file>

<file path=ppt/tags/tag35.xml><?xml version="1.0" encoding="utf-8"?>
<p:tagLst xmlns:p="http://schemas.openxmlformats.org/presentationml/2006/main">
  <p:tag name="KSO_WM_DIAGRAM_VIRTUALLY_FRAME" val="{&quot;height&quot;:357.3599212598425,&quot;left&quot;:52.739999999999995,&quot;top&quot;:87.52503937007874,&quot;width&quot;:853.26}"/>
</p:tagLst>
</file>

<file path=ppt/tags/tag36.xml><?xml version="1.0" encoding="utf-8"?>
<p:tagLst xmlns:p="http://schemas.openxmlformats.org/presentationml/2006/main">
  <p:tag name="KSO_WM_DIAGRAM_VIRTUALLY_FRAME" val="{&quot;height&quot;:357.3599212598425,&quot;left&quot;:52.739999999999995,&quot;top&quot;:87.52503937007874,&quot;width&quot;:853.26}"/>
</p:tagLst>
</file>

<file path=ppt/tags/tag37.xml><?xml version="1.0" encoding="utf-8"?>
<p:tagLst xmlns:p="http://schemas.openxmlformats.org/presentationml/2006/main">
  <p:tag name="KSO_WM_DIAGRAM_VIRTUALLY_FRAME" val="{&quot;height&quot;:357.3599212598425,&quot;left&quot;:52.739999999999995,&quot;top&quot;:87.52503937007874,&quot;width&quot;:853.26}"/>
</p:tagLst>
</file>

<file path=ppt/tags/tag38.xml><?xml version="1.0" encoding="utf-8"?>
<p:tagLst xmlns:p="http://schemas.openxmlformats.org/presentationml/2006/main">
  <p:tag name="KSO_WM_DIAGRAM_VIRTUALLY_FRAME" val="{&quot;height&quot;:357.3599212598425,&quot;left&quot;:52.739999999999995,&quot;top&quot;:87.52503937007874,&quot;width&quot;:853.26}"/>
</p:tagLst>
</file>

<file path=ppt/tags/tag39.xml><?xml version="1.0" encoding="utf-8"?>
<p:tagLst xmlns:p="http://schemas.openxmlformats.org/presentationml/2006/main">
  <p:tag name="KSO_WM_DIAGRAM_VIRTUALLY_FRAME" val="{&quot;height&quot;:357.3599212598425,&quot;left&quot;:52.739999999999995,&quot;top&quot;:87.52503937007874,&quot;width&quot;:853.26}"/>
</p:tagLst>
</file>

<file path=ppt/tags/tag40.xml><?xml version="1.0" encoding="utf-8"?>
<p:tagLst xmlns:p="http://schemas.openxmlformats.org/presentationml/2006/main">
  <p:tag name="KSO_WM_DIAGRAM_VIRTUALLY_FRAME" val="{&quot;height&quot;:357.3599212598425,&quot;left&quot;:52.739999999999995,&quot;top&quot;:87.52503937007874,&quot;width&quot;:853.26}"/>
</p:tagLst>
</file>

<file path=ppt/tags/tag41.xml><?xml version="1.0" encoding="utf-8"?>
<p:tagLst xmlns:p="http://schemas.openxmlformats.org/presentationml/2006/main">
  <p:tag name="KSO_WM_DIAGRAM_VIRTUALLY_FRAME" val="{&quot;height&quot;:357.3599212598425,&quot;left&quot;:52.739999999999995,&quot;top&quot;:87.52503937007874,&quot;width&quot;:853.26}"/>
</p:tagLst>
</file>

<file path=ppt/tags/tag42.xml><?xml version="1.0" encoding="utf-8"?>
<p:tagLst xmlns:p="http://schemas.openxmlformats.org/presentationml/2006/main">
  <p:tag name="KSO_WM_DIAGRAM_VIRTUALLY_FRAME" val="{&quot;height&quot;:357.3599212598425,&quot;left&quot;:52.739999999999995,&quot;top&quot;:87.52503937007874,&quot;width&quot;:853.26}"/>
</p:tagLst>
</file>

<file path=ppt/tags/tag43.xml><?xml version="1.0" encoding="utf-8"?>
<p:tagLst xmlns:p="http://schemas.openxmlformats.org/presentationml/2006/main">
  <p:tag name="KSO_WM_DIAGRAM_VIRTUALLY_FRAME" val="{&quot;height&quot;:357.3599212598425,&quot;left&quot;:52.739999999999995,&quot;top&quot;:87.52503937007874,&quot;width&quot;:853.26}"/>
</p:tagLst>
</file>

<file path=ppt/tags/tag44.xml><?xml version="1.0" encoding="utf-8"?>
<p:tagLst xmlns:p="http://schemas.openxmlformats.org/presentationml/2006/main">
  <p:tag name="KSO_WM_DIAGRAM_VIRTUALLY_FRAME" val="{&quot;height&quot;:357.3599212598425,&quot;left&quot;:52.739999999999995,&quot;top&quot;:87.52503937007874,&quot;width&quot;:853.26}"/>
</p:tagLst>
</file>

<file path=ppt/theme/theme1.xml><?xml version="1.0" encoding="utf-8"?>
<a:theme xmlns:a="http://schemas.openxmlformats.org/drawingml/2006/main" name="ai_knowledge_base">
  <a:themeElements>
    <a:clrScheme name="ai_knowledge_base">
      <a:dk1>
        <a:srgbClr val="1F2937"/>
      </a:dk1>
      <a:lt1>
        <a:srgbClr val="FFFFFF"/>
      </a:lt1>
      <a:dk2>
        <a:srgbClr val="1F2937"/>
      </a:dk2>
      <a:lt2>
        <a:srgbClr val="F3F7FB"/>
      </a:lt2>
      <a:accent1>
        <a:srgbClr val="0F4C81"/>
      </a:accent1>
      <a:accent2>
        <a:srgbClr val="2FA8A2"/>
      </a:accent2>
      <a:accent3>
        <a:srgbClr val="F59E0B"/>
      </a:accent3>
      <a:accent4>
        <a:srgbClr val="0F4C81"/>
      </a:accent4>
      <a:accent5>
        <a:srgbClr val="CBD5E1"/>
      </a:accent5>
      <a:accent6>
        <a:srgbClr val="F79646"/>
      </a:accent6>
      <a:hlink>
        <a:srgbClr val="2FA8A2"/>
      </a:hlink>
      <a:folHlink>
        <a:srgbClr val="F59E0B"/>
      </a:folHlink>
    </a:clrScheme>
    <a:fontScheme name="ai_knowledge_bas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knowledge_ba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2051</Words>
  <Application>WPS 演示</Application>
  <PresentationFormat>On-screen Show (16:9)</PresentationFormat>
  <Paragraphs>350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Consolas</vt:lpstr>
      <vt:lpstr>微软雅黑</vt:lpstr>
      <vt:lpstr>Arial Unicode MS</vt:lpstr>
      <vt:lpstr>Calibri</vt:lpstr>
      <vt:lpstr>ai_knowledge_base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xc</cp:lastModifiedBy>
  <cp:revision>6</cp:revision>
  <dcterms:created xsi:type="dcterms:W3CDTF">2026-07-30T09:55:00Z</dcterms:created>
  <dcterms:modified xsi:type="dcterms:W3CDTF">2026-07-31T06:08:16Z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AD642339FD514EAA89584ACACB39B288_12</vt:lpwstr>
  </property>
</Properties>
</file>