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大家好，欢迎参加智枢 IntelliHub AI 工具箱实战培训。今天这场课大约九十到一百二十分钟，我们不讲空泛的概念，而是带着大家把平台真正用起来。课程主线只有一句话：从基础对话，一步步走到可复用的智能工作流。无论你是普通使用者还是平台管理员，都能在今天找到自己的收获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说我们为什么要有这个平台。过去大家各自找AI工具，问题不少：工具分散、账号不一、效果参差不齐，资料和安全也没法统一管理。统一的AI工具箱把这些一次解决：一个入口、统一的账号和权限、可共享的知识与经验，还有全程可审计的使用记录。右边这张图就是平台的首页，后面所有的能力，都从这里出发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学习目标很实在，四件事。第一，学会和AI高质量对话，把问题问对、把结果用上。第二，会用知识库，让AI记住我们自己的资料。第三，理解搭档、技能和MCP这三个进阶能力，知道它们各自解决什么问题。第四，管理员会了解平台治理的基本动作：模型、用户、资产和安全。学完之后，大家至少能带走一套可以直接上手的工作方法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动手之前，先建立全景地图。平台有六类核心能力：对话、知识库、智能搭档、技能、MCP连接，以及管理后台。请注意中间这个圆心，它们不是六个孤立的功能，而是共同指向同一个目标，构建可复用的智能工作流。对话是入口，知识库提供依据，搭档和技能把经验固化，MCP连接外部系统，管理后台保障秩序。记住这张图，后面每一章都是在放大其中的一个节点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登录之后的主工作台，我们先用一分钟认识它。左边是会话栏，可以搜索、置顶历史对话，点新建对话就能开始一个全新任务，建议按任务给会话命名，方便日后查找。右边是主工作区，顶部显示当前使用的模型，中间是问答内容和引用来源。底部工具条最重要：模型选择、文件上传、知识库开关、MCP开关和设置入口都在这里。另外提一句登录方式，平台用本地账号密码登录，首次使用请找管理员开通账号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掌握最基本的对话闭环，一共五步。新建会话，输入任务，复制有用的回答，不满意就重试或编辑提问，任务结束再删除或归档。左边是操作要点，重点是重试和编辑：改写提问往往比换模型更有效。右边是三条最佳实践：一个会话只做一件事，这样上下文更干净；重要回答及时导出留档；敏感信息永远不要直接粘贴进对话框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不同任务要用不同的模型，这是很多人的第一个认知升级。日常问答用GLM这类平衡型模型就够了，响应快成本低；深度分析和复杂推理，换成DeepSeek-R1这类会思考的推理模型；写作润色选语言表现力强的；写代码调试就用代码能力强的模型。平台对话界面顶部可以随时切换，大家默认能看到DeepSeek和GLM等，像Claude这样的模型由管理侧统一开通，看不到就说明还没对本单位开放。请记住右边这句话：没有万能模型，合适的才是最好的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再往深一层，是给AI设定工作方式。左边的系统提示词，相当于给AI一个人设：建议写清楚角色、口吻、格式要求、面向的读者和禁答范围；与任务无关的背景、大段资料就不要塞进来了，资料有更好的去处，就是知识库。右边四个参数了解一下：最大输出长度决定回答篇幅；温度和Top-p控制发散程度，写文案调高、查数据调低，不确定就保持默认；推理等级越高思考越深也越慢，复杂问题再开；显示设置只影响界面，不影响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今天最重要的方法论：好提问等于角色加目标加背景加约束加输出格式。角色让AI站在专业视角，目标说清你要什么成果，背景和约束给足信息、划清边界，输出格式规定是表格还是分点。看下面这条会议纪要的示例，五个要素一个不少，AI照着执行，产出直接可用。建议大家把手头正在用的提问，按这个公式逐项检查一遍，命中率越高，回答质量越好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的回答不能只看不验。左边四件事，请在提问时直接要求AI做到：标注依据，给出处和原文；区分事实和推测，让它明说哪些是确定的；输出可执行的动作，落到待办和模板；不确定就让它复述任务、列出缺什么信息。右边三条红线请务必记住：不要盲信AI给出的数字和引用，关键数据必须人工核对原文；不要在对话里粘贴身份证号、密码这类敏感信息；AI产出对外发送前，必须有人过目并负责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话框底部点回形针按钮就能上传文件，上传之后AI能帮你做五件事：一键摘要、信息提取、多文档对比、改写润色，以及针对文档内容的连续问答。使用上有三个原则：大文件优先拆分处理，敏感内容先脱敏再上传，重要结果导出留档核对。给大家一个高频场景：上传合同，然后说提取风险条款并按严重程度排序，一分钟就能拿到初筛结果。记住，一次聚焦一个任务，效果最好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这一章开始进入第二个核心能力：知识库。它解决的问题是，AI不了解我们的内部资料，回答没有依据。平台有两种库：个人知识库自己上传自己用，组织知识库全员共建共享。它的检索机制是语义匹配，按含义找内容，不是按文件名找，AI只引用命中的片段作答，所以资料质量直接决定回答质量。更关键的是知识库可以挂载给智能搭档，让固定的角色用你的资料干活，这是走向可复用的关键一步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从零建一个高质量的知识库？四步。第一步先明确建库目标，这个库给谁用、解决什么问题，售前库、制度库、项目库分开建，不要混装。第二步资料清洗分层，删掉过期文件和重复版本，按常用制度和深度参考分层。第三步规范命名，文件名带上主题、版本和日期，库描述写清覆盖范围，这些都会被检索用到。第四步检索验收，用五个真实业务问题试一遍，答不准就补资料调分层。记住，知识库是养出来的，不是一次建成的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场演示一遍：新建会话，挂载公司制度库，提问年假怎么休、上限几天，观察回答附带的引用来源，再追问细节验证它是否持续引用，最后对比不挂知识库时的回答，差距一眼可见。如果检索不准，按四个原因排查：资料没进库，上传了但没完成解析；问题太笼统；资料过期，旧版本干扰检索；或者库太大太杂。口诀是：先查入库，再看问法，最后清理过期资料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话解决的是这一次的问题，智能搭档解决每一次的问题。它把提示词、知识库和工具打包成一个固定角色，不用每次从头写提示词，点开即用、人人可复用。平台上已经有历史学家、暗号专家、文字冒险游戏这些现成搭档，右边就是搭档广场，点击卡片即可对话。一个完整的搭档有五个构成要素：角色设定、开场白、挂载的知识库、绑定的技能，以及适用场景说明。下一页我们亲手做一个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以行政小助手为例，按八步清单走一遍：起名字、定角色定位、写人设提示词、配开场白、挂载行政制度库、绑定技能、写示例问题、最后测试调优。右边是填充示例，人设提示词要写得具体：你是行政小助手，熟悉公司行政制度，回答一律引用制度库原文并注明出处，流程类问题输出步骤清单和所需材料，语气亲切，不超过三百字。发布前做个自测：新同事不看说明也能用明白，才算合格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能是把常用提示词固化成命令的机制。在对话框输入斜杠，就能唤起技能列表，选择后AI按预设流程执行任务。技能分两类：平台技能由平台统一维护，开箱即用，比如纪要、翻译、公文格式；个人和团队技能把自己常用的提示词固化下来，团队内共享，保证口径统一。它的价值在沉淀路径上：重复的提示词，沉淀成技能，团队共享，持续迭代，最终变成组织的能力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MCP的全程是Model Context Protocol，一种开放协议，让AI安全地调用外部工具和数据源。它的工作流程看右边：用户用自然语言发请求，比如帮我查上周的工单；AI理解意图，选择对应的MCP工具；协议调用工单系统接口；结构化数据回到对话，AI整理成回答。本平台通过Streamable HTTP方式接入，组织级服务由管理员统一注册，个人服务授权后自己添加。普通用户负责用，管理员负责管，权限范围由服务端控制。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能力容易混淆，一张表看懂。它们解决的问题不同：搭档解决每次重复写角色设定的问题，技能解决提示词散落、口径不统一的问题，知识库解决AI不了解内部资料的问题，MCP解决AI只会说、无法操作系统的问题。一句话定位：搭档是谁来帮你，技能是怎么做某件事，知识库是依据什么回答，MCP是用什么去执行。它们还能协同：行政助手搭档挂载制度库，绑定纪要技能，再通过MCP读取日历系统，一次配置，全套能力自动运转。选择顺序是先看缺什么，再选能力补齐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把今天学的全部串起来，一条可复用的智能工作流。第一步明确任务，想清楚要什么成果；第二步选模型定参数，简单任务不折腾；第三步挂知识库检索，让回答有依据；第四步用技能出成果；第五步用MCP取外部数据核实；第六步人工审核，这一步永远不可跳过；第七步把成功的组合沉淀成搭档加技能加知识库，下次一键启动。两个提醒：不是每步都必须，按任务裁剪流程；而人工把关，始终是底线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三章面向管理员。管理后台有六大模块：模型管理决定接入哪些模型，用户管理管账号和权限，搭档管理和知识库管理负责资产的审核与维护，MCP管理做服务注册授权，系统监控看用量和日志。职责边界要清晰：管理员配资源、定权限、看日志；普通用户用好搭档、技能与知识库。右下角是设置页面的账户信息和常规设置入口，遇到问题先找管理员，不要自己绕过流程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让平台持续健康，靠四条管理原则。模型管理：只开经过评估的模型，默认参数给安全值，高消耗要授权，定期下线没人用的模型，让用户选项少而准。用户管理：按部门和角色分组授权，入职开通、离职回收，权限随岗位及时调整。资产管理：搭档和技能上架前先小范围试用，知识库设负责人定期清理过期内容，优质资产置顶形成正向循环。变更管理：重大调整提前公告，留出适应期，所有操作留痕可回滚。目标是平台资产越用越好，而不是越来越多、越来越乱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安全合规方面，四类风险四条红线。数据泄露：敏感信息先脱敏再上传，对外和内部资料分开建库，拿不准的先问管理员。内容失实：AI会一本正经地编造，关键数字、法条、政策必须核对原文，对外输出必须有人工审核记录。越权访问：MCP权限按最小够用原则授予，共享账号和代传口令一律禁止。过度依赖：AI是助手不是替身，核心判断和最终拍板永远由人来做。十六字总括送给大家：最小权限，人工复核，资料分级，日志追踪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课程接近尾声，留下三个实操练习。基础练习十分钟：用提问公式重写一条你本周的真实提问，对比前后差异。进阶练习二十分钟：为你的岗位搭一个迷你知识库，五份核心资料就够，跑通一次检索问答。挑战练习三十分钟：设计并发布一个岗位专属搭档，写人设、配开场白、挂知识库、测三个任务。今天就做三件事：登录平台完成一次真实提问，上传一份资料建库试检索，把常用提示词存成技能。两周后我们复盘，哪些工作流已经跑通。谢谢大家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86650" y="-457200"/>
            <a:ext cx="7277100" cy="7258050"/>
            <a:chOff x="7486650" y="-476250"/>
            <a:chExt cx="7277100" cy="7258050"/>
          </a:xfrm>
        </p:grpSpPr>
        <p:sp>
          <p:nvSpPr>
            <p:cNvPr id="2" name="Ellipse 2"/>
            <p:cNvSpPr/>
            <p:nvPr/>
          </p:nvSpPr>
          <p:spPr>
            <a:xfrm>
              <a:off x="7524750" y="-476250"/>
              <a:ext cx="7239000" cy="7239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" name="Ellipse 3"/>
            <p:cNvSpPr/>
            <p:nvPr/>
          </p:nvSpPr>
          <p:spPr>
            <a:xfrm>
              <a:off x="7505700" y="5410200"/>
              <a:ext cx="1371600" cy="137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486650" y="571500"/>
              <a:ext cx="495300" cy="495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5998" y="1162050"/>
            <a:ext cx="5612130" cy="1778317"/>
            <a:chOff x="745998" y="1162050"/>
            <a:chExt cx="5612130" cy="1778317"/>
          </a:xfrm>
        </p:grpSpPr>
        <p:sp>
          <p:nvSpPr>
            <p:cNvPr id="6" name="Rectangle 6"/>
            <p:cNvSpPr/>
            <p:nvPr/>
          </p:nvSpPr>
          <p:spPr>
            <a:xfrm>
              <a:off x="762000" y="1162050"/>
              <a:ext cx="30480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8752" y="1283018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Kmind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· 内部实战培训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1831658"/>
              <a:ext cx="3866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工具箱实战培训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2500312"/>
              <a:ext cx="56075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 AI 从「能聊天」变成「能完成工作」</a:t>
              </a:r>
              <a:endParaRPr lang="zh-CN" sz="22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7719" y="3826669"/>
            <a:ext cx="6112249" cy="1794796"/>
            <a:chOff x="797719" y="3826669"/>
            <a:chExt cx="6112249" cy="1794796"/>
          </a:xfrm>
        </p:grpSpPr>
        <p:grpSp>
          <p:nvGrpSpPr>
            <p:cNvPr id="15" name="Group 15"/>
            <p:cNvGrpSpPr/>
            <p:nvPr/>
          </p:nvGrpSpPr>
          <p:grpSpPr>
            <a:xfrm>
              <a:off x="797719" y="3826669"/>
              <a:ext cx="214313" cy="214313"/>
              <a:chOff x="797719" y="3826669"/>
              <a:chExt cx="214313" cy="2143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21531" y="38266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7719" y="39695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2500" y="38282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76313" y="39713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10818" y="3831908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培训对象</a:t>
              </a: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　普通使用者 与 平台管理员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21531" y="4505325"/>
              <a:ext cx="178595" cy="202406"/>
              <a:chOff x="821531" y="4505325"/>
              <a:chExt cx="178595" cy="2024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21531" y="450532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6601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9156" y="45529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9156" y="46005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210818" y="44986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培训目标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12342" y="4845368"/>
              <a:ext cx="5697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会提问 · 会用知识库 · 会调用搭档 / 技能 / MCP · 会理解管理边界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97719" y="5305425"/>
              <a:ext cx="214312" cy="202406"/>
              <a:chOff x="797719" y="5305425"/>
              <a:chExt cx="214312" cy="20240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97719" y="5305425"/>
                <a:ext cx="214312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2406">
                    <a:moveTo>
                      <a:pt x="178594" y="0"/>
                    </a:move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130969"/>
                    </a:lnTo>
                    <a:cubicBezTo>
                      <a:pt x="214312" y="150696"/>
                      <a:pt x="198321" y="166688"/>
                      <a:pt x="178594" y="166688"/>
                    </a:cubicBezTo>
                    <a:lnTo>
                      <a:pt x="119062" y="166688"/>
                    </a:lnTo>
                    <a:lnTo>
                      <a:pt x="59531" y="202406"/>
                    </a:lnTo>
                    <a:lnTo>
                      <a:pt x="59531" y="166688"/>
                    </a:lnTo>
                    <a:lnTo>
                      <a:pt x="35719" y="166688"/>
                    </a:lnTo>
                    <a:cubicBezTo>
                      <a:pt x="15992" y="166688"/>
                      <a:pt x="0" y="150696"/>
                      <a:pt x="0" y="130969"/>
                    </a:cubicBezTo>
                    <a:lnTo>
                      <a:pt x="0" y="35719"/>
                    </a:ln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5109" y="53649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4641" y="53649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5109" y="5412581"/>
                <a:ext cx="59531" cy="12508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12508">
                    <a:moveTo>
                      <a:pt x="0" y="0"/>
                    </a:moveTo>
                    <a:cubicBezTo>
                      <a:pt x="7838" y="8000"/>
                      <a:pt x="18566" y="12508"/>
                      <a:pt x="29766" y="12508"/>
                    </a:cubicBezTo>
                    <a:cubicBezTo>
                      <a:pt x="40965" y="12508"/>
                      <a:pt x="51693" y="8000"/>
                      <a:pt x="59531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10818" y="5298758"/>
              <a:ext cx="4259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培训时长</a:t>
              </a: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　90–120 分钟 · 讲授 + 现场演示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5904" y="6271260"/>
            <a:ext cx="23545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培训课件 + 课后实操清单 · 2026</a:t>
            </a:r>
            <a:endParaRPr lang="zh-CN" sz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10282555" y="6163309"/>
            <a:ext cx="855345" cy="450850"/>
            <a:chOff x="10282240" y="6236276"/>
            <a:chExt cx="572770" cy="178435"/>
          </a:xfrm>
        </p:grpSpPr>
        <p:sp>
          <p:nvSpPr>
            <p:cNvPr id="32" name="TextBox 32"/>
            <p:cNvSpPr txBox="1"/>
            <p:nvPr/>
          </p:nvSpPr>
          <p:spPr>
            <a:xfrm>
              <a:off x="10282240" y="6236276"/>
              <a:ext cx="572770" cy="178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  <a:r>
                <a:rPr lang="en-US" altLang="zh-CN" sz="2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mind</a:t>
              </a:r>
              <a:endParaRPr lang="en-US" altLang="zh-CN" sz="2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16072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为什么需要统一 AI 工具箱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34574" y="594360"/>
              <a:ext cx="1582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1 · 开篇与价值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1238250"/>
            <a:ext cx="3143250" cy="4572000"/>
            <a:chOff x="381000" y="1238250"/>
            <a:chExt cx="3143250" cy="457200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3143250" cy="4572000"/>
            </a:xfrm>
            <a:prstGeom prst="roundRect">
              <a:avLst>
                <a:gd name="adj" fmla="val 48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238250"/>
              <a:ext cx="3143250" cy="533400"/>
            </a:xfrm>
            <a:prstGeom prst="roundRect">
              <a:avLst>
                <a:gd name="adj" fmla="val 2857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524000"/>
              <a:ext cx="314325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6642" y="1403032"/>
              <a:ext cx="2591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分散使用多个 AI 的问题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1792" y="20259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模型不统一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1792" y="227361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不同人使用不同模型，输出质量参差不齐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28650" y="27622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1792" y="29403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资料难管理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1792" y="318801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提示词、文档、知识散落在各处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28650" y="36766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1792" y="38547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流程不可复用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1792" y="410241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好经验无法沉淀为标准能力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28650" y="45910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1792" y="4769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权限不可控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792" y="501681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敏感数据、账号、成本缺乏治理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19500" y="3429000"/>
            <a:ext cx="476250" cy="381000"/>
            <a:chOff x="3619500" y="3429000"/>
            <a:chExt cx="476250" cy="381000"/>
          </a:xfrm>
        </p:grpSpPr>
        <p:sp>
          <p:nvSpPr>
            <p:cNvPr id="22" name="Polygon 22"/>
            <p:cNvSpPr/>
            <p:nvPr/>
          </p:nvSpPr>
          <p:spPr>
            <a:xfrm>
              <a:off x="3762375" y="342900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333375" y="0"/>
                  </a:moveTo>
                  <a:lnTo>
                    <a:pt x="333375" y="3810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19500" y="3562350"/>
              <a:ext cx="4762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4191000" y="1238250"/>
            <a:ext cx="3143250" cy="4572000"/>
            <a:chOff x="4191000" y="1238250"/>
            <a:chExt cx="3143250" cy="4572000"/>
          </a:xfrm>
        </p:grpSpPr>
        <p:sp>
          <p:nvSpPr>
            <p:cNvPr id="25" name="Rectangle 25"/>
            <p:cNvSpPr/>
            <p:nvPr/>
          </p:nvSpPr>
          <p:spPr>
            <a:xfrm>
              <a:off x="4191000" y="1238250"/>
              <a:ext cx="3143250" cy="4572000"/>
            </a:xfrm>
            <a:prstGeom prst="roundRect">
              <a:avLst>
                <a:gd name="adj" fmla="val 48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91000" y="1238250"/>
              <a:ext cx="314325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91000" y="1524000"/>
              <a:ext cx="31432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89857" y="1403032"/>
              <a:ext cx="2345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 AI 工具箱的优势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3179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对话集中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31792" y="2273618"/>
              <a:ext cx="10424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历史可检索、经验可复用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4438650" y="27622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31792" y="2940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知识集中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31792" y="3188018"/>
              <a:ext cx="10424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组织资料变成可问答的依据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438650" y="36766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31792" y="3854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工具集中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31792" y="4102418"/>
              <a:ext cx="135959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搭档、技能、MCP统一入口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4438650" y="45910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31792" y="4769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管理集中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31792" y="501681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模型、用户、权限、审计后台化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0" y="1428750"/>
            <a:ext cx="4191000" cy="2740660"/>
            <a:chOff x="7620000" y="1428750"/>
            <a:chExt cx="4191000" cy="2740660"/>
          </a:xfrm>
        </p:grpSpPr>
        <p:sp>
          <p:nvSpPr>
            <p:cNvPr id="41" name="Rectangle 41"/>
            <p:cNvSpPr/>
            <p:nvPr/>
          </p:nvSpPr>
          <p:spPr>
            <a:xfrm>
              <a:off x="7620000" y="1428750"/>
              <a:ext cx="4191000" cy="2495550"/>
            </a:xfrm>
            <a:prstGeom prst="roundRect">
              <a:avLst>
                <a:gd name="adj" fmla="val 458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77150" y="1529953"/>
              <a:ext cx="4076700" cy="2293144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8724902" y="3985260"/>
              <a:ext cx="1981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平台登录页 · 统一入口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0" y="4381500"/>
            <a:ext cx="4191000" cy="1428750"/>
            <a:chOff x="7620000" y="4381500"/>
            <a:chExt cx="4191000" cy="1428750"/>
          </a:xfrm>
        </p:grpSpPr>
        <p:sp>
          <p:nvSpPr>
            <p:cNvPr id="45" name="Rectangle 45"/>
            <p:cNvSpPr/>
            <p:nvPr/>
          </p:nvSpPr>
          <p:spPr>
            <a:xfrm>
              <a:off x="7620000" y="4381500"/>
              <a:ext cx="4191000" cy="1428750"/>
            </a:xfrm>
            <a:prstGeom prst="roundRect">
              <a:avLst>
                <a:gd name="adj" fmla="val 10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78318" y="46796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分散带来失控，统一带来秩序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9842" y="5054918"/>
              <a:ext cx="27569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对话、知识、工具与管理集中一处，才能把 AI 用成生产力</a:t>
              </a:r>
              <a:endParaRPr lang="zh-CN" sz="1350" dirty="0">
                <a:solidFill>
                  <a:srgbClr val="DBEAF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今天能学会什么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34574" y="594360"/>
              <a:ext cx="1582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1 · 开篇与价值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21201" y="1196340"/>
            <a:ext cx="4549597" cy="352044"/>
            <a:chOff x="3821201" y="1196340"/>
            <a:chExt cx="4549597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3821201" y="1196340"/>
              <a:ext cx="45495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四项核心能力 —— 从「会用」走向「用好」</a:t>
              </a:r>
              <a:endPara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1714500"/>
            <a:ext cx="2724150" cy="3810000"/>
            <a:chOff x="381000" y="1714500"/>
            <a:chExt cx="2724150" cy="3810000"/>
          </a:xfrm>
        </p:grpSpPr>
        <p:sp>
          <p:nvSpPr>
            <p:cNvPr id="8" name="Rectangle 8"/>
            <p:cNvSpPr/>
            <p:nvPr/>
          </p:nvSpPr>
          <p:spPr>
            <a:xfrm>
              <a:off x="381000" y="1714500"/>
              <a:ext cx="2724150" cy="3810000"/>
            </a:xfrm>
            <a:prstGeom prst="roundRect">
              <a:avLst>
                <a:gd name="adj" fmla="val 69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09600" y="2038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04862" y="2247900"/>
              <a:ext cx="257175" cy="242888"/>
              <a:chOff x="804862" y="2247900"/>
              <a:chExt cx="257175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04862" y="2247900"/>
                <a:ext cx="25717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42888">
                    <a:moveTo>
                      <a:pt x="214312" y="0"/>
                    </a:move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157162"/>
                    </a:lnTo>
                    <a:cubicBezTo>
                      <a:pt x="257175" y="180835"/>
                      <a:pt x="237985" y="200025"/>
                      <a:pt x="214312" y="200025"/>
                    </a:cubicBezTo>
                    <a:lnTo>
                      <a:pt x="142875" y="200025"/>
                    </a:lnTo>
                    <a:lnTo>
                      <a:pt x="71438" y="242888"/>
                    </a:lnTo>
                    <a:lnTo>
                      <a:pt x="71438" y="200025"/>
                    </a:lnTo>
                    <a:lnTo>
                      <a:pt x="42862" y="200025"/>
                    </a:lnTo>
                    <a:cubicBezTo>
                      <a:pt x="19190" y="200025"/>
                      <a:pt x="0" y="180835"/>
                      <a:pt x="0" y="157162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7731" y="2319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9169" y="2319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97731" y="2376488"/>
                <a:ext cx="71438" cy="1500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5009">
                    <a:moveTo>
                      <a:pt x="0" y="0"/>
                    </a:moveTo>
                    <a:cubicBezTo>
                      <a:pt x="9406" y="9600"/>
                      <a:pt x="22279" y="15009"/>
                      <a:pt x="35719" y="15009"/>
                    </a:cubicBezTo>
                    <a:cubicBezTo>
                      <a:pt x="49158" y="15009"/>
                      <a:pt x="62032" y="9600"/>
                      <a:pt x="71438" y="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39418" y="21078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会高质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39418" y="23936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量提问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66750" y="29146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85800" y="3219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9442" y="3168968"/>
              <a:ext cx="192538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掌握角色 / 目标 / 背景 /约束 / 输出格式结构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58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" y="3873818"/>
              <a:ext cx="146246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输出可核验、可落地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409950" y="1714500"/>
            <a:ext cx="2724150" cy="3810000"/>
            <a:chOff x="3409950" y="1714500"/>
            <a:chExt cx="2724150" cy="3810000"/>
          </a:xfrm>
        </p:grpSpPr>
        <p:sp>
          <p:nvSpPr>
            <p:cNvPr id="23" name="Rectangle 23"/>
            <p:cNvSpPr/>
            <p:nvPr/>
          </p:nvSpPr>
          <p:spPr>
            <a:xfrm>
              <a:off x="3409950" y="1714500"/>
              <a:ext cx="2724150" cy="3810000"/>
            </a:xfrm>
            <a:prstGeom prst="roundRect">
              <a:avLst>
                <a:gd name="adj" fmla="val 69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638550" y="2038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862388" y="2246400"/>
              <a:ext cx="230016" cy="231600"/>
              <a:chOff x="3862388" y="2246400"/>
              <a:chExt cx="230016" cy="231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862388" y="2247900"/>
                <a:ext cx="571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  <a:cubicBezTo>
                      <a:pt x="50753" y="0"/>
                      <a:pt x="57150" y="6397"/>
                      <a:pt x="57150" y="14288"/>
                    </a:cubicBezTo>
                    <a:lnTo>
                      <a:pt x="57150" y="214312"/>
                    </a:lnTo>
                    <a:cubicBezTo>
                      <a:pt x="57150" y="222203"/>
                      <a:pt x="50753" y="228600"/>
                      <a:pt x="42862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919538" y="2247900"/>
                <a:ext cx="571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  <a:cubicBezTo>
                      <a:pt x="50753" y="0"/>
                      <a:pt x="57150" y="6397"/>
                      <a:pt x="57150" y="14288"/>
                    </a:cubicBezTo>
                    <a:lnTo>
                      <a:pt x="57150" y="214312"/>
                    </a:lnTo>
                    <a:cubicBezTo>
                      <a:pt x="57150" y="222203"/>
                      <a:pt x="50753" y="228600"/>
                      <a:pt x="42862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862388" y="23050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919538" y="24193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975272" y="2246400"/>
                <a:ext cx="117132" cy="231600"/>
              </a:xfrm>
              <a:custGeom>
                <a:avLst/>
                <a:gdLst/>
                <a:ahLst/>
                <a:cxnLst/>
                <a:rect l="l" t="t" r="r" b="b"/>
                <a:pathLst>
                  <a:path w="117132" h="231600">
                    <a:moveTo>
                      <a:pt x="12889" y="9501"/>
                    </a:moveTo>
                    <a:lnTo>
                      <a:pt x="44093" y="1929"/>
                    </a:lnTo>
                    <a:cubicBezTo>
                      <a:pt x="52122" y="0"/>
                      <a:pt x="60280" y="4643"/>
                      <a:pt x="62409" y="12387"/>
                    </a:cubicBezTo>
                    <a:lnTo>
                      <a:pt x="115201" y="204097"/>
                    </a:lnTo>
                    <a:cubicBezTo>
                      <a:pt x="117132" y="211370"/>
                      <a:pt x="113206" y="218917"/>
                      <a:pt x="106143" y="221513"/>
                    </a:cubicBezTo>
                    <a:lnTo>
                      <a:pt x="104243" y="222099"/>
                    </a:lnTo>
                    <a:lnTo>
                      <a:pt x="73039" y="229672"/>
                    </a:lnTo>
                    <a:cubicBezTo>
                      <a:pt x="65009" y="231600"/>
                      <a:pt x="56851" y="226957"/>
                      <a:pt x="54722" y="219213"/>
                    </a:cubicBezTo>
                    <a:lnTo>
                      <a:pt x="1930" y="27503"/>
                    </a:lnTo>
                    <a:cubicBezTo>
                      <a:pt x="0" y="20230"/>
                      <a:pt x="3925" y="12683"/>
                      <a:pt x="10988" y="10087"/>
                    </a:cubicBezTo>
                    <a:lnTo>
                      <a:pt x="12889" y="9501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990975" y="2305050"/>
                <a:ext cx="57150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8">
                    <a:moveTo>
                      <a:pt x="0" y="14288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019550" y="2405348"/>
                <a:ext cx="56050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56050" h="14002">
                    <a:moveTo>
                      <a:pt x="0" y="14002"/>
                    </a:moveTo>
                    <a:lnTo>
                      <a:pt x="560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468368" y="2107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会用文件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68368" y="2393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与知识库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3695700" y="29146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714750" y="3219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98392" y="316896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上传资料进行摘要、提取、对比、改写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Ellipse 38"/>
            <p:cNvSpPr/>
            <p:nvPr/>
          </p:nvSpPr>
          <p:spPr>
            <a:xfrm>
              <a:off x="371475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98392" y="3873818"/>
              <a:ext cx="123958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建立个人 / 组织知识库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38900" y="1714500"/>
            <a:ext cx="2724150" cy="3810000"/>
            <a:chOff x="6438900" y="1714500"/>
            <a:chExt cx="2724150" cy="3810000"/>
          </a:xfrm>
        </p:grpSpPr>
        <p:sp>
          <p:nvSpPr>
            <p:cNvPr id="41" name="Rectangle 41"/>
            <p:cNvSpPr/>
            <p:nvPr/>
          </p:nvSpPr>
          <p:spPr>
            <a:xfrm>
              <a:off x="6438900" y="1714500"/>
              <a:ext cx="2724150" cy="3810000"/>
            </a:xfrm>
            <a:prstGeom prst="roundRect">
              <a:avLst>
                <a:gd name="adj" fmla="val 69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667500" y="2038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862762" y="2233612"/>
              <a:ext cx="257176" cy="257175"/>
              <a:chOff x="6862762" y="2233612"/>
              <a:chExt cx="257176" cy="2571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862762" y="22336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42862" y="257175"/>
                    </a:moveTo>
                    <a:lnTo>
                      <a:pt x="257175" y="42862"/>
                    </a:lnTo>
                    <a:lnTo>
                      <a:pt x="214312" y="0"/>
                    </a:lnTo>
                    <a:lnTo>
                      <a:pt x="0" y="214312"/>
                    </a:lnTo>
                    <a:lnTo>
                      <a:pt x="42862" y="2571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034212" y="2276475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0"/>
                    </a:moveTo>
                    <a:lnTo>
                      <a:pt x="42862" y="428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19912" y="22336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0"/>
                    </a:moveTo>
                    <a:cubicBezTo>
                      <a:pt x="28575" y="15782"/>
                      <a:pt x="41368" y="28575"/>
                      <a:pt x="57150" y="28575"/>
                    </a:cubicBezTo>
                    <a:cubicBezTo>
                      <a:pt x="41368" y="28575"/>
                      <a:pt x="28575" y="41368"/>
                      <a:pt x="28575" y="57150"/>
                    </a:cubicBezTo>
                    <a:cubicBezTo>
                      <a:pt x="28575" y="41368"/>
                      <a:pt x="15782" y="28575"/>
                      <a:pt x="0" y="28575"/>
                    </a:cubicBezTo>
                    <a:cubicBezTo>
                      <a:pt x="15782" y="28575"/>
                      <a:pt x="28575" y="15782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062788" y="23764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0"/>
                    </a:moveTo>
                    <a:cubicBezTo>
                      <a:pt x="28575" y="15782"/>
                      <a:pt x="41368" y="28575"/>
                      <a:pt x="57150" y="28575"/>
                    </a:cubicBezTo>
                    <a:cubicBezTo>
                      <a:pt x="41368" y="28575"/>
                      <a:pt x="28575" y="41368"/>
                      <a:pt x="28575" y="57150"/>
                    </a:cubicBezTo>
                    <a:cubicBezTo>
                      <a:pt x="28575" y="41368"/>
                      <a:pt x="15782" y="28575"/>
                      <a:pt x="0" y="28575"/>
                    </a:cubicBezTo>
                    <a:cubicBezTo>
                      <a:pt x="15782" y="28575"/>
                      <a:pt x="28575" y="15782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497318" y="2107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会调用搭档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7318" y="239363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 / MCP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6724650" y="29146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743700" y="3219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27342" y="316896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选择岗位助手、使用标准技能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437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7342" y="3873818"/>
              <a:ext cx="10424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触发外部工具连接系统能力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467850" y="1714500"/>
            <a:ext cx="2724150" cy="3810000"/>
            <a:chOff x="9467850" y="1714500"/>
            <a:chExt cx="2724150" cy="3810000"/>
          </a:xfrm>
        </p:grpSpPr>
        <p:sp>
          <p:nvSpPr>
            <p:cNvPr id="56" name="Rectangle 56"/>
            <p:cNvSpPr/>
            <p:nvPr/>
          </p:nvSpPr>
          <p:spPr>
            <a:xfrm>
              <a:off x="9467850" y="1714500"/>
              <a:ext cx="2724150" cy="3810000"/>
            </a:xfrm>
            <a:prstGeom prst="roundRect">
              <a:avLst>
                <a:gd name="adj" fmla="val 69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696450" y="2038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9885440" y="2227340"/>
              <a:ext cx="278207" cy="284879"/>
              <a:chOff x="9885440" y="2227340"/>
              <a:chExt cx="278207" cy="284879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885440" y="2227340"/>
                <a:ext cx="263562" cy="263462"/>
              </a:xfrm>
              <a:custGeom>
                <a:avLst/>
                <a:gdLst/>
                <a:ahLst/>
                <a:cxnLst/>
                <a:rect l="l" t="t" r="r" b="b"/>
                <a:pathLst>
                  <a:path w="263562" h="263462">
                    <a:moveTo>
                      <a:pt x="134903" y="263447"/>
                    </a:moveTo>
                    <a:cubicBezTo>
                      <a:pt x="124444" y="263462"/>
                      <a:pt x="113971" y="257189"/>
                      <a:pt x="110928" y="244631"/>
                    </a:cubicBezTo>
                    <a:cubicBezTo>
                      <a:pt x="109076" y="236986"/>
                      <a:pt x="103684" y="230686"/>
                      <a:pt x="96417" y="227675"/>
                    </a:cubicBezTo>
                    <a:cubicBezTo>
                      <a:pt x="89150" y="224664"/>
                      <a:pt x="80882" y="225305"/>
                      <a:pt x="74166" y="229400"/>
                    </a:cubicBezTo>
                    <a:cubicBezTo>
                      <a:pt x="52121" y="242830"/>
                      <a:pt x="26875" y="217599"/>
                      <a:pt x="40305" y="195539"/>
                    </a:cubicBezTo>
                    <a:cubicBezTo>
                      <a:pt x="44394" y="188826"/>
                      <a:pt x="45033" y="180564"/>
                      <a:pt x="42026" y="173302"/>
                    </a:cubicBezTo>
                    <a:cubicBezTo>
                      <a:pt x="39019" y="166040"/>
                      <a:pt x="32727" y="160649"/>
                      <a:pt x="25089" y="158791"/>
                    </a:cubicBezTo>
                    <a:cubicBezTo>
                      <a:pt x="0" y="152705"/>
                      <a:pt x="0" y="117015"/>
                      <a:pt x="25089" y="110928"/>
                    </a:cubicBezTo>
                    <a:cubicBezTo>
                      <a:pt x="32734" y="109076"/>
                      <a:pt x="39034" y="103684"/>
                      <a:pt x="42044" y="96417"/>
                    </a:cubicBezTo>
                    <a:cubicBezTo>
                      <a:pt x="45055" y="89150"/>
                      <a:pt x="44414" y="80882"/>
                      <a:pt x="40319" y="74166"/>
                    </a:cubicBezTo>
                    <a:cubicBezTo>
                      <a:pt x="26889" y="52121"/>
                      <a:pt x="52121" y="26875"/>
                      <a:pt x="74181" y="40305"/>
                    </a:cubicBezTo>
                    <a:cubicBezTo>
                      <a:pt x="88468" y="48992"/>
                      <a:pt x="106985" y="41305"/>
                      <a:pt x="110928" y="25089"/>
                    </a:cubicBezTo>
                    <a:cubicBezTo>
                      <a:pt x="117015" y="0"/>
                      <a:pt x="152705" y="0"/>
                      <a:pt x="158791" y="25089"/>
                    </a:cubicBezTo>
                    <a:cubicBezTo>
                      <a:pt x="160644" y="32734"/>
                      <a:pt x="166036" y="39034"/>
                      <a:pt x="173302" y="42044"/>
                    </a:cubicBezTo>
                    <a:cubicBezTo>
                      <a:pt x="180569" y="45055"/>
                      <a:pt x="188837" y="44414"/>
                      <a:pt x="195553" y="40319"/>
                    </a:cubicBezTo>
                    <a:cubicBezTo>
                      <a:pt x="217599" y="26889"/>
                      <a:pt x="242845" y="52121"/>
                      <a:pt x="229414" y="74181"/>
                    </a:cubicBezTo>
                    <a:cubicBezTo>
                      <a:pt x="225325" y="80894"/>
                      <a:pt x="224686" y="89155"/>
                      <a:pt x="227693" y="96417"/>
                    </a:cubicBezTo>
                    <a:cubicBezTo>
                      <a:pt x="230700" y="103680"/>
                      <a:pt x="236993" y="109071"/>
                      <a:pt x="244631" y="110928"/>
                    </a:cubicBezTo>
                    <a:cubicBezTo>
                      <a:pt x="257289" y="114000"/>
                      <a:pt x="263562" y="124601"/>
                      <a:pt x="263462" y="135131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977438" y="23193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0091752" y="24336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0120327" y="2412206"/>
                <a:ext cx="9525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431">
                    <a:moveTo>
                      <a:pt x="0" y="0"/>
                    </a:moveTo>
                    <a:lnTo>
                      <a:pt x="0" y="21431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120327" y="2490788"/>
                <a:ext cx="9525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431">
                    <a:moveTo>
                      <a:pt x="0" y="0"/>
                    </a:moveTo>
                    <a:lnTo>
                      <a:pt x="0" y="21431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145073" y="2437209"/>
                <a:ext cx="18559" cy="10716"/>
              </a:xfrm>
              <a:custGeom>
                <a:avLst/>
                <a:gdLst/>
                <a:ahLst/>
                <a:cxnLst/>
                <a:rect l="l" t="t" r="r" b="b"/>
                <a:pathLst>
                  <a:path w="18559" h="10716">
                    <a:moveTo>
                      <a:pt x="18559" y="0"/>
                    </a:moveTo>
                    <a:lnTo>
                      <a:pt x="0" y="10716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077021" y="2476500"/>
                <a:ext cx="18574" cy="10716"/>
              </a:xfrm>
              <a:custGeom>
                <a:avLst/>
                <a:gdLst/>
                <a:ahLst/>
                <a:cxnLst/>
                <a:rect l="l" t="t" r="r" b="b"/>
                <a:pathLst>
                  <a:path w="18574" h="10716">
                    <a:moveTo>
                      <a:pt x="18574" y="0"/>
                    </a:moveTo>
                    <a:lnTo>
                      <a:pt x="0" y="10716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0077021" y="2437209"/>
                <a:ext cx="18574" cy="10716"/>
              </a:xfrm>
              <a:custGeom>
                <a:avLst/>
                <a:gdLst/>
                <a:ahLst/>
                <a:cxnLst/>
                <a:rect l="l" t="t" r="r" b="b"/>
                <a:pathLst>
                  <a:path w="18574" h="10716">
                    <a:moveTo>
                      <a:pt x="0" y="0"/>
                    </a:moveTo>
                    <a:lnTo>
                      <a:pt x="18574" y="10716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0145073" y="2476500"/>
                <a:ext cx="18574" cy="10716"/>
              </a:xfrm>
              <a:custGeom>
                <a:avLst/>
                <a:gdLst/>
                <a:ahLst/>
                <a:cxnLst/>
                <a:rect l="l" t="t" r="r" b="b"/>
                <a:pathLst>
                  <a:path w="18574" h="10716">
                    <a:moveTo>
                      <a:pt x="0" y="0"/>
                    </a:moveTo>
                    <a:lnTo>
                      <a:pt x="18574" y="10716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526268" y="2107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会理解管理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26268" y="2393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配置边界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Line 70"/>
            <p:cNvSpPr/>
            <p:nvPr/>
          </p:nvSpPr>
          <p:spPr>
            <a:xfrm>
              <a:off x="9753600" y="29146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9772650" y="3219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956292" y="3168968"/>
              <a:ext cx="17282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模型管理、用户权限、安全风险控制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Ellipse 73"/>
            <p:cNvSpPr/>
            <p:nvPr/>
          </p:nvSpPr>
          <p:spPr>
            <a:xfrm>
              <a:off x="977265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956292" y="3873818"/>
              <a:ext cx="1385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知道什么该做、什么需管理员处理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平台全景：六类能力协同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93198" y="594360"/>
              <a:ext cx="1923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2 · 平台概览与导航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714750" y="2286000"/>
            <a:ext cx="4762500" cy="2933700"/>
            <a:chOff x="3714750" y="2286000"/>
            <a:chExt cx="4762500" cy="2933700"/>
          </a:xfrm>
        </p:grpSpPr>
        <p:sp>
          <p:nvSpPr>
            <p:cNvPr id="6" name="Line 6"/>
            <p:cNvSpPr/>
            <p:nvPr/>
          </p:nvSpPr>
          <p:spPr>
            <a:xfrm>
              <a:off x="6096000" y="2286000"/>
              <a:ext cx="1" cy="361950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 flipH="1">
              <a:off x="7143750" y="2933700"/>
              <a:ext cx="1333500" cy="457200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 flipV="1">
              <a:off x="7143750" y="4133850"/>
              <a:ext cx="1333500" cy="457200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V="1">
              <a:off x="6096000" y="4857750"/>
              <a:ext cx="1" cy="361950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V="1">
              <a:off x="3714750" y="4133850"/>
              <a:ext cx="1333500" cy="457200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3714750" y="2933700"/>
              <a:ext cx="1333500" cy="457200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029200" y="2647950"/>
            <a:ext cx="2133600" cy="2133600"/>
            <a:chOff x="5029200" y="2647950"/>
            <a:chExt cx="2133600" cy="2133600"/>
          </a:xfrm>
        </p:grpSpPr>
        <p:sp>
          <p:nvSpPr>
            <p:cNvPr id="13" name="Ellipse 13"/>
            <p:cNvSpPr/>
            <p:nvPr/>
          </p:nvSpPr>
          <p:spPr>
            <a:xfrm>
              <a:off x="5029200" y="26479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162550" y="2781300"/>
              <a:ext cx="1866900" cy="1866900"/>
            </a:xfrm>
            <a:prstGeom prst="ellipse">
              <a:avLst/>
            </a:prstGeom>
            <a:noFill/>
            <a:ln w="19050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77992" y="3406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可复用的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0776" y="3729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智能工作流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048250" y="1390650"/>
            <a:ext cx="2095500" cy="876300"/>
            <a:chOff x="5048250" y="1390650"/>
            <a:chExt cx="2095500" cy="876300"/>
          </a:xfrm>
        </p:grpSpPr>
        <p:sp>
          <p:nvSpPr>
            <p:cNvPr id="18" name="Rectangle 18"/>
            <p:cNvSpPr/>
            <p:nvPr/>
          </p:nvSpPr>
          <p:spPr>
            <a:xfrm>
              <a:off x="5048250" y="139065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 w="19050">
              <a:solidFill>
                <a:srgbClr val="DBEAF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54389" y="15935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对话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01412" y="19278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与大模型交互的核心入口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477250" y="2076450"/>
            <a:ext cx="2095500" cy="876300"/>
            <a:chOff x="8477250" y="2076450"/>
            <a:chExt cx="2095500" cy="876300"/>
          </a:xfrm>
        </p:grpSpPr>
        <p:sp>
          <p:nvSpPr>
            <p:cNvPr id="22" name="Rectangle 22"/>
            <p:cNvSpPr/>
            <p:nvPr/>
          </p:nvSpPr>
          <p:spPr>
            <a:xfrm>
              <a:off x="8477250" y="207645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 w="19050">
              <a:solidFill>
                <a:srgbClr val="DBEAF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66774" y="22793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知识库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11184" y="26136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组织资料的可问答依据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77250" y="4438650"/>
            <a:ext cx="2095500" cy="876300"/>
            <a:chOff x="8477250" y="4438650"/>
            <a:chExt cx="2095500" cy="876300"/>
          </a:xfrm>
        </p:grpSpPr>
        <p:sp>
          <p:nvSpPr>
            <p:cNvPr id="26" name="Rectangle 26"/>
            <p:cNvSpPr/>
            <p:nvPr/>
          </p:nvSpPr>
          <p:spPr>
            <a:xfrm>
              <a:off x="8477250" y="443865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 w="19050">
              <a:solidFill>
                <a:srgbClr val="DBEAF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83389" y="46415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搭档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83091" y="4975860"/>
              <a:ext cx="1283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岗位化的 AI 助手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48250" y="5124450"/>
            <a:ext cx="2095500" cy="876300"/>
            <a:chOff x="5048250" y="5124450"/>
            <a:chExt cx="2095500" cy="876300"/>
          </a:xfrm>
        </p:grpSpPr>
        <p:sp>
          <p:nvSpPr>
            <p:cNvPr id="30" name="Rectangle 30"/>
            <p:cNvSpPr/>
            <p:nvPr/>
          </p:nvSpPr>
          <p:spPr>
            <a:xfrm>
              <a:off x="5048250" y="512445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 w="19050">
              <a:solidFill>
                <a:srgbClr val="DBEAF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54389" y="5327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技能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2184" y="56616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沉淀为标准流程的方法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19250" y="4438650"/>
            <a:ext cx="2095500" cy="876300"/>
            <a:chOff x="1619250" y="4438650"/>
            <a:chExt cx="2095500" cy="876300"/>
          </a:xfrm>
        </p:grpSpPr>
        <p:sp>
          <p:nvSpPr>
            <p:cNvPr id="34" name="Rectangle 34"/>
            <p:cNvSpPr/>
            <p:nvPr/>
          </p:nvSpPr>
          <p:spPr>
            <a:xfrm>
              <a:off x="1619250" y="443865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 w="19050">
              <a:solidFill>
                <a:srgbClr val="DBEAF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30670" y="4641532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33956" y="49758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连接外部系统与工具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19250" y="2076450"/>
            <a:ext cx="2095500" cy="876300"/>
            <a:chOff x="1619250" y="2076450"/>
            <a:chExt cx="2095500" cy="876300"/>
          </a:xfrm>
        </p:grpSpPr>
        <p:sp>
          <p:nvSpPr>
            <p:cNvPr id="38" name="Rectangle 38"/>
            <p:cNvSpPr/>
            <p:nvPr/>
          </p:nvSpPr>
          <p:spPr>
            <a:xfrm>
              <a:off x="1619250" y="2076450"/>
              <a:ext cx="20955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 w="19050">
              <a:solidFill>
                <a:srgbClr val="DBEAF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92160" y="2279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管理后台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95500" y="2613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治理与配置中心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809750" y="6134100"/>
            <a:ext cx="8572500" cy="420815"/>
            <a:chOff x="1809750" y="6134100"/>
            <a:chExt cx="8572500" cy="420815"/>
          </a:xfrm>
        </p:grpSpPr>
        <p:sp>
          <p:nvSpPr>
            <p:cNvPr id="42" name="Rectangle 42"/>
            <p:cNvSpPr/>
            <p:nvPr/>
          </p:nvSpPr>
          <p:spPr>
            <a:xfrm>
              <a:off x="1809750" y="6134100"/>
              <a:ext cx="8572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03728" y="6232208"/>
              <a:ext cx="4984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模型负责生成 · 知识库提供依据 · 工具负责执行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工作台快速导航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93198" y="594360"/>
              <a:ext cx="1923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2 · 平台概览与导航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1238250"/>
            <a:ext cx="3810000" cy="1657350"/>
            <a:chOff x="381000" y="1238250"/>
            <a:chExt cx="3810000" cy="165735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3810000" cy="1657350"/>
            </a:xfrm>
            <a:prstGeom prst="roundRect">
              <a:avLst>
                <a:gd name="adj" fmla="val 91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20268" y="142208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左侧会话栏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Ellipse 8"/>
            <p:cNvSpPr/>
            <p:nvPr/>
          </p:nvSpPr>
          <p:spPr>
            <a:xfrm>
              <a:off x="666750" y="1866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392" y="181641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搜索对话 · 置顶会话 · 最近对话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2171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2121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「新建对话」按钮发起全新任务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6750" y="2476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392" y="2426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会话按任务命名，便于检索复用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3067050"/>
            <a:ext cx="3810000" cy="1657350"/>
            <a:chOff x="381000" y="3067050"/>
            <a:chExt cx="3810000" cy="1657350"/>
          </a:xfrm>
        </p:grpSpPr>
        <p:sp>
          <p:nvSpPr>
            <p:cNvPr id="15" name="Rectangle 15"/>
            <p:cNvSpPr/>
            <p:nvPr/>
          </p:nvSpPr>
          <p:spPr>
            <a:xfrm>
              <a:off x="381000" y="3067050"/>
              <a:ext cx="3810000" cy="1657350"/>
            </a:xfrm>
            <a:prstGeom prst="roundRect">
              <a:avLst>
                <a:gd name="adj" fmla="val 91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0268" y="325088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右侧主工作区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666750" y="3695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392" y="364521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当前模型显示（如 glm-5.2）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666750" y="4000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392" y="3950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欢迎语与快捷提示词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666750" y="4305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0392" y="4254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对话消息区：问答与引用来源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4895850"/>
            <a:ext cx="3810000" cy="1581150"/>
            <a:chOff x="381000" y="4895850"/>
            <a:chExt cx="3810000" cy="1581150"/>
          </a:xfrm>
        </p:grpSpPr>
        <p:sp>
          <p:nvSpPr>
            <p:cNvPr id="24" name="Rectangle 24"/>
            <p:cNvSpPr/>
            <p:nvPr/>
          </p:nvSpPr>
          <p:spPr>
            <a:xfrm>
              <a:off x="381000" y="4895850"/>
              <a:ext cx="3810000" cy="1581150"/>
            </a:xfrm>
            <a:prstGeom prst="roundRect">
              <a:avLst>
                <a:gd name="adj" fmla="val 96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0268" y="507968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底部工具条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6750" y="5524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0392" y="5474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模型选择 · 上传文件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6750" y="5829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392" y="5778818"/>
              <a:ext cx="1991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知识库开关 · MCP 开关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6750" y="6134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0392" y="6083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设置入口：参数与显示配置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38650" y="1238250"/>
            <a:ext cx="7372350" cy="5295900"/>
            <a:chOff x="4438650" y="1238250"/>
            <a:chExt cx="7372350" cy="5295900"/>
          </a:xfrm>
        </p:grpSpPr>
        <p:sp>
          <p:nvSpPr>
            <p:cNvPr id="33" name="Rectangle 33"/>
            <p:cNvSpPr/>
            <p:nvPr/>
          </p:nvSpPr>
          <p:spPr>
            <a:xfrm>
              <a:off x="4438650" y="1238250"/>
              <a:ext cx="7372350" cy="5295900"/>
            </a:xfrm>
            <a:prstGeom prst="roundRect">
              <a:avLst>
                <a:gd name="adj" fmla="val 2878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76825" y="1352550"/>
              <a:ext cx="6096000" cy="342900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5962208" y="4842510"/>
              <a:ext cx="432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智枢 IntelliHub 主工作台：会话栏 + 主工作区 + 底部工具条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4552950" y="5124450"/>
              <a:ext cx="7143750" cy="9525"/>
            </a:xfrm>
            <a:custGeom>
              <a:avLst/>
              <a:gdLst/>
              <a:ahLst/>
              <a:cxnLst/>
              <a:rect l="l" t="t" r="r" b="b"/>
              <a:pathLst>
                <a:path w="7143750" h="9525">
                  <a:moveTo>
                    <a:pt x="0" y="0"/>
                  </a:moveTo>
                  <a:lnTo>
                    <a:pt x="71437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3708" y="5238750"/>
              <a:ext cx="2099733" cy="11811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155180" y="5438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登录入口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55942" y="574071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本地账号密码登录，首次使用找管理员开通账号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63912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对话工作流：从问题到可复用成果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05262" y="5943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3 · 对话能力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1428750"/>
            <a:ext cx="11391900" cy="1428750"/>
            <a:chOff x="381000" y="1428750"/>
            <a:chExt cx="11391900" cy="1428750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2019300" cy="1428750"/>
            </a:xfrm>
            <a:prstGeom prst="roundRect">
              <a:avLst>
                <a:gd name="adj" fmla="val 10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15810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新建会话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8378" y="2099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一个任务一个会话</a:t>
              </a:r>
              <a:endParaRPr lang="zh-CN" sz="1200" dirty="0">
                <a:solidFill>
                  <a:srgbClr val="DBEAF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24150" y="1428750"/>
              <a:ext cx="201930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58960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输入任务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62300" y="2099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明确目标与约束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67300" y="1428750"/>
              <a:ext cx="201930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02110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复制回答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86222" y="2099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保存可用成果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10450" y="1428750"/>
              <a:ext cx="201930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11153" y="1726882"/>
              <a:ext cx="1217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重试 / 编辑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67828" y="2099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优化不满意的消息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753600" y="1428750"/>
              <a:ext cx="201930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54303" y="1726882"/>
              <a:ext cx="1217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删除 / 归档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10978" y="2099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保持会话列表清晰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38400" y="2143125"/>
            <a:ext cx="7258050" cy="1"/>
            <a:chOff x="2438400" y="2143125"/>
            <a:chExt cx="7258050" cy="1"/>
          </a:xfrm>
        </p:grpSpPr>
        <p:sp>
          <p:nvSpPr>
            <p:cNvPr id="22" name="Line 22"/>
            <p:cNvSpPr/>
            <p:nvPr/>
          </p:nvSpPr>
          <p:spPr>
            <a:xfrm>
              <a:off x="2438400" y="2143125"/>
              <a:ext cx="2286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23" name="Line 23"/>
            <p:cNvSpPr/>
            <p:nvPr/>
          </p:nvSpPr>
          <p:spPr>
            <a:xfrm>
              <a:off x="4781550" y="2143125"/>
              <a:ext cx="2286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>
              <a:off x="7124700" y="2143125"/>
              <a:ext cx="2286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9467850" y="2143125"/>
              <a:ext cx="2286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3238500"/>
            <a:ext cx="5581650" cy="3143250"/>
            <a:chOff x="381000" y="3238500"/>
            <a:chExt cx="5581650" cy="3143250"/>
          </a:xfrm>
        </p:grpSpPr>
        <p:sp>
          <p:nvSpPr>
            <p:cNvPr id="27" name="Rectangle 27"/>
            <p:cNvSpPr/>
            <p:nvPr/>
          </p:nvSpPr>
          <p:spPr>
            <a:xfrm>
              <a:off x="381000" y="3238500"/>
              <a:ext cx="5581650" cy="3143250"/>
            </a:xfrm>
            <a:prstGeom prst="roundRect">
              <a:avLst>
                <a:gd name="adj" fmla="val 4848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04850" y="3556000"/>
              <a:ext cx="228599" cy="215899"/>
              <a:chOff x="704850" y="3556000"/>
              <a:chExt cx="228599" cy="2158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04850" y="35560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7400" y="3619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0900" y="3619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87400" y="3670300"/>
                <a:ext cx="63500" cy="1334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3341">
                    <a:moveTo>
                      <a:pt x="0" y="0"/>
                    </a:moveTo>
                    <a:cubicBezTo>
                      <a:pt x="8361" y="8533"/>
                      <a:pt x="19804" y="13341"/>
                      <a:pt x="31750" y="13341"/>
                    </a:cubicBezTo>
                    <a:cubicBezTo>
                      <a:pt x="43696" y="13341"/>
                      <a:pt x="55139" y="8533"/>
                      <a:pt x="6350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95756" y="35490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操作要点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66750" y="39814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9050">
              <a:solidFill>
                <a:srgbClr val="F4F8FF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23900" y="4267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6592" y="4216718"/>
              <a:ext cx="32712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一个任务一个会话，避免上下文互相干扰；跨主题混聊会让 AI「忘记」前面的约定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Ellipse 37"/>
            <p:cNvSpPr/>
            <p:nvPr/>
          </p:nvSpPr>
          <p:spPr>
            <a:xfrm>
              <a:off x="723900" y="4914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6592" y="4864418"/>
              <a:ext cx="27569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输入任务时先想清楚：目标是什么、有什么背景、要求什么格式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Ellipse 39"/>
            <p:cNvSpPr/>
            <p:nvPr/>
          </p:nvSpPr>
          <p:spPr>
            <a:xfrm>
              <a:off x="723900" y="5562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6592" y="5512118"/>
              <a:ext cx="27569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回答不满意时，重试或编辑原消息，而不是另起话题重复提问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29350" y="3238500"/>
            <a:ext cx="5581650" cy="3143250"/>
            <a:chOff x="6229350" y="3238500"/>
            <a:chExt cx="5581650" cy="3143250"/>
          </a:xfrm>
        </p:grpSpPr>
        <p:sp>
          <p:nvSpPr>
            <p:cNvPr id="42" name="Rectangle 42"/>
            <p:cNvSpPr/>
            <p:nvPr/>
          </p:nvSpPr>
          <p:spPr>
            <a:xfrm>
              <a:off x="6229350" y="3238500"/>
              <a:ext cx="5581650" cy="3143250"/>
            </a:xfrm>
            <a:prstGeom prst="roundRect">
              <a:avLst>
                <a:gd name="adj" fmla="val 484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578600" y="3556000"/>
              <a:ext cx="190500" cy="215899"/>
              <a:chOff x="6578600" y="3556000"/>
              <a:chExt cx="190500" cy="21589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78600" y="355600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92900" y="37210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29400" y="36068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29400" y="36576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44106" y="35490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最佳实践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6515100" y="39814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572250" y="4267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4942" y="4216718"/>
              <a:ext cx="29283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标题可检索：让会话名表达任务内容，下次搜索直接命中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72250" y="49149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942" y="4864418"/>
              <a:ext cx="24140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重要会话置顶：常用模板置顶，随时复用不必重写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72250" y="55626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942" y="5512118"/>
              <a:ext cx="25854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定期整理：删除过期或测试会话，保持列表干净可用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63912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模型选择：不同任务用不同的模型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05262" y="5943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3 · 对话能力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9570" y="1262062"/>
            <a:ext cx="7059930" cy="4426077"/>
            <a:chOff x="369570" y="1262062"/>
            <a:chExt cx="7059930" cy="4426077"/>
          </a:xfrm>
        </p:grpSpPr>
        <p:sp>
          <p:nvSpPr>
            <p:cNvPr id="6" name="TextBox 6"/>
            <p:cNvSpPr txBox="1"/>
            <p:nvPr/>
          </p:nvSpPr>
          <p:spPr>
            <a:xfrm>
              <a:off x="369570" y="1262062"/>
              <a:ext cx="356900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常见任务场景 → 推荐模型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81000" y="1714500"/>
              <a:ext cx="7048500" cy="952500"/>
              <a:chOff x="381000" y="1714500"/>
              <a:chExt cx="704850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381000" y="1714500"/>
                <a:ext cx="704850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381000" y="1714500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38556" y="1901190"/>
                <a:ext cx="2346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日常问答 · 通用对话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39318" y="2241232"/>
                <a:ext cx="584896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推荐：GLM 等平衡型模型 —— 响应快、成本低，够用就好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81000" y="2781300"/>
              <a:ext cx="7048500" cy="952500"/>
              <a:chOff x="381000" y="2781300"/>
              <a:chExt cx="7048500" cy="952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81000" y="2781300"/>
                <a:ext cx="704850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81000" y="2781300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38556" y="2967990"/>
                <a:ext cx="2346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深度推理 · 复杂分析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9318" y="3308032"/>
                <a:ext cx="638750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推荐：DeepSeek-R1 等推理模型 —— 会"想一想"再回答，更严谨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81000" y="3848100"/>
              <a:ext cx="7048500" cy="952500"/>
              <a:chOff x="381000" y="3848100"/>
              <a:chExt cx="7048500" cy="952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81000" y="3848100"/>
                <a:ext cx="704850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81000" y="3848100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8556" y="4034790"/>
                <a:ext cx="2346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写作润色 · 文案创作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9318" y="4374832"/>
                <a:ext cx="57253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推荐：语言表现力强的模型 —— 文风自然、更符合中文表达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" y="4914900"/>
              <a:ext cx="7048500" cy="773239"/>
              <a:chOff x="381000" y="4914900"/>
              <a:chExt cx="7048500" cy="773239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81000" y="4914900"/>
                <a:ext cx="704850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381000" y="4914900"/>
                <a:ext cx="57150" cy="762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38556" y="5063490"/>
                <a:ext cx="2346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代码技术 · 开发调试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9318" y="5365432"/>
                <a:ext cx="48368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推荐：代码能力强的模型 —— 选对工具，效率翻倍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715250" y="1238250"/>
            <a:ext cx="4095750" cy="3048000"/>
            <a:chOff x="7715250" y="1238250"/>
            <a:chExt cx="4095750" cy="3048000"/>
          </a:xfrm>
        </p:grpSpPr>
        <p:sp>
          <p:nvSpPr>
            <p:cNvPr id="28" name="Rectangle 28"/>
            <p:cNvSpPr/>
            <p:nvPr/>
          </p:nvSpPr>
          <p:spPr>
            <a:xfrm>
              <a:off x="7715250" y="1238250"/>
              <a:ext cx="4095750" cy="3048000"/>
            </a:xfrm>
            <a:prstGeom prst="roundRect">
              <a:avLst>
                <a:gd name="adj" fmla="val 4375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943850" y="14859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065294" y="1607344"/>
              <a:ext cx="214313" cy="214313"/>
              <a:chOff x="8065294" y="1607344"/>
              <a:chExt cx="214313" cy="21431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079762" y="1714500"/>
                <a:ext cx="9268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92688" h="92688">
                    <a:moveTo>
                      <a:pt x="33157" y="0"/>
                    </a:moveTo>
                    <a:lnTo>
                      <a:pt x="92688" y="59531"/>
                    </a:lnTo>
                    <a:lnTo>
                      <a:pt x="74829" y="77391"/>
                    </a:lnTo>
                    <a:cubicBezTo>
                      <a:pt x="64254" y="88315"/>
                      <a:pt x="48611" y="92688"/>
                      <a:pt x="33904" y="88833"/>
                    </a:cubicBezTo>
                    <a:cubicBezTo>
                      <a:pt x="19197" y="84977"/>
                      <a:pt x="7711" y="73492"/>
                      <a:pt x="3856" y="58784"/>
                    </a:cubicBezTo>
                    <a:cubicBezTo>
                      <a:pt x="0" y="44077"/>
                      <a:pt x="4374" y="28434"/>
                      <a:pt x="15298" y="17859"/>
                    </a:cubicBezTo>
                    <a:lnTo>
                      <a:pt x="33157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72450" y="1621812"/>
                <a:ext cx="9268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92688" h="92688">
                    <a:moveTo>
                      <a:pt x="59531" y="92688"/>
                    </a:moveTo>
                    <a:lnTo>
                      <a:pt x="0" y="33157"/>
                    </a:lnTo>
                    <a:lnTo>
                      <a:pt x="17859" y="15298"/>
                    </a:lnTo>
                    <a:cubicBezTo>
                      <a:pt x="28434" y="4374"/>
                      <a:pt x="44077" y="0"/>
                      <a:pt x="58784" y="3856"/>
                    </a:cubicBezTo>
                    <a:cubicBezTo>
                      <a:pt x="73492" y="7711"/>
                      <a:pt x="84977" y="19197"/>
                      <a:pt x="88833" y="33904"/>
                    </a:cubicBezTo>
                    <a:cubicBezTo>
                      <a:pt x="92688" y="48611"/>
                      <a:pt x="88315" y="64254"/>
                      <a:pt x="77391" y="74829"/>
                    </a:cubicBezTo>
                    <a:lnTo>
                      <a:pt x="59531" y="9268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65294" y="1791891"/>
                <a:ext cx="29766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29766">
                    <a:moveTo>
                      <a:pt x="0" y="29766"/>
                    </a:moveTo>
                    <a:lnTo>
                      <a:pt x="2976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49841" y="1607344"/>
                <a:ext cx="29766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29766">
                    <a:moveTo>
                      <a:pt x="0" y="29766"/>
                    </a:moveTo>
                    <a:lnTo>
                      <a:pt x="2976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4825" y="170259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23812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60544" y="1738312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23812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542782" y="1573530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平台上能看到什么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73568" y="2107882"/>
              <a:ext cx="2638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对话界面顶部可切换模型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3568" y="2431732"/>
              <a:ext cx="32820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默认可见：DeepSeek、GLM 等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3568" y="275558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管理员可在后台配置模型接入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73568" y="3079432"/>
              <a:ext cx="34124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部分模型（如 Claude）由管理侧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73568" y="3346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统一开通与授权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5092" y="381666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看不到的模型 = 未对本单位开放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15250" y="4476750"/>
            <a:ext cx="4095750" cy="1238250"/>
            <a:chOff x="7715250" y="4476750"/>
            <a:chExt cx="4095750" cy="1238250"/>
          </a:xfrm>
        </p:grpSpPr>
        <p:sp>
          <p:nvSpPr>
            <p:cNvPr id="45" name="Rectangle 45"/>
            <p:cNvSpPr/>
            <p:nvPr/>
          </p:nvSpPr>
          <p:spPr>
            <a:xfrm>
              <a:off x="7715250" y="4476750"/>
              <a:ext cx="4095750" cy="1238250"/>
            </a:xfrm>
            <a:prstGeom prst="roundRect">
              <a:avLst>
                <a:gd name="adj" fmla="val 1076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72806" y="4720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记住一句话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2806" y="5063490"/>
              <a:ext cx="207568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没有万能模型，合适的才是最好的。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模型参数与系统提示词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05262" y="5943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3 · 对话能力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1238250"/>
            <a:ext cx="4762500" cy="4953000"/>
            <a:chOff x="381000" y="1238250"/>
            <a:chExt cx="4762500" cy="495300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4762500" cy="4953000"/>
            </a:xfrm>
            <a:prstGeom prst="roundRect">
              <a:avLst>
                <a:gd name="adj" fmla="val 28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50495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31044" y="1626394"/>
              <a:ext cx="214312" cy="214312"/>
              <a:chOff x="731044" y="1626394"/>
              <a:chExt cx="214312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1044" y="162639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35719" y="214312"/>
                    </a:moveTo>
                    <a:lnTo>
                      <a:pt x="214312" y="35719"/>
                    </a:lnTo>
                    <a:lnTo>
                      <a:pt x="178594" y="0"/>
                    </a:lnTo>
                    <a:lnTo>
                      <a:pt x="0" y="178594"/>
                    </a:lnTo>
                    <a:lnTo>
                      <a:pt x="35719" y="2143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3919" y="1662112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0"/>
                    </a:moveTo>
                    <a:lnTo>
                      <a:pt x="35719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8669" y="162639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0"/>
                    </a:moveTo>
                    <a:cubicBezTo>
                      <a:pt x="23812" y="13151"/>
                      <a:pt x="34474" y="23812"/>
                      <a:pt x="47625" y="23812"/>
                    </a:cubicBezTo>
                    <a:cubicBezTo>
                      <a:pt x="34474" y="23812"/>
                      <a:pt x="23812" y="34474"/>
                      <a:pt x="23812" y="47625"/>
                    </a:cubicBezTo>
                    <a:cubicBezTo>
                      <a:pt x="23812" y="34474"/>
                      <a:pt x="13151" y="23812"/>
                      <a:pt x="0" y="23812"/>
                    </a:cubicBezTo>
                    <a:cubicBezTo>
                      <a:pt x="13151" y="23812"/>
                      <a:pt x="23812" y="13151"/>
                      <a:pt x="23812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7731" y="174545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0"/>
                    </a:moveTo>
                    <a:cubicBezTo>
                      <a:pt x="23812" y="13151"/>
                      <a:pt x="34474" y="23812"/>
                      <a:pt x="47625" y="23812"/>
                    </a:cubicBezTo>
                    <a:cubicBezTo>
                      <a:pt x="34474" y="23812"/>
                      <a:pt x="23812" y="34474"/>
                      <a:pt x="23812" y="47625"/>
                    </a:cubicBezTo>
                    <a:cubicBezTo>
                      <a:pt x="23812" y="34474"/>
                      <a:pt x="13151" y="23812"/>
                      <a:pt x="0" y="23812"/>
                    </a:cubicBezTo>
                    <a:cubicBezTo>
                      <a:pt x="13151" y="23812"/>
                      <a:pt x="23812" y="13151"/>
                      <a:pt x="23812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08532" y="1592580"/>
              <a:ext cx="36125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系统提示词：给 AI 的人设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66750" y="2190750"/>
              <a:ext cx="4191000" cy="1809750"/>
              <a:chOff x="666750" y="2190750"/>
              <a:chExt cx="41910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190750"/>
                <a:ext cx="4191000" cy="1809750"/>
              </a:xfrm>
              <a:prstGeom prst="roundRect">
                <a:avLst>
                  <a:gd name="adj" fmla="val 526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6206" y="233934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建议放进去</a:t>
                </a:r>
                <a:endPara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6968" y="2679382"/>
                <a:ext cx="30824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角色：你是一名合同审查助理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6968" y="3003232"/>
                <a:ext cx="30824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口吻与格式要求：分点、简洁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86968" y="3327082"/>
                <a:ext cx="21939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固定开场与禁答范围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6968" y="3650932"/>
                <a:ext cx="17497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面向的读者是谁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66750" y="4191000"/>
              <a:ext cx="4191000" cy="1714500"/>
              <a:chOff x="666750" y="4191000"/>
              <a:chExt cx="4191000" cy="1714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66750" y="4191000"/>
                <a:ext cx="4191000" cy="1714500"/>
              </a:xfrm>
              <a:prstGeom prst="roundRect">
                <a:avLst>
                  <a:gd name="adj" fmla="val 555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6206" y="433959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不必放进去</a:t>
                </a:r>
                <a:endPara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6968" y="4679632"/>
                <a:ext cx="24161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与本次任务无关的背景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6968" y="5003482"/>
                <a:ext cx="263823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大段复制粘贴的参考资料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6968" y="5327332"/>
                <a:ext cx="2860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（资料请放知识库或附件）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8492" y="56264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提示词越聚焦，回答越稳定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429250" y="1238250"/>
            <a:ext cx="6381750" cy="4953000"/>
            <a:chOff x="5429250" y="1238250"/>
            <a:chExt cx="6381750" cy="4953000"/>
          </a:xfrm>
        </p:grpSpPr>
        <p:grpSp>
          <p:nvGrpSpPr>
            <p:cNvPr id="37" name="Group 37"/>
            <p:cNvGrpSpPr/>
            <p:nvPr/>
          </p:nvGrpSpPr>
          <p:grpSpPr>
            <a:xfrm>
              <a:off x="5429250" y="1238250"/>
              <a:ext cx="3095625" cy="2381250"/>
              <a:chOff x="5429250" y="1238250"/>
              <a:chExt cx="3095625" cy="2381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429250" y="1238250"/>
                <a:ext cx="3095625" cy="2381250"/>
              </a:xfrm>
              <a:prstGeom prst="roundRect">
                <a:avLst>
                  <a:gd name="adj" fmla="val 5600"/>
                </a:avLst>
              </a:prstGeom>
              <a:solidFill>
                <a:schemeClr val="lt1"/>
              </a:solidFill>
              <a:ln w="19050">
                <a:solidFill>
                  <a:srgbClr val="DBEAFE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657850" y="1466850"/>
                <a:ext cx="4572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496345" y="1580198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58306" y="159639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最大输出长度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49468" y="210788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决定单次回答的篇幅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649468" y="24317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上限写长文、做纪要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649468" y="275558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日常问答用默认即可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650992" y="3149918"/>
                <a:ext cx="17493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太长≠更好，够用即可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715375" y="1238250"/>
              <a:ext cx="3095625" cy="2381250"/>
              <a:chOff x="8715375" y="1238250"/>
              <a:chExt cx="3095625" cy="2381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715375" y="1238250"/>
                <a:ext cx="3095625" cy="2381250"/>
              </a:xfrm>
              <a:prstGeom prst="roundRect">
                <a:avLst>
                  <a:gd name="adj" fmla="val 5600"/>
                </a:avLst>
              </a:prstGeom>
              <a:solidFill>
                <a:schemeClr val="lt1"/>
              </a:solidFill>
              <a:ln w="19050">
                <a:solidFill>
                  <a:srgbClr val="DBEA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943975" y="1466850"/>
                <a:ext cx="4572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782470" y="1580198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544431" y="1596390"/>
                <a:ext cx="1579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温度与 Top-p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935593" y="21078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数值越高越发散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935593" y="243173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写文案可适当调高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35593" y="275558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查数据、做核对调低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937117" y="31499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不确定就保持默认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429250" y="3810000"/>
              <a:ext cx="3095625" cy="2381250"/>
              <a:chOff x="5429250" y="3810000"/>
              <a:chExt cx="3095625" cy="23812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5429250" y="3810000"/>
                <a:ext cx="3095625" cy="2381250"/>
              </a:xfrm>
              <a:prstGeom prst="roundRect">
                <a:avLst>
                  <a:gd name="adj" fmla="val 5600"/>
                </a:avLst>
              </a:prstGeom>
              <a:solidFill>
                <a:schemeClr val="lt1"/>
              </a:solidFill>
              <a:ln w="19050">
                <a:solidFill>
                  <a:srgbClr val="DBEAFE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5657850" y="4038600"/>
                <a:ext cx="4572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496345" y="4151948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58306" y="41681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推理等级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649468" y="4679632"/>
                <a:ext cx="16937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高等级=思考更深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649468" y="500348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耗时也更长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649468" y="532733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复杂问题再开启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650992" y="57216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简单问题低等级即可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8715375" y="3810000"/>
              <a:ext cx="3095625" cy="2381250"/>
              <a:chOff x="8715375" y="3810000"/>
              <a:chExt cx="3095625" cy="23812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715375" y="3810000"/>
                <a:ext cx="3095625" cy="2381250"/>
              </a:xfrm>
              <a:prstGeom prst="roundRect">
                <a:avLst>
                  <a:gd name="adj" fmla="val 5600"/>
                </a:avLst>
              </a:prstGeom>
              <a:solidFill>
                <a:schemeClr val="lt1"/>
              </a:solidFill>
              <a:ln w="19050">
                <a:solidFill>
                  <a:srgbClr val="DBEAFE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943975" y="4038600"/>
                <a:ext cx="4572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782470" y="4151948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544431" y="41681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显示设置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935593" y="467963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是否展示思维链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935593" y="5003482"/>
                <a:ext cx="20936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是否显示 token 用量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935593" y="532733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按个人习惯调整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937117" y="57216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不影响回答质量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34229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高质量提问的公式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05262" y="5943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3 · 对话能力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005647" y="1259205"/>
            <a:ext cx="6180706" cy="410718"/>
            <a:chOff x="3005647" y="1259205"/>
            <a:chExt cx="618070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3005647" y="1259205"/>
              <a:ext cx="61807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好提问 = 角色 + 目标 + 背景 + 约束 + 输出格式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1676400"/>
            <a:ext cx="11430000" cy="1047750"/>
            <a:chOff x="381000" y="1676400"/>
            <a:chExt cx="11430000" cy="1047750"/>
          </a:xfrm>
        </p:grpSpPr>
        <p:grpSp>
          <p:nvGrpSpPr>
            <p:cNvPr id="12" name="Group 12"/>
            <p:cNvGrpSpPr/>
            <p:nvPr/>
          </p:nvGrpSpPr>
          <p:grpSpPr>
            <a:xfrm>
              <a:off x="381000" y="1676400"/>
              <a:ext cx="2133600" cy="1047750"/>
              <a:chOff x="381000" y="1676400"/>
              <a:chExt cx="2133600" cy="1047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81000" y="1676400"/>
                <a:ext cx="21336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85800" y="200977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03780" y="20983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38656" y="2091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705100" y="1676400"/>
              <a:ext cx="2133600" cy="1047750"/>
              <a:chOff x="2705100" y="1676400"/>
              <a:chExt cx="2133600" cy="1047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2705100" y="1676400"/>
                <a:ext cx="21336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3009900" y="200977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127880" y="20983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762756" y="2091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目标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029200" y="1676400"/>
              <a:ext cx="2133600" cy="1047750"/>
              <a:chOff x="5029200" y="1676400"/>
              <a:chExt cx="2133600" cy="1047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029200" y="1676400"/>
                <a:ext cx="21336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5334000" y="200977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451980" y="20983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6856" y="2091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背景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353300" y="1676400"/>
              <a:ext cx="2133600" cy="1047750"/>
              <a:chOff x="7353300" y="1676400"/>
              <a:chExt cx="2133600" cy="1047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353300" y="1676400"/>
                <a:ext cx="21336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7658100" y="200977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76080" y="20983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410956" y="2091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约束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677400" y="1676400"/>
              <a:ext cx="2133600" cy="1047750"/>
              <a:chOff x="9677400" y="1676400"/>
              <a:chExt cx="2133600" cy="1047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677400" y="1676400"/>
                <a:ext cx="21336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9982200" y="200977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00180" y="20983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735056" y="20916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输出格式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381000" y="2857500"/>
            <a:ext cx="11430000" cy="952500"/>
            <a:chOff x="381000" y="2857500"/>
            <a:chExt cx="11430000" cy="952500"/>
          </a:xfrm>
        </p:grpSpPr>
        <p:grpSp>
          <p:nvGrpSpPr>
            <p:cNvPr id="37" name="Group 37"/>
            <p:cNvGrpSpPr/>
            <p:nvPr/>
          </p:nvGrpSpPr>
          <p:grpSpPr>
            <a:xfrm>
              <a:off x="381000" y="2857500"/>
              <a:ext cx="5572125" cy="952500"/>
              <a:chOff x="381000" y="2857500"/>
              <a:chExt cx="5572125" cy="952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1000" y="2857500"/>
                <a:ext cx="5572125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20268" y="3022282"/>
                <a:ext cx="33377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 —— 让 AI 站在专业视角回答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0268" y="3346132"/>
                <a:ext cx="28377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目标 —— 说清楚你要什么成果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238875" y="2857500"/>
              <a:ext cx="5572125" cy="952500"/>
              <a:chOff x="6238875" y="2857500"/>
              <a:chExt cx="5572125" cy="952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238875" y="2857500"/>
                <a:ext cx="5572125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478143" y="3022282"/>
                <a:ext cx="34041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背景+约束 —— 给足信息、划清边界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78143" y="3346132"/>
                <a:ext cx="328197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输出格式 —— 表格？分点？字数？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381000" y="4038600"/>
            <a:ext cx="11430000" cy="2343150"/>
            <a:chOff x="381000" y="4038600"/>
            <a:chExt cx="11430000" cy="2343150"/>
          </a:xfrm>
        </p:grpSpPr>
        <p:sp>
          <p:nvSpPr>
            <p:cNvPr id="43" name="Rectangle 43"/>
            <p:cNvSpPr/>
            <p:nvPr/>
          </p:nvSpPr>
          <p:spPr>
            <a:xfrm>
              <a:off x="381000" y="4038600"/>
              <a:ext cx="11430000" cy="2343150"/>
            </a:xfrm>
            <a:prstGeom prst="roundRect">
              <a:avLst>
                <a:gd name="adj" fmla="val 5691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5800" y="4305300"/>
              <a:ext cx="9144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5318" y="43976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81556" y="4368165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用公式写一条会议纪要提示词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7418" y="4812982"/>
              <a:ext cx="777011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「你是一名行政助理（角色），请把以下会议记录整理成纪要（目标），会议背景是季度产品评审会（背景），只保留结论与待办、不要闲聊内容（约束），按'结论 / 待办 / 责任人 / 截止时间'四栏表格输出（输出格式）。」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8942" y="59121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对照公式逐项检查你的提问，命中率越高，回答质量越好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让回答可核验、可落地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05262" y="5943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3 · 对话能力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1238250"/>
            <a:ext cx="5810250" cy="5048250"/>
            <a:chOff x="381000" y="1238250"/>
            <a:chExt cx="5810250" cy="504825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5810250" cy="5048250"/>
            </a:xfrm>
            <a:prstGeom prst="roundRect">
              <a:avLst>
                <a:gd name="adj" fmla="val 264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5240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87400" y="1670050"/>
              <a:ext cx="190500" cy="215899"/>
              <a:chOff x="787400" y="1670050"/>
              <a:chExt cx="190500" cy="2158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87400" y="16700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1700" y="18351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8200" y="17208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38200" y="17716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84732" y="1640205"/>
              <a:ext cx="23579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要求 AI 做到的事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66750" y="2247900"/>
              <a:ext cx="5238750" cy="876300"/>
              <a:chOff x="666750" y="2247900"/>
              <a:chExt cx="5238750" cy="8763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247900"/>
                <a:ext cx="5238750" cy="876300"/>
              </a:xfrm>
              <a:prstGeom prst="roundRect">
                <a:avLst>
                  <a:gd name="adj" fmla="val 1087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95350" y="25336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8415" y="26069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82268" y="24412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标注依据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82268" y="273653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给出处、给链接、给原文段落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66750" y="3238500"/>
              <a:ext cx="5238750" cy="876300"/>
              <a:chOff x="666750" y="3238500"/>
              <a:chExt cx="5238750" cy="876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66750" y="3238500"/>
                <a:ext cx="5238750" cy="876300"/>
              </a:xfrm>
              <a:prstGeom prst="roundRect">
                <a:avLst>
                  <a:gd name="adj" fmla="val 1087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95350" y="35242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88415" y="35975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82268" y="3431858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区分事实与推测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82268" y="3727132"/>
                <a:ext cx="38775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让 AI 明说哪些是确定的、哪些是猜的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66750" y="4229100"/>
              <a:ext cx="5238750" cy="876300"/>
              <a:chOff x="666750" y="4229100"/>
              <a:chExt cx="5238750" cy="8763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66750" y="4229100"/>
                <a:ext cx="5238750" cy="876300"/>
              </a:xfrm>
              <a:prstGeom prst="roundRect">
                <a:avLst>
                  <a:gd name="adj" fmla="val 1087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95350" y="45148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88415" y="45881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382268" y="4422458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输出可执行动作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82268" y="471773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结论落到待办、模板、检查项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66750" y="5219700"/>
              <a:ext cx="5238750" cy="876300"/>
              <a:chOff x="666750" y="5219700"/>
              <a:chExt cx="5238750" cy="876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66750" y="5219700"/>
                <a:ext cx="5238750" cy="876300"/>
              </a:xfrm>
              <a:prstGeom prst="roundRect">
                <a:avLst>
                  <a:gd name="adj" fmla="val 1087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95350" y="55054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88415" y="55787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382268" y="5413058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不确定就追问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82268" y="5708332"/>
                <a:ext cx="31734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让 AI 复述任务、列出缺失信息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6572250" y="1238250"/>
            <a:ext cx="5238750" cy="5048250"/>
            <a:chOff x="6572250" y="1238250"/>
            <a:chExt cx="5238750" cy="5048250"/>
          </a:xfrm>
        </p:grpSpPr>
        <p:sp>
          <p:nvSpPr>
            <p:cNvPr id="39" name="Rectangle 39"/>
            <p:cNvSpPr/>
            <p:nvPr/>
          </p:nvSpPr>
          <p:spPr>
            <a:xfrm>
              <a:off x="6572250" y="1238250"/>
              <a:ext cx="5238750" cy="5048250"/>
            </a:xfrm>
            <a:prstGeom prst="roundRect">
              <a:avLst>
                <a:gd name="adj" fmla="val 2642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572250" y="1238250"/>
              <a:ext cx="5238750" cy="723900"/>
            </a:xfrm>
            <a:prstGeom prst="roundRect">
              <a:avLst>
                <a:gd name="adj" fmla="val 18421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572250" y="1695450"/>
              <a:ext cx="5238750" cy="2667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838950" y="1371600"/>
              <a:ext cx="457200" cy="457200"/>
            </a:xfrm>
            <a:prstGeom prst="ellipse">
              <a:avLst/>
            </a:prstGeom>
            <a:solidFill>
              <a:schemeClr val="lt1">
                <a:alpha val="25000"/>
              </a:scheme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22770" y="14716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75982" y="1468755"/>
              <a:ext cx="29852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千万不要让 AI 做的事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858000" y="2209800"/>
              <a:ext cx="4667250" cy="1143000"/>
              <a:chOff x="6858000" y="2209800"/>
              <a:chExt cx="4667250" cy="1143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858000" y="2209800"/>
                <a:ext cx="46672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078218" y="241268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不要盲信数字与引用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078218" y="2717482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关键数据、法条、政策须人工核对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78218" y="3003232"/>
                <a:ext cx="29265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原文，警惕"一本正经地编造"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858000" y="3505200"/>
              <a:ext cx="4667250" cy="1143000"/>
              <a:chOff x="6858000" y="3505200"/>
              <a:chExt cx="4667250" cy="1143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58000" y="3505200"/>
                <a:ext cx="46672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078218" y="370808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不要粘贴敏感信息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78218" y="4012882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身份证号、密码、客户隐私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078218" y="4298632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脱敏后再提问（详见安全章节）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858000" y="4800600"/>
              <a:ext cx="4667250" cy="1143000"/>
              <a:chOff x="6858000" y="4800600"/>
              <a:chExt cx="4667250" cy="11430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858000" y="4800600"/>
                <a:ext cx="46672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078218" y="500348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不要跳过人工审核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078218" y="5308282"/>
                <a:ext cx="26336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AI 产出直接对外发送前，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078218" y="55940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必须有人过目并负责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文件上传与文档处理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05262" y="5943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3 · 对话能力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0332" y="1316355"/>
            <a:ext cx="6678168" cy="3793046"/>
            <a:chOff x="370332" y="1316355"/>
            <a:chExt cx="6678168" cy="3793046"/>
          </a:xfrm>
        </p:grpSpPr>
        <p:sp>
          <p:nvSpPr>
            <p:cNvPr id="6" name="TextBox 6"/>
            <p:cNvSpPr txBox="1"/>
            <p:nvPr/>
          </p:nvSpPr>
          <p:spPr>
            <a:xfrm>
              <a:off x="370332" y="1316355"/>
              <a:ext cx="41456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上传文档后，AI 能帮你做什么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381000" y="1809750"/>
              <a:ext cx="3238500" cy="952500"/>
              <a:chOff x="381000" y="1809750"/>
              <a:chExt cx="323850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381000" y="1809750"/>
                <a:ext cx="32385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74109" y="2015490"/>
                <a:ext cx="12522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 一键摘要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66444" y="23879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长文档浓缩成要点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810000" y="1809750"/>
              <a:ext cx="3238500" cy="952500"/>
              <a:chOff x="3810000" y="1809750"/>
              <a:chExt cx="3238500" cy="952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810000" y="1809750"/>
                <a:ext cx="32385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803109" y="2015490"/>
                <a:ext cx="12522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② 信息提取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13707" y="23879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金额、日期、条款定位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81000" y="2952750"/>
              <a:ext cx="3238500" cy="952500"/>
              <a:chOff x="381000" y="2952750"/>
              <a:chExt cx="3238500" cy="952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81000" y="2952750"/>
                <a:ext cx="32385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46893" y="3158490"/>
                <a:ext cx="15067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多文档对比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66444" y="35309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版本差异一目了然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810000" y="2952750"/>
              <a:ext cx="3238500" cy="952500"/>
              <a:chOff x="3810000" y="2952750"/>
              <a:chExt cx="323850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810000" y="2952750"/>
                <a:ext cx="32385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03109" y="3158490"/>
                <a:ext cx="12522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④ 改写润色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22838" y="35309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换风格、调语气、控字数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" y="4095750"/>
              <a:ext cx="3238500" cy="952500"/>
              <a:chOff x="381000" y="4095750"/>
              <a:chExt cx="3238500" cy="952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81000" y="4095750"/>
                <a:ext cx="3238500" cy="95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46893" y="4301490"/>
                <a:ext cx="15067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⑤ 针对性问答</a:t>
                </a:r>
                <a:endPara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5576" y="46739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BEAFE"/>
                    </a:solidFill>
                    <a:latin typeface="+mn-lt"/>
                    <a:ea typeface="+mn-ea"/>
                    <a:cs typeface="+mn-cs"/>
                  </a:rPr>
                  <a:t>就文档内容连续追问</a:t>
                </a:r>
                <a:endParaRPr lang="zh-CN" sz="135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810000" y="4095750"/>
              <a:ext cx="3238500" cy="1013651"/>
              <a:chOff x="3810000" y="4095750"/>
              <a:chExt cx="3238500" cy="1013651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810000" y="4095750"/>
                <a:ext cx="3238500" cy="952500"/>
              </a:xfrm>
              <a:prstGeom prst="roundRect">
                <a:avLst>
                  <a:gd name="adj" fmla="val 14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030218" y="4298632"/>
                <a:ext cx="7164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小提示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031742" y="46358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一次聚焦一个任务，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031742" y="4845368"/>
                <a:ext cx="1667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效果比"全都做"更好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429500" y="1238250"/>
            <a:ext cx="4381500" cy="3810000"/>
            <a:chOff x="7429500" y="1238250"/>
            <a:chExt cx="4381500" cy="3810000"/>
          </a:xfrm>
        </p:grpSpPr>
        <p:sp>
          <p:nvSpPr>
            <p:cNvPr id="33" name="Rectangle 33"/>
            <p:cNvSpPr/>
            <p:nvPr/>
          </p:nvSpPr>
          <p:spPr>
            <a:xfrm>
              <a:off x="7429500" y="1238250"/>
              <a:ext cx="4381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85532" y="14497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使用三原则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7696200" y="1905000"/>
              <a:ext cx="3848100" cy="914400"/>
              <a:chOff x="7696200" y="1905000"/>
              <a:chExt cx="3848100" cy="9144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7696200" y="1905000"/>
                <a:ext cx="3848100" cy="914400"/>
              </a:xfrm>
              <a:prstGeom prst="roundRect">
                <a:avLst>
                  <a:gd name="adj" fmla="val 1041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916418" y="2088832"/>
                <a:ext cx="20458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· 大文件优先拆分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916418" y="239363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超大文档分段处理，避免遗漏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696200" y="2971800"/>
              <a:ext cx="3848100" cy="914400"/>
              <a:chOff x="7696200" y="2971800"/>
              <a:chExt cx="3848100" cy="914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696200" y="2971800"/>
                <a:ext cx="3848100" cy="914400"/>
              </a:xfrm>
              <a:prstGeom prst="roundRect">
                <a:avLst>
                  <a:gd name="adj" fmla="val 1041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916418" y="3155632"/>
                <a:ext cx="20458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· 敏感内容先脱敏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16418" y="346043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对外资料删去个人信息再上传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7696200" y="4038600"/>
              <a:ext cx="3848100" cy="914400"/>
              <a:chOff x="7696200" y="4038600"/>
              <a:chExt cx="3848100" cy="9144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696200" y="4038600"/>
                <a:ext cx="3848100" cy="914400"/>
              </a:xfrm>
              <a:prstGeom prst="roundRect">
                <a:avLst>
                  <a:gd name="adj" fmla="val 1041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916418" y="4222432"/>
                <a:ext cx="18126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 · 结果留档核对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916418" y="4527232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重要产出导出保存并复核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7429500" y="5238750"/>
            <a:ext cx="4381500" cy="1047750"/>
            <a:chOff x="7429500" y="5238750"/>
            <a:chExt cx="4381500" cy="1047750"/>
          </a:xfrm>
        </p:grpSpPr>
        <p:sp>
          <p:nvSpPr>
            <p:cNvPr id="48" name="Rectangle 48"/>
            <p:cNvSpPr/>
            <p:nvPr/>
          </p:nvSpPr>
          <p:spPr>
            <a:xfrm>
              <a:off x="7429500" y="5238750"/>
              <a:ext cx="4381500" cy="1047750"/>
            </a:xfrm>
            <a:prstGeom prst="roundRect">
              <a:avLst>
                <a:gd name="adj" fmla="val 1272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96200" y="556260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27011" y="5660708"/>
              <a:ext cx="12528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＋ 上传文件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51492" y="55883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对话框底部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51492" y="5835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回形针按钮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5238750"/>
            <a:ext cx="6667500" cy="1047750"/>
            <a:chOff x="381000" y="5238750"/>
            <a:chExt cx="6667500" cy="1047750"/>
          </a:xfrm>
        </p:grpSpPr>
        <p:sp>
          <p:nvSpPr>
            <p:cNvPr id="54" name="Rectangle 54"/>
            <p:cNvSpPr/>
            <p:nvPr/>
          </p:nvSpPr>
          <p:spPr>
            <a:xfrm>
              <a:off x="381000" y="5238750"/>
              <a:ext cx="6667500" cy="1047750"/>
            </a:xfrm>
            <a:prstGeom prst="roundRect">
              <a:avLst>
                <a:gd name="adj" fmla="val 12727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28650" y="5553075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673725"/>
              <a:ext cx="200026" cy="188913"/>
              <a:chOff x="738188" y="5673725"/>
              <a:chExt cx="200026" cy="18891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673725"/>
                <a:ext cx="20002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88913">
                    <a:moveTo>
                      <a:pt x="166688" y="0"/>
                    </a:move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22238"/>
                    </a:lnTo>
                    <a:cubicBezTo>
                      <a:pt x="200026" y="140650"/>
                      <a:pt x="185100" y="155575"/>
                      <a:pt x="166688" y="155575"/>
                    </a:cubicBezTo>
                    <a:lnTo>
                      <a:pt x="111125" y="155575"/>
                    </a:lnTo>
                    <a:lnTo>
                      <a:pt x="55563" y="188913"/>
                    </a:lnTo>
                    <a:lnTo>
                      <a:pt x="55563" y="155575"/>
                    </a:ln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0419" y="5729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5982" y="5729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0419" y="5773738"/>
                <a:ext cx="55563" cy="11674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11674">
                    <a:moveTo>
                      <a:pt x="0" y="0"/>
                    </a:moveTo>
                    <a:cubicBezTo>
                      <a:pt x="7316" y="7466"/>
                      <a:pt x="17328" y="11674"/>
                      <a:pt x="27781" y="11674"/>
                    </a:cubicBezTo>
                    <a:cubicBezTo>
                      <a:pt x="38234" y="11674"/>
                      <a:pt x="48247" y="7466"/>
                      <a:pt x="55563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210818" y="5498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高频场景：合同要点审查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10818" y="5822632"/>
              <a:ext cx="45147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上传合同 → "提取风险条款并按严重程度排序"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 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6087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知识库：让 AI 记住你的资料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75950" y="594360"/>
              <a:ext cx="1241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4 · 知识库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0332" y="1297305"/>
            <a:ext cx="4963668" cy="4989195"/>
            <a:chOff x="370332" y="1297305"/>
            <a:chExt cx="4963668" cy="4989195"/>
          </a:xfrm>
        </p:grpSpPr>
        <p:grpSp>
          <p:nvGrpSpPr>
            <p:cNvPr id="19" name="Group 19"/>
            <p:cNvGrpSpPr/>
            <p:nvPr/>
          </p:nvGrpSpPr>
          <p:grpSpPr>
            <a:xfrm>
              <a:off x="370332" y="1297305"/>
              <a:ext cx="4963668" cy="1541145"/>
              <a:chOff x="370332" y="1297305"/>
              <a:chExt cx="4963668" cy="154114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370332" y="1297305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两种知识库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381000" y="1695450"/>
                <a:ext cx="238125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381000" y="1695450"/>
                <a:ext cx="2381250" cy="419100"/>
              </a:xfrm>
              <a:prstGeom prst="roundRect">
                <a:avLst>
                  <a:gd name="adj" fmla="val 2727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81000" y="1905000"/>
                <a:ext cx="2381250" cy="2095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25018" y="1803082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个人知识库</a:t>
                </a:r>
                <a:endPara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26542" y="21974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自己上传、自己使用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6542" y="24641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适合个人素材积累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2952750" y="1695450"/>
                <a:ext cx="238125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952750" y="1695450"/>
                <a:ext cx="2381250" cy="419100"/>
              </a:xfrm>
              <a:prstGeom prst="roundRect">
                <a:avLst>
                  <a:gd name="adj" fmla="val 2727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2952750" y="1905000"/>
                <a:ext cx="2381250" cy="2095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6768" y="1803082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组织知识库</a:t>
                </a:r>
                <a:endPara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98292" y="21974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全员共建、共享检索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098292" y="24641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制度流程的统一来源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70332" y="3202305"/>
              <a:ext cx="4963668" cy="1468946"/>
              <a:chOff x="370332" y="3202305"/>
              <a:chExt cx="4963668" cy="1468946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370332" y="3202305"/>
                <a:ext cx="447389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检索机制：按语义找，不按文件名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81000" y="3657600"/>
                <a:ext cx="13335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16077" y="38576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你的提问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1733550" y="3943350"/>
                <a:ext cx="285750" cy="1"/>
              </a:xfrm>
              <a:prstGeom prst="line">
                <a:avLst/>
              </a:pr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057400" y="3657600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387727" y="38576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语义匹配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3600450" y="3943350"/>
                <a:ext cx="285750" cy="1"/>
              </a:xfrm>
              <a:prstGeom prst="line">
                <a:avLst/>
              </a:pr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924300" y="3657600"/>
                <a:ext cx="1409700" cy="5715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197477" y="38576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带出答案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4142" y="4407218"/>
                <a:ext cx="42094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AI 只引用命中片段作答 —— 资料质量决定回答质量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381000" y="4762500"/>
              <a:ext cx="4953000" cy="1524000"/>
              <a:chOff x="381000" y="4762500"/>
              <a:chExt cx="4953000" cy="1524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381000" y="4762500"/>
                <a:ext cx="4953000" cy="1524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09600" y="5048250"/>
                <a:ext cx="419100" cy="4191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41363" y="5167733"/>
                <a:ext cx="178902" cy="180134"/>
                <a:chOff x="741363" y="5167733"/>
                <a:chExt cx="178902" cy="180134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741363" y="5168900"/>
                  <a:ext cx="444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33338" y="0"/>
                      </a:lnTo>
                      <a:cubicBezTo>
                        <a:pt x="39475" y="0"/>
                        <a:pt x="44450" y="4975"/>
                        <a:pt x="44450" y="11113"/>
                      </a:cubicBezTo>
                      <a:lnTo>
                        <a:pt x="44450" y="166688"/>
                      </a:lnTo>
                      <a:cubicBezTo>
                        <a:pt x="44450" y="172825"/>
                        <a:pt x="39475" y="177801"/>
                        <a:pt x="33338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85813" y="5168900"/>
                  <a:ext cx="444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33338" y="0"/>
                      </a:lnTo>
                      <a:cubicBezTo>
                        <a:pt x="39475" y="0"/>
                        <a:pt x="44450" y="4975"/>
                        <a:pt x="44450" y="11113"/>
                      </a:cubicBezTo>
                      <a:lnTo>
                        <a:pt x="44450" y="166688"/>
                      </a:lnTo>
                      <a:cubicBezTo>
                        <a:pt x="44450" y="172825"/>
                        <a:pt x="39475" y="177801"/>
                        <a:pt x="33338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41363" y="5213350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85813" y="5302251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29162" y="5167733"/>
                  <a:ext cx="91103" cy="180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03" h="180134">
                      <a:moveTo>
                        <a:pt x="10025" y="7390"/>
                      </a:moveTo>
                      <a:lnTo>
                        <a:pt x="34294" y="1500"/>
                      </a:lnTo>
                      <a:cubicBezTo>
                        <a:pt x="40540" y="0"/>
                        <a:pt x="46885" y="3612"/>
                        <a:pt x="48541" y="9635"/>
                      </a:cubicBezTo>
                      <a:lnTo>
                        <a:pt x="89601" y="158743"/>
                      </a:lnTo>
                      <a:cubicBezTo>
                        <a:pt x="91103" y="164400"/>
                        <a:pt x="88050" y="170270"/>
                        <a:pt x="82556" y="172289"/>
                      </a:cubicBezTo>
                      <a:lnTo>
                        <a:pt x="81078" y="172744"/>
                      </a:lnTo>
                      <a:lnTo>
                        <a:pt x="56808" y="178634"/>
                      </a:lnTo>
                      <a:cubicBezTo>
                        <a:pt x="50563" y="180134"/>
                        <a:pt x="44218" y="176523"/>
                        <a:pt x="42562" y="170500"/>
                      </a:cubicBezTo>
                      <a:lnTo>
                        <a:pt x="1501" y="21392"/>
                      </a:lnTo>
                      <a:cubicBezTo>
                        <a:pt x="0" y="15734"/>
                        <a:pt x="3053" y="9865"/>
                        <a:pt x="8547" y="7845"/>
                      </a:cubicBezTo>
                      <a:lnTo>
                        <a:pt x="10025" y="739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41375" y="5213350"/>
                  <a:ext cx="4445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1113">
                      <a:moveTo>
                        <a:pt x="0" y="11113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3601" y="5291360"/>
                  <a:ext cx="43594" cy="10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94" h="10890">
                      <a:moveTo>
                        <a:pt x="0" y="10890"/>
                      </a:moveTo>
                      <a:lnTo>
                        <a:pt x="43594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191768" y="5022532"/>
                <a:ext cx="19175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知识库 × 搭档联动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0268" y="5422582"/>
                <a:ext cx="37928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为智能搭档挂载知识库，它就能用你的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0268" y="5727382"/>
                <a:ext cx="41926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资料回答问题 —— 这是"可复用"的关键一步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715000" y="1238250"/>
            <a:ext cx="6096000" cy="5048250"/>
            <a:chOff x="5715000" y="1238250"/>
            <a:chExt cx="6096000" cy="5048250"/>
          </a:xfrm>
        </p:grpSpPr>
        <p:sp>
          <p:nvSpPr>
            <p:cNvPr id="46" name="Rectangle 46"/>
            <p:cNvSpPr/>
            <p:nvPr/>
          </p:nvSpPr>
          <p:spPr>
            <a:xfrm>
              <a:off x="5715000" y="1238250"/>
              <a:ext cx="6096000" cy="5048250"/>
            </a:xfrm>
            <a:prstGeom prst="roundRect">
              <a:avLst>
                <a:gd name="adj" fmla="val 264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05500" y="2012156"/>
              <a:ext cx="5715000" cy="3214688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7029640" y="5969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平台知识库页面：支持文档批量导入与管理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从零搭建一个高质量知识库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75950" y="594360"/>
              <a:ext cx="1241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4 · 知识库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238250"/>
            <a:ext cx="11430000" cy="1143000"/>
            <a:chOff x="381000" y="1238250"/>
            <a:chExt cx="11430000" cy="114300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1143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4859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0759" y="167163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2194" y="15230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明确建库目标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53718" y="1936432"/>
              <a:ext cx="83463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先问"这个库给谁用、解决什么问题"—— 售前资料库、制度库、项目库分开建，别混装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2533650"/>
            <a:ext cx="11430000" cy="1143000"/>
            <a:chOff x="381000" y="2533650"/>
            <a:chExt cx="11430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381000" y="2533650"/>
              <a:ext cx="1143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85800" y="27813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0759" y="296703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52194" y="281844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资料清洗与分层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3718" y="3231832"/>
              <a:ext cx="76244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删过期文件、去重复版本；按"常用制度 / 深度参考"分层，检索才能又快又准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3829050"/>
            <a:ext cx="11430000" cy="1143000"/>
            <a:chOff x="381000" y="3829050"/>
            <a:chExt cx="114300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381000" y="3829050"/>
              <a:ext cx="1143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5800" y="40767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0759" y="426243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52194" y="411384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规范命名与描述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53718" y="4527232"/>
              <a:ext cx="7524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文件名带"主题＋版本＋日期"，库描述写清覆盖范围 —— 这些都会被检索用到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5124450"/>
            <a:ext cx="11430000" cy="1143000"/>
            <a:chOff x="381000" y="5124450"/>
            <a:chExt cx="114300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381000" y="5124450"/>
              <a:ext cx="1143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85800" y="53721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0759" y="555783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52194" y="540924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检索验收与迭代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53718" y="5822632"/>
              <a:ext cx="7535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 5 个真实业务问题试一遍；答不准就补资料、调分层 —— 知识库是养出来的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检索演示与常见问题排查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75950" y="594360"/>
              <a:ext cx="1241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4 · 知识库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0332" y="1316355"/>
            <a:ext cx="5344668" cy="4802696"/>
            <a:chOff x="370332" y="1316355"/>
            <a:chExt cx="5344668" cy="4802696"/>
          </a:xfrm>
        </p:grpSpPr>
        <p:sp>
          <p:nvSpPr>
            <p:cNvPr id="6" name="TextBox 6"/>
            <p:cNvSpPr txBox="1"/>
            <p:nvPr/>
          </p:nvSpPr>
          <p:spPr>
            <a:xfrm>
              <a:off x="370332" y="1316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现场演示流程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81000" y="1809750"/>
              <a:ext cx="5334000" cy="685800"/>
              <a:chOff x="381000" y="1809750"/>
              <a:chExt cx="5334000" cy="6858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381000" y="1809750"/>
                <a:ext cx="533400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09600" y="20002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02665" y="20735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96518" y="2050732"/>
                <a:ext cx="29265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新建会话，挂载"公司制度库"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81000" y="2590800"/>
              <a:ext cx="5334000" cy="685800"/>
              <a:chOff x="381000" y="2590800"/>
              <a:chExt cx="5334000" cy="6858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81000" y="2590800"/>
                <a:ext cx="533400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09600" y="278130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02665" y="2854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6518" y="2831782"/>
                <a:ext cx="33708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提问："年假怎么休？上限几天？"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81000" y="3371850"/>
              <a:ext cx="5334000" cy="685800"/>
              <a:chOff x="381000" y="3371850"/>
              <a:chExt cx="5334000" cy="685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81000" y="3371850"/>
                <a:ext cx="533400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09600" y="35623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2665" y="36356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96518" y="3612832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观察回答附带的引用来源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" y="4152900"/>
              <a:ext cx="5334000" cy="685800"/>
              <a:chOff x="381000" y="4152900"/>
              <a:chExt cx="5334000" cy="6858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81000" y="4152900"/>
                <a:ext cx="533400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" y="434340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02665" y="44167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96518" y="4393882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追问细节，验证是否会持续引用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81000" y="4933950"/>
              <a:ext cx="5334000" cy="685800"/>
              <a:chOff x="381000" y="4933950"/>
              <a:chExt cx="53340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81000" y="4933950"/>
                <a:ext cx="533400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09600" y="5124450"/>
                <a:ext cx="3048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02665" y="51977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6518" y="5174932"/>
                <a:ext cx="35707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对比：不挂知识库时同一问题的回答</a:t>
                </a:r>
                <a:endPara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74142" y="585501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有库 vs 无库的差距，一眼可见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00750" y="1238250"/>
            <a:ext cx="5810250" cy="3048000"/>
            <a:chOff x="6000750" y="1238250"/>
            <a:chExt cx="5810250" cy="3048000"/>
          </a:xfrm>
        </p:grpSpPr>
        <p:sp>
          <p:nvSpPr>
            <p:cNvPr id="34" name="Rectangle 34"/>
            <p:cNvSpPr/>
            <p:nvPr/>
          </p:nvSpPr>
          <p:spPr>
            <a:xfrm>
              <a:off x="6000750" y="1238250"/>
              <a:ext cx="5810250" cy="3048000"/>
            </a:xfrm>
            <a:prstGeom prst="roundRect">
              <a:avLst>
                <a:gd name="adj" fmla="val 4375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6782" y="1449705"/>
              <a:ext cx="3286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检索不准的四个常见原因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59068" y="1936432"/>
              <a:ext cx="4113466" cy="1465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资料没进库 —— 文件上传了但没完成解析② 问题太笼统 —— "说说制度"不如问年假③ 资料过期 —— 旧版本仍在库里干扰检索④ 库太大太杂 —— 什么都放等于什么都找不到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60592" y="37404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排查口诀：先查入库，再看问法，最后清理过期资料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00750" y="4476750"/>
            <a:ext cx="5810250" cy="1809750"/>
            <a:chOff x="6000750" y="4476750"/>
            <a:chExt cx="5810250" cy="1809750"/>
          </a:xfrm>
        </p:grpSpPr>
        <p:sp>
          <p:nvSpPr>
            <p:cNvPr id="39" name="Rectangle 39"/>
            <p:cNvSpPr/>
            <p:nvPr/>
          </p:nvSpPr>
          <p:spPr>
            <a:xfrm>
              <a:off x="6000750" y="4476750"/>
              <a:ext cx="5810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18942" y="4591050"/>
              <a:ext cx="2573867" cy="1447800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6087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智能搭档：你的专属 AI 角色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6907" y="594360"/>
              <a:ext cx="2120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5 · 搭档、技能与 MCP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0332" y="1297305"/>
            <a:ext cx="5344668" cy="4989195"/>
            <a:chOff x="370332" y="1297305"/>
            <a:chExt cx="5344668" cy="4989195"/>
          </a:xfrm>
        </p:grpSpPr>
        <p:grpSp>
          <p:nvGrpSpPr>
            <p:cNvPr id="10" name="Group 10"/>
            <p:cNvGrpSpPr/>
            <p:nvPr/>
          </p:nvGrpSpPr>
          <p:grpSpPr>
            <a:xfrm>
              <a:off x="370332" y="1297305"/>
              <a:ext cx="4994605" cy="1323784"/>
              <a:chOff x="370332" y="1297305"/>
              <a:chExt cx="4994605" cy="1323784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370332" y="1297305"/>
                <a:ext cx="20991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什么是智能搭档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72618" y="1688782"/>
                <a:ext cx="49923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把"提示词 + 知识库 + 工具"打包成一个固定角色，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72618" y="1993582"/>
                <a:ext cx="49034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不用每次从头写提示词，点开即用、人人可复用。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72618" y="2298382"/>
                <a:ext cx="42615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对话解决"这一次"，搭档解决"每一次"。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70332" y="2821305"/>
              <a:ext cx="5344668" cy="1503045"/>
              <a:chOff x="370332" y="2821305"/>
              <a:chExt cx="5344668" cy="150304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70332" y="2821305"/>
                <a:ext cx="239603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平台上的搭档示例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381000" y="3219450"/>
                <a:ext cx="161925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58952" y="33718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历史学家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114550" y="3219450"/>
                <a:ext cx="161925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492502" y="33718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暗号专家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848100" y="3219450"/>
                <a:ext cx="186690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137850" y="337185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文字冒险游戏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381000" y="3829050"/>
                <a:ext cx="1866900" cy="495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58724" y="3981450"/>
                <a:ext cx="17114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行政助手（示例）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362200" y="3829050"/>
                <a:ext cx="186690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651950" y="398145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更多自建角色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81000" y="4572000"/>
              <a:ext cx="5334000" cy="1714500"/>
              <a:chOff x="381000" y="4572000"/>
              <a:chExt cx="5334000" cy="1714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81000" y="4572000"/>
                <a:ext cx="5334000" cy="1714500"/>
              </a:xfrm>
              <a:prstGeom prst="roundRect">
                <a:avLst>
                  <a:gd name="adj" fmla="val 7778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19506" y="4758690"/>
                <a:ext cx="2817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一个搭档的五个构成要素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0268" y="5117782"/>
                <a:ext cx="3193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角色设定 · 开场白 · 挂载知识库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0268" y="5441632"/>
                <a:ext cx="26715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435" indent="-178435" algn="l">
                  <a:buClr>
                    <a:schemeClr val="accent3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绑定技能 · 适用场景说明</a:t>
                </a:r>
                <a:endPara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1792" y="589311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下一页：亲手设计一个属于你的搭档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096000" y="1238250"/>
            <a:ext cx="5715000" cy="5048250"/>
            <a:chOff x="6096000" y="1238250"/>
            <a:chExt cx="5715000" cy="5048250"/>
          </a:xfrm>
        </p:grpSpPr>
        <p:sp>
          <p:nvSpPr>
            <p:cNvPr id="30" name="Rectangle 30"/>
            <p:cNvSpPr/>
            <p:nvPr/>
          </p:nvSpPr>
          <p:spPr>
            <a:xfrm>
              <a:off x="6096000" y="1238250"/>
              <a:ext cx="5715000" cy="5048250"/>
            </a:xfrm>
            <a:prstGeom prst="roundRect">
              <a:avLst>
                <a:gd name="adj" fmla="val 264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67450" y="1498997"/>
              <a:ext cx="5372100" cy="3021806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574280" y="46329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平台搭档广场：点击卡片即可开始对话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6267450" y="491490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5450" y="5029200"/>
              <a:ext cx="2032000" cy="114300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9499092" y="5340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三大能力统一入口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99092" y="5626418"/>
              <a:ext cx="21482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从左侧导航直达，搭档、技能与 MCP 一站直达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动手设计：行政助手搭档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6907" y="594360"/>
              <a:ext cx="2120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5 · 搭档、技能与 MCP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1238250"/>
            <a:ext cx="5524500" cy="5048250"/>
            <a:chOff x="381000" y="1238250"/>
            <a:chExt cx="5524500" cy="504825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5524500" cy="5048250"/>
            </a:xfrm>
            <a:prstGeom prst="roundRect">
              <a:avLst>
                <a:gd name="adj" fmla="val 264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50495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31044" y="1626394"/>
              <a:ext cx="214312" cy="214312"/>
              <a:chOff x="731044" y="1626394"/>
              <a:chExt cx="214312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1044" y="162639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35719" y="214312"/>
                    </a:moveTo>
                    <a:lnTo>
                      <a:pt x="214312" y="35719"/>
                    </a:lnTo>
                    <a:lnTo>
                      <a:pt x="178594" y="0"/>
                    </a:lnTo>
                    <a:lnTo>
                      <a:pt x="0" y="178594"/>
                    </a:lnTo>
                    <a:lnTo>
                      <a:pt x="35719" y="2143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3919" y="1662112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0"/>
                    </a:moveTo>
                    <a:lnTo>
                      <a:pt x="35719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8669" y="162639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0"/>
                    </a:moveTo>
                    <a:cubicBezTo>
                      <a:pt x="23812" y="13151"/>
                      <a:pt x="34474" y="23812"/>
                      <a:pt x="47625" y="23812"/>
                    </a:cubicBezTo>
                    <a:cubicBezTo>
                      <a:pt x="34474" y="23812"/>
                      <a:pt x="23812" y="34474"/>
                      <a:pt x="23812" y="47625"/>
                    </a:cubicBezTo>
                    <a:cubicBezTo>
                      <a:pt x="23812" y="34474"/>
                      <a:pt x="13151" y="23812"/>
                      <a:pt x="0" y="23812"/>
                    </a:cubicBezTo>
                    <a:cubicBezTo>
                      <a:pt x="13151" y="23812"/>
                      <a:pt x="23812" y="13151"/>
                      <a:pt x="23812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7731" y="174545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0"/>
                    </a:moveTo>
                    <a:cubicBezTo>
                      <a:pt x="23812" y="13151"/>
                      <a:pt x="34474" y="23812"/>
                      <a:pt x="47625" y="23812"/>
                    </a:cubicBezTo>
                    <a:cubicBezTo>
                      <a:pt x="34474" y="23812"/>
                      <a:pt x="23812" y="34474"/>
                      <a:pt x="23812" y="47625"/>
                    </a:cubicBezTo>
                    <a:cubicBezTo>
                      <a:pt x="23812" y="34474"/>
                      <a:pt x="13151" y="23812"/>
                      <a:pt x="0" y="23812"/>
                    </a:cubicBezTo>
                    <a:cubicBezTo>
                      <a:pt x="13151" y="23812"/>
                      <a:pt x="23812" y="13151"/>
                      <a:pt x="23812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08532" y="1592580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设计清单：八步建角色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318" y="2107882"/>
              <a:ext cx="3757232" cy="28563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名字：行政小助手② 角色定位：部门行政事务顾问③ 人设提示词：细致、有条理、用语礼貌④ 开场白：引导说明能帮什么⑤ 挂载知识库：行政制度库⑥ 绑定技能：如会议纪要模板⑦ 示例问题：教用户怎么问⑧ 测试调优：跑 3 个真实任务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" y="5143500"/>
              <a:ext cx="4991100" cy="819150"/>
            </a:xfrm>
            <a:prstGeom prst="roundRect">
              <a:avLst>
                <a:gd name="adj" fmla="val 1162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918" y="53082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发布前自测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7918" y="56130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新同事不看说明也能用明白，才算合格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91250" y="1238250"/>
            <a:ext cx="5619750" cy="5048250"/>
            <a:chOff x="6191250" y="1238250"/>
            <a:chExt cx="5619750" cy="5048250"/>
          </a:xfrm>
        </p:grpSpPr>
        <p:sp>
          <p:nvSpPr>
            <p:cNvPr id="19" name="Rectangle 19"/>
            <p:cNvSpPr/>
            <p:nvPr/>
          </p:nvSpPr>
          <p:spPr>
            <a:xfrm>
              <a:off x="6191250" y="1238250"/>
              <a:ext cx="5619750" cy="5048250"/>
            </a:xfrm>
            <a:prstGeom prst="roundRect">
              <a:avLst>
                <a:gd name="adj" fmla="val 264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504950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3819" y="15973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填充示例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48806" y="1977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人设提示词（节选）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49568" y="2393632"/>
              <a:ext cx="4050602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「你是行政小助手，熟悉公司行政制度，回答一律引用制度库原文并注明出处；涉及报销、请假等流程时，输出步骤清单和所需材料；语气亲切，不超过 300 字。」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457950" y="381000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48806" y="3996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开场白（示例）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9568" y="4412932"/>
              <a:ext cx="3809619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「你好！我可以帮你查制度、办流程、写通知。直接说需求就行，例如'本月报销截止时间是什么时候'。」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1092" y="5664518"/>
              <a:ext cx="4429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提示词写具体 → 回答才稳定；边界写清楚 → 才不会越界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技能：一个命令完成复杂任务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6907" y="594360"/>
              <a:ext cx="2120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5 · 搭档、技能与 MCP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238250"/>
            <a:ext cx="11430000" cy="1047750"/>
            <a:chOff x="381000" y="1238250"/>
            <a:chExt cx="11430000" cy="104775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11430000" cy="1047750"/>
            </a:xfrm>
            <a:prstGeom prst="roundRect">
              <a:avLst>
                <a:gd name="adj" fmla="val 1272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543050"/>
              <a:ext cx="5334000" cy="457200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1653540"/>
              <a:ext cx="1193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/ 会议纪要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57900" y="1543050"/>
              <a:ext cx="9525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70142" y="1587818"/>
              <a:ext cx="28683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在对话框输入"/"即可唤起技能列表，选择后 AI 按预设流程执行任务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2495550"/>
            <a:ext cx="5572125" cy="2381250"/>
            <a:chOff x="381000" y="2495550"/>
            <a:chExt cx="5572125" cy="2381250"/>
          </a:xfrm>
        </p:grpSpPr>
        <p:sp>
          <p:nvSpPr>
            <p:cNvPr id="12" name="Rectangle 12"/>
            <p:cNvSpPr/>
            <p:nvPr/>
          </p:nvSpPr>
          <p:spPr>
            <a:xfrm>
              <a:off x="381000" y="2495550"/>
              <a:ext cx="5572125" cy="2381250"/>
            </a:xfrm>
            <a:prstGeom prst="roundRect">
              <a:avLst>
                <a:gd name="adj" fmla="val 5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1000" y="2495550"/>
              <a:ext cx="5572125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81000" y="2762250"/>
              <a:ext cx="5572125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556" y="26536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平台技能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318" y="321278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由平台统一提供和维护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318" y="3555682"/>
              <a:ext cx="1971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所有用户开箱即用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318" y="3898582"/>
              <a:ext cx="3748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典型场景：纪要、翻译、公文格式、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58518" y="4203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周报生成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38875" y="2495550"/>
            <a:ext cx="5572125" cy="2381250"/>
            <a:chOff x="6238875" y="2495550"/>
            <a:chExt cx="5572125" cy="2381250"/>
          </a:xfrm>
        </p:grpSpPr>
        <p:sp>
          <p:nvSpPr>
            <p:cNvPr id="21" name="Rectangle 21"/>
            <p:cNvSpPr/>
            <p:nvPr/>
          </p:nvSpPr>
          <p:spPr>
            <a:xfrm>
              <a:off x="6238875" y="2495550"/>
              <a:ext cx="5572125" cy="2381250"/>
            </a:xfrm>
            <a:prstGeom prst="roundRect">
              <a:avLst>
                <a:gd name="adj" fmla="val 5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38875" y="2495550"/>
              <a:ext cx="5572125" cy="5334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38875" y="2762250"/>
              <a:ext cx="5572125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96431" y="2653665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个人 / 团队技能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7193" y="3212782"/>
              <a:ext cx="2638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把常用提示词固化成命令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7193" y="355568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团队内可共享，保持口径统一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7193" y="389858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典型场景：固定格式的周报、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16393" y="4203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客户回复模板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1856" y="5253990"/>
            <a:ext cx="11439144" cy="880110"/>
            <a:chOff x="371856" y="5253990"/>
            <a:chExt cx="11439144" cy="880110"/>
          </a:xfrm>
        </p:grpSpPr>
        <p:sp>
          <p:nvSpPr>
            <p:cNvPr id="30" name="TextBox 30"/>
            <p:cNvSpPr txBox="1"/>
            <p:nvPr/>
          </p:nvSpPr>
          <p:spPr>
            <a:xfrm>
              <a:off x="371856" y="5253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技能从哪来？五步沉淀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5638800"/>
              <a:ext cx="1790700" cy="4953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2650" y="579120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重复的提示词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2209800" y="5886450"/>
              <a:ext cx="30480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52700" y="5638800"/>
              <a:ext cx="1790700" cy="4953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10364" y="5791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沉淀成技能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4381500" y="5886450"/>
              <a:ext cx="30480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24400" y="5638800"/>
              <a:ext cx="1790700" cy="4953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188077" y="5791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团队共享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6553200" y="5886450"/>
              <a:ext cx="30480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96100" y="5638800"/>
              <a:ext cx="1790700" cy="4953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59777" y="5791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持续迭代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8724900" y="5886450"/>
              <a:ext cx="30480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67800" y="5638800"/>
              <a:ext cx="2743200" cy="495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83674" y="579120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变成组织能力资产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0935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MCP：让 AI 连接外部系统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6907" y="594360"/>
              <a:ext cx="2120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5 · 搭档、技能与 MCP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1238250"/>
            <a:ext cx="4953000" cy="1840039"/>
            <a:chOff x="381000" y="1238250"/>
            <a:chExt cx="4953000" cy="1840039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495300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9600" y="150495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1044" y="1626394"/>
              <a:ext cx="214313" cy="214313"/>
              <a:chOff x="731044" y="1626394"/>
              <a:chExt cx="214313" cy="21431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45512" y="1733550"/>
                <a:ext cx="9268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92688" h="92688">
                    <a:moveTo>
                      <a:pt x="33157" y="0"/>
                    </a:moveTo>
                    <a:lnTo>
                      <a:pt x="92688" y="59531"/>
                    </a:lnTo>
                    <a:lnTo>
                      <a:pt x="74829" y="77391"/>
                    </a:lnTo>
                    <a:cubicBezTo>
                      <a:pt x="64254" y="88315"/>
                      <a:pt x="48611" y="92688"/>
                      <a:pt x="33904" y="88833"/>
                    </a:cubicBezTo>
                    <a:cubicBezTo>
                      <a:pt x="19197" y="84977"/>
                      <a:pt x="7711" y="73492"/>
                      <a:pt x="3856" y="58784"/>
                    </a:cubicBezTo>
                    <a:cubicBezTo>
                      <a:pt x="0" y="44077"/>
                      <a:pt x="4374" y="28434"/>
                      <a:pt x="15298" y="17859"/>
                    </a:cubicBezTo>
                    <a:lnTo>
                      <a:pt x="33157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38200" y="1640862"/>
                <a:ext cx="9268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92688" h="92688">
                    <a:moveTo>
                      <a:pt x="59531" y="92688"/>
                    </a:moveTo>
                    <a:lnTo>
                      <a:pt x="0" y="33157"/>
                    </a:lnTo>
                    <a:lnTo>
                      <a:pt x="17859" y="15298"/>
                    </a:lnTo>
                    <a:cubicBezTo>
                      <a:pt x="28434" y="4374"/>
                      <a:pt x="44077" y="0"/>
                      <a:pt x="58784" y="3856"/>
                    </a:cubicBezTo>
                    <a:cubicBezTo>
                      <a:pt x="73492" y="7711"/>
                      <a:pt x="84977" y="19197"/>
                      <a:pt x="88833" y="33904"/>
                    </a:cubicBezTo>
                    <a:cubicBezTo>
                      <a:pt x="92688" y="48611"/>
                      <a:pt x="88315" y="64254"/>
                      <a:pt x="77391" y="74829"/>
                    </a:cubicBezTo>
                    <a:lnTo>
                      <a:pt x="59531" y="9268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1044" y="1810941"/>
                <a:ext cx="29766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29766">
                    <a:moveTo>
                      <a:pt x="0" y="29766"/>
                    </a:moveTo>
                    <a:lnTo>
                      <a:pt x="2976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5591" y="1626394"/>
                <a:ext cx="29766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29766">
                    <a:moveTo>
                      <a:pt x="0" y="29766"/>
                    </a:moveTo>
                    <a:lnTo>
                      <a:pt x="2976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0575" y="17216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23812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26294" y="1757362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23812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08532" y="1592580"/>
              <a:ext cx="16365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什么是 MCP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0268" y="2107882"/>
              <a:ext cx="304476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Model Context Protocol，一种开放协议，让 AI 安全地调用外部工具与数据源。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3314700"/>
            <a:ext cx="4953000" cy="2971800"/>
            <a:chOff x="381000" y="3314700"/>
            <a:chExt cx="4953000" cy="2971800"/>
          </a:xfrm>
        </p:grpSpPr>
        <p:sp>
          <p:nvSpPr>
            <p:cNvPr id="18" name="Rectangle 18"/>
            <p:cNvSpPr/>
            <p:nvPr/>
          </p:nvSpPr>
          <p:spPr>
            <a:xfrm>
              <a:off x="381000" y="3314700"/>
              <a:ext cx="4953000" cy="2971800"/>
            </a:xfrm>
            <a:prstGeom prst="roundRect">
              <a:avLst>
                <a:gd name="adj" fmla="val 4487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032" y="35261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本平台的支持方式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318" y="4012882"/>
              <a:ext cx="31295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接入方式：Streamable HTTP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18" y="4374832"/>
              <a:ext cx="3304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组织级服务：管理员统一注册，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9191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全员可用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318" y="5041582"/>
              <a:ext cx="286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个人服务：授权后自己添加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0842" y="5645468"/>
              <a:ext cx="3157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普通用户"用"，管理员"管"——各司其职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0" y="1238250"/>
            <a:ext cx="6096000" cy="5048250"/>
            <a:chOff x="5715000" y="1238250"/>
            <a:chExt cx="6096000" cy="5048250"/>
          </a:xfrm>
        </p:grpSpPr>
        <p:sp>
          <p:nvSpPr>
            <p:cNvPr id="26" name="Rectangle 26"/>
            <p:cNvSpPr/>
            <p:nvPr/>
          </p:nvSpPr>
          <p:spPr>
            <a:xfrm>
              <a:off x="5715000" y="1238250"/>
              <a:ext cx="6096000" cy="5048250"/>
            </a:xfrm>
            <a:prstGeom prst="roundRect">
              <a:avLst>
                <a:gd name="adj" fmla="val 264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71032" y="1449705"/>
              <a:ext cx="28911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工作的五个环节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981700" y="2000250"/>
              <a:ext cx="5562600" cy="666750"/>
              <a:chOff x="5981700" y="2000250"/>
              <a:chExt cx="5562600" cy="666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981700" y="2000250"/>
                <a:ext cx="55626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210300" y="217170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88868" y="22545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用户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383018" y="2222182"/>
                <a:ext cx="40371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发出自然语言请求："帮我查上周的工单"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8763000" y="2705100"/>
              <a:ext cx="1" cy="26670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81700" y="3009900"/>
              <a:ext cx="5562600" cy="666750"/>
              <a:chOff x="5981700" y="3009900"/>
              <a:chExt cx="5562600" cy="666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981700" y="3009900"/>
                <a:ext cx="55626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210300" y="318135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594001" y="3264218"/>
                <a:ext cx="1850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383018" y="3231832"/>
                <a:ext cx="34081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理解意图，选择对应的 MCP 工具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8763000" y="3714750"/>
              <a:ext cx="1" cy="26670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981700" y="4019550"/>
              <a:ext cx="5562600" cy="666750"/>
              <a:chOff x="5981700" y="4019550"/>
              <a:chExt cx="5562600" cy="666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981700" y="4019550"/>
                <a:ext cx="55626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210300" y="419100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493189" y="4273868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MCP</a:t>
                </a:r>
                <a:endPara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83018" y="4241482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通过协议调用工单系统接口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8763000" y="4724400"/>
              <a:ext cx="1" cy="26670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981700" y="5029200"/>
              <a:ext cx="5562600" cy="666750"/>
              <a:chOff x="5981700" y="5029200"/>
              <a:chExt cx="5562600" cy="666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981700" y="5029200"/>
                <a:ext cx="55626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210300" y="520065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488868" y="528351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返回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383018" y="5251132"/>
                <a:ext cx="380710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结构化数据回到对话，AI 整理成回答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5974842" y="59121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权限与范围由服务端控制，越权请求会被拒绝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18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四大能力怎么选？一张表看懂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6907" y="594360"/>
              <a:ext cx="2120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5 · 搭档、技能与 MCP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81000" y="1238250"/>
            <a:ext cx="11430000" cy="4572000"/>
            <a:chOff x="381000" y="1238250"/>
            <a:chExt cx="11430000" cy="4572000"/>
          </a:xfrm>
        </p:grpSpPr>
        <p:grpSp>
          <p:nvGrpSpPr>
            <p:cNvPr id="15" name="Group 15"/>
            <p:cNvGrpSpPr/>
            <p:nvPr/>
          </p:nvGrpSpPr>
          <p:grpSpPr>
            <a:xfrm>
              <a:off x="381000" y="1238250"/>
              <a:ext cx="11430000" cy="723900"/>
              <a:chOff x="381000" y="1238250"/>
              <a:chExt cx="11430000" cy="7239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381000" y="1238250"/>
                <a:ext cx="2095500" cy="723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2476500" y="1238250"/>
                <a:ext cx="2333625" cy="723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077375" y="1465898"/>
                <a:ext cx="112235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智能搭档</a:t>
                </a:r>
                <a:endPara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4810125" y="1238250"/>
                <a:ext cx="2333625" cy="723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686635" y="1465898"/>
                <a:ext cx="57108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技能</a:t>
                </a:r>
                <a:endPara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7143750" y="1238250"/>
                <a:ext cx="2333625" cy="723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882442" y="1465898"/>
                <a:ext cx="84671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知识库</a:t>
                </a:r>
                <a:endPara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9477375" y="1238250"/>
                <a:ext cx="2333625" cy="723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360125" y="1465898"/>
                <a:ext cx="55859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MCP</a:t>
                </a:r>
                <a:endPara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81000" y="1962150"/>
              <a:ext cx="11430000" cy="1238250"/>
              <a:chOff x="381000" y="1962150"/>
              <a:chExt cx="11430000" cy="12382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81000" y="1962150"/>
                <a:ext cx="2095500" cy="12382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25018" y="2222182"/>
                <a:ext cx="7164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解决的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25018" y="2526982"/>
                <a:ext cx="4832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476500" y="1962150"/>
                <a:ext cx="2333625" cy="12382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621280" y="218122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每次重复写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21280" y="24669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同样的角色设定，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621280" y="27527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经验无法复用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810125" y="1962150"/>
                <a:ext cx="2333625" cy="123825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954905" y="21812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高质量提示词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54905" y="24669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散落在个人手里，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54905" y="275272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口径不统一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7143750" y="1962150"/>
                <a:ext cx="2333625" cy="12382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88530" y="2181225"/>
                <a:ext cx="9006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 不了解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88530" y="24669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内部资料，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88530" y="27527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回答没有依据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77375" y="1962150"/>
                <a:ext cx="2333625" cy="123825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22155" y="2181225"/>
                <a:ext cx="13487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 只会"说"，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22155" y="24669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无法操作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22155" y="27527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外部系统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81000" y="3200400"/>
              <a:ext cx="11430000" cy="1143000"/>
              <a:chOff x="381000" y="3200400"/>
              <a:chExt cx="11430000" cy="1143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81000" y="3200400"/>
                <a:ext cx="2095500" cy="1143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25018" y="3460432"/>
                <a:ext cx="7164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一句话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5018" y="3765232"/>
                <a:ext cx="4832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定位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476500" y="3200400"/>
                <a:ext cx="2333625" cy="11430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621280" y="3514725"/>
                <a:ext cx="14994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固定的专家角色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621280" y="3857625"/>
                <a:ext cx="10450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"谁"来帮你</a:t>
                </a:r>
                <a:endPara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810125" y="3200400"/>
                <a:ext cx="2333625" cy="11430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954905" y="35147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预设的任务流</a:t>
                </a:r>
                <a:endPara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54905" y="3857625"/>
                <a:ext cx="14489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"怎么做"某件事</a:t>
                </a:r>
                <a:endPara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143750" y="3200400"/>
                <a:ext cx="2333625" cy="11430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88530" y="3514725"/>
                <a:ext cx="14994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专属的资料来源</a:t>
                </a:r>
                <a:endPara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88530" y="3857625"/>
                <a:ext cx="14489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依据"什么"回答</a:t>
                </a:r>
                <a:endPara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9477375" y="3200400"/>
                <a:ext cx="2333625" cy="11430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DBEAFE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622155" y="35147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外部的连接器</a:t>
                </a:r>
                <a:endPara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622155" y="3857625"/>
                <a:ext cx="14489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"用什么"去执行</a:t>
                </a:r>
                <a:endPara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381000" y="4343400"/>
              <a:ext cx="11430000" cy="1466850"/>
              <a:chOff x="381000" y="4343400"/>
              <a:chExt cx="11430000" cy="14668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381000" y="4343400"/>
                <a:ext cx="2095500" cy="14668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25018" y="4603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协同使用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25018" y="4908232"/>
                <a:ext cx="4832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示例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2476500" y="4343400"/>
                <a:ext cx="9334500" cy="14668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2734818" y="4584382"/>
                <a:ext cx="65249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「行政助手」搭档 挂载「行政制度库」，绑定「会议纪要」技能，</a:t>
                </a:r>
                <a:endPara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734818" y="4927282"/>
                <a:ext cx="638876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再通过 MCP 读取日历系统 —— 一次配置，全套能力自动协同。</a:t>
                </a:r>
                <a:endPara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736342" y="5416868"/>
                <a:ext cx="54658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4A3B8"/>
                    </a:solidFill>
                    <a:latin typeface="+mn-lt"/>
                    <a:ea typeface="+mn-ea"/>
                    <a:cs typeface="+mn-cs"/>
                  </a:rPr>
                  <a:t>选择顺序：先看缺什么（资料？角色？动作？），再选对应能力补齐</a:t>
                </a:r>
                <a:endPara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19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63912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串起来：一条可复用的智能工作流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6907" y="594360"/>
              <a:ext cx="2120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5 · 搭档、技能与 MCP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1428750"/>
            <a:ext cx="11228832" cy="3619500"/>
            <a:chOff x="381000" y="1428750"/>
            <a:chExt cx="11228832" cy="3619500"/>
          </a:xfrm>
        </p:grpSpPr>
        <p:grpSp>
          <p:nvGrpSpPr>
            <p:cNvPr id="23" name="Group 23"/>
            <p:cNvGrpSpPr/>
            <p:nvPr/>
          </p:nvGrpSpPr>
          <p:grpSpPr>
            <a:xfrm>
              <a:off x="381000" y="1428750"/>
              <a:ext cx="10325100" cy="914400"/>
              <a:chOff x="381000" y="1428750"/>
              <a:chExt cx="1032510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381000" y="1428750"/>
                <a:ext cx="30861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571500" y="16764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15123" y="1800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15568" y="16506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明确任务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17092" y="19688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想清楚要什么成果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3505200" y="1885950"/>
                <a:ext cx="457200" cy="1"/>
              </a:xfrm>
              <a:prstGeom prst="line">
                <a:avLst/>
              </a:pr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4000500" y="1428750"/>
                <a:ext cx="30861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4191000" y="16764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34623" y="1800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735068" y="16506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选模型定参数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736592" y="19688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简单任务不折腾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7124700" y="1885950"/>
                <a:ext cx="457200" cy="1"/>
              </a:xfrm>
              <a:prstGeom prst="line">
                <a:avLst/>
              </a:pr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7620000" y="1428750"/>
                <a:ext cx="30861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7810500" y="16764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954123" y="1800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54568" y="16506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挂知识库检索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56092" y="19688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让回答有依据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9163050" y="2381250"/>
              <a:ext cx="1" cy="34290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381000" y="2762250"/>
              <a:ext cx="10325100" cy="914400"/>
              <a:chOff x="381000" y="2762250"/>
              <a:chExt cx="10325100" cy="9144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0" y="2762250"/>
                <a:ext cx="30861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7810500" y="30099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954123" y="31337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54568" y="29841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用技能出成果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56092" y="3302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一键生成初稿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Line 30"/>
              <p:cNvSpPr/>
              <p:nvPr/>
            </p:nvSpPr>
            <p:spPr>
              <a:xfrm flipH="1">
                <a:off x="7124700" y="3219450"/>
                <a:ext cx="457200" cy="1"/>
              </a:xfrm>
              <a:prstGeom prst="line">
                <a:avLst/>
              </a:pr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000500" y="2762250"/>
                <a:ext cx="30861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191000" y="30099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34623" y="31337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735068" y="2984182"/>
                <a:ext cx="17787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MCP 取外部数据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36592" y="3302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查系统、核事实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Line 36"/>
              <p:cNvSpPr/>
              <p:nvPr/>
            </p:nvSpPr>
            <p:spPr>
              <a:xfrm flipH="1">
                <a:off x="3505200" y="3219450"/>
                <a:ext cx="457200" cy="1"/>
              </a:xfrm>
              <a:prstGeom prst="line">
                <a:avLst/>
              </a:pr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381000" y="2762250"/>
                <a:ext cx="30861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71500" y="3009900"/>
                <a:ext cx="419100" cy="4191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15123" y="31337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15568" y="2984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人工审核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117092" y="3302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永远有人把关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1924050" y="3714750"/>
              <a:ext cx="1" cy="34290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81000" y="4095750"/>
              <a:ext cx="11228832" cy="952500"/>
              <a:chOff x="381000" y="4095750"/>
              <a:chExt cx="11228832" cy="952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81000" y="4095750"/>
                <a:ext cx="10325100" cy="95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762000" y="436245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05623" y="44862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</a:t>
                </a:r>
                <a:endPara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343406" y="4472940"/>
                <a:ext cx="7498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沉淀复用：成功的组合存成"搭档 + 技能 + 知识库"，下次一键启动</a:t>
                </a:r>
                <a:endPara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10820400" y="45720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1232642" y="45024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循环</a:t>
                </a:r>
                <a:endPara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381000" y="5334000"/>
            <a:ext cx="11430000" cy="952500"/>
            <a:chOff x="381000" y="5334000"/>
            <a:chExt cx="11430000" cy="952500"/>
          </a:xfrm>
        </p:grpSpPr>
        <p:sp>
          <p:nvSpPr>
            <p:cNvPr id="52" name="Rectangle 52"/>
            <p:cNvSpPr/>
            <p:nvPr/>
          </p:nvSpPr>
          <p:spPr>
            <a:xfrm>
              <a:off x="381000" y="5334000"/>
              <a:ext cx="5572125" cy="95250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0268" y="55178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关键提醒 1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0268" y="58416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 6 步人工审核不可跳过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38875" y="5334000"/>
              <a:ext cx="5572125" cy="95250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78143" y="55178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关键提醒 2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8143" y="5841682"/>
              <a:ext cx="3504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不是每步都必须 —— 按任务裁剪流程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59" name="TextBox 59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管理后台：管理员的世界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34574" y="594360"/>
              <a:ext cx="1582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6 · 治理与安全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0332" y="1316355"/>
            <a:ext cx="5344668" cy="4970145"/>
            <a:chOff x="370332" y="1316355"/>
            <a:chExt cx="5344668" cy="4970145"/>
          </a:xfrm>
        </p:grpSpPr>
        <p:sp>
          <p:nvSpPr>
            <p:cNvPr id="6" name="TextBox 6"/>
            <p:cNvSpPr txBox="1"/>
            <p:nvPr/>
          </p:nvSpPr>
          <p:spPr>
            <a:xfrm>
              <a:off x="370332" y="1316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六大管理模块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1733550"/>
              <a:ext cx="257175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218" y="1898332"/>
              <a:ext cx="1136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325" indent="-187325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模型管理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235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接入哪些模型、参数范围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143250" y="1733550"/>
              <a:ext cx="257175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63468" y="1898332"/>
              <a:ext cx="1136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325" indent="-187325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用户管理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64992" y="2235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账号、部门、角色权限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" y="2686050"/>
              <a:ext cx="257175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1218" y="2850832"/>
              <a:ext cx="1136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325" indent="-187325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搭档管理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188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审核、上架、下架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43250" y="2686050"/>
              <a:ext cx="257175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63468" y="2850832"/>
              <a:ext cx="1369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325" indent="-187325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知识库管理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64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组织库的建设与清理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3638550"/>
              <a:ext cx="257175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1218" y="3803332"/>
              <a:ext cx="1226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325" indent="-187325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管理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742" y="4140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服务注册与授权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143250" y="3638550"/>
              <a:ext cx="257175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63468" y="3803332"/>
              <a:ext cx="1136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325" indent="-187325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系统监控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64992" y="4140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用量、日志、异常告警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4705350"/>
              <a:ext cx="5334000" cy="1581150"/>
            </a:xfrm>
            <a:prstGeom prst="roundRect">
              <a:avLst>
                <a:gd name="adj" fmla="val 8434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9506" y="4930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职责边界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0268" y="5308282"/>
              <a:ext cx="33695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管理员：配资源、定权限、看日志普通用户：用好搭档、技能与知识库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1792" y="59883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有问题先找管理员，别自己绕过流程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238250"/>
            <a:ext cx="5715000" cy="5077206"/>
            <a:chOff x="6096000" y="1238250"/>
            <a:chExt cx="5715000" cy="5077206"/>
          </a:xfrm>
        </p:grpSpPr>
        <p:sp>
          <p:nvSpPr>
            <p:cNvPr id="30" name="Rectangle 30"/>
            <p:cNvSpPr/>
            <p:nvPr/>
          </p:nvSpPr>
          <p:spPr>
            <a:xfrm>
              <a:off x="6096000" y="1238250"/>
              <a:ext cx="5715000" cy="5048250"/>
            </a:xfrm>
            <a:prstGeom prst="roundRect">
              <a:avLst>
                <a:gd name="adj" fmla="val 264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67450" y="1422797"/>
              <a:ext cx="5372100" cy="3021806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8046796" y="44805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管理后台 · 用户管理页面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6267450" y="476250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19050">
              <a:solidFill>
                <a:srgbClr val="DBEAFE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11383" y="4876800"/>
              <a:ext cx="2302933" cy="1295400"/>
            </a:xfrm>
            <a:prstGeom prst="rect">
              <a:avLst/>
            </a:prstGeom>
          </p:spPr>
        </p:pic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92683" y="4876800"/>
              <a:ext cx="2302933" cy="12954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6979234" y="60807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设置 · 账户信息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60534" y="60807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设置 · 常规设置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21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管理四原则：让平台持续健康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34574" y="594360"/>
              <a:ext cx="1582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6 · 治理与安全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1238250"/>
            <a:ext cx="5572125" cy="2381250"/>
            <a:chOff x="381000" y="1238250"/>
            <a:chExt cx="5572125" cy="238125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5572125" cy="2381250"/>
            </a:xfrm>
            <a:prstGeom prst="roundRect">
              <a:avLst>
                <a:gd name="adj" fmla="val 5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524000"/>
              <a:ext cx="495300" cy="4953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56425" y="1651775"/>
              <a:ext cx="247293" cy="253224"/>
              <a:chOff x="756425" y="1651775"/>
              <a:chExt cx="247293" cy="2532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56425" y="1651775"/>
                <a:ext cx="234276" cy="234187"/>
              </a:xfrm>
              <a:custGeom>
                <a:avLst/>
                <a:gdLst/>
                <a:ahLst/>
                <a:cxnLst/>
                <a:rect l="l" t="t" r="r" b="b"/>
                <a:pathLst>
                  <a:path w="234276" h="234187">
                    <a:moveTo>
                      <a:pt x="119913" y="234175"/>
                    </a:moveTo>
                    <a:cubicBezTo>
                      <a:pt x="110617" y="234187"/>
                      <a:pt x="101308" y="228612"/>
                      <a:pt x="98603" y="217449"/>
                    </a:cubicBezTo>
                    <a:cubicBezTo>
                      <a:pt x="96956" y="210654"/>
                      <a:pt x="92163" y="205053"/>
                      <a:pt x="85704" y="202377"/>
                    </a:cubicBezTo>
                    <a:cubicBezTo>
                      <a:pt x="79244" y="199701"/>
                      <a:pt x="71895" y="200271"/>
                      <a:pt x="65926" y="203911"/>
                    </a:cubicBezTo>
                    <a:cubicBezTo>
                      <a:pt x="46329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1"/>
                      <a:pt x="37357" y="154046"/>
                    </a:cubicBezTo>
                    <a:cubicBezTo>
                      <a:pt x="34684" y="147590"/>
                      <a:pt x="29090" y="142798"/>
                      <a:pt x="22301" y="141147"/>
                    </a:cubicBezTo>
                    <a:cubicBezTo>
                      <a:pt x="0" y="135737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4"/>
                      <a:pt x="39479" y="71895"/>
                      <a:pt x="35839" y="65926"/>
                    </a:cubicBezTo>
                    <a:cubicBezTo>
                      <a:pt x="23901" y="46329"/>
                      <a:pt x="46329" y="23889"/>
                      <a:pt x="65938" y="35827"/>
                    </a:cubicBezTo>
                    <a:cubicBezTo>
                      <a:pt x="78638" y="43548"/>
                      <a:pt x="95097" y="36716"/>
                      <a:pt x="98603" y="22301"/>
                    </a:cubicBezTo>
                    <a:cubicBezTo>
                      <a:pt x="104013" y="0"/>
                      <a:pt x="135737" y="0"/>
                      <a:pt x="141147" y="22301"/>
                    </a:cubicBezTo>
                    <a:cubicBezTo>
                      <a:pt x="142794" y="29096"/>
                      <a:pt x="147587" y="34697"/>
                      <a:pt x="154046" y="37373"/>
                    </a:cubicBezTo>
                    <a:cubicBezTo>
                      <a:pt x="160506" y="40049"/>
                      <a:pt x="167855" y="39479"/>
                      <a:pt x="173824" y="35839"/>
                    </a:cubicBezTo>
                    <a:cubicBezTo>
                      <a:pt x="193421" y="23901"/>
                      <a:pt x="215861" y="46329"/>
                      <a:pt x="203923" y="65938"/>
                    </a:cubicBezTo>
                    <a:cubicBezTo>
                      <a:pt x="200289" y="71905"/>
                      <a:pt x="199720" y="79249"/>
                      <a:pt x="202393" y="85704"/>
                    </a:cubicBezTo>
                    <a:cubicBezTo>
                      <a:pt x="205066" y="92160"/>
                      <a:pt x="210660" y="96952"/>
                      <a:pt x="217449" y="98603"/>
                    </a:cubicBezTo>
                    <a:cubicBezTo>
                      <a:pt x="228701" y="101333"/>
                      <a:pt x="234276" y="110756"/>
                      <a:pt x="234187" y="120116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38200" y="17335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9812" y="183514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5212" y="18161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5212" y="1885949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7208" y="1838324"/>
                <a:ext cx="1649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97" h="9525">
                    <a:moveTo>
                      <a:pt x="16497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6718" y="1873249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1651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26718" y="1838324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7208" y="1873249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85494" y="16563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模型管理原则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318" y="2165032"/>
              <a:ext cx="3304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只开经过评估的模型，宁少勿滥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318" y="2526982"/>
              <a:ext cx="352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默认参数给安全值，高消耗需授权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18" y="2888932"/>
              <a:ext cx="352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定期下线无人使用、效果差的模型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842" y="32642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目标：用户选项少而准，成本可控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38875" y="1238250"/>
            <a:ext cx="5572125" cy="2381250"/>
            <a:chOff x="6238875" y="1238250"/>
            <a:chExt cx="5572125" cy="2381250"/>
          </a:xfrm>
        </p:grpSpPr>
        <p:sp>
          <p:nvSpPr>
            <p:cNvPr id="24" name="Rectangle 24"/>
            <p:cNvSpPr/>
            <p:nvPr/>
          </p:nvSpPr>
          <p:spPr>
            <a:xfrm>
              <a:off x="6238875" y="1238250"/>
              <a:ext cx="5572125" cy="2381250"/>
            </a:xfrm>
            <a:prstGeom prst="roundRect">
              <a:avLst>
                <a:gd name="adj" fmla="val 5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486525" y="1524000"/>
              <a:ext cx="495300" cy="4953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19875" y="1657350"/>
              <a:ext cx="228599" cy="228600"/>
              <a:chOff x="6619875" y="1657350"/>
              <a:chExt cx="228599" cy="228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45275" y="16573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19875" y="18097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84974" y="16590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10374" y="18116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143369" y="16563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用户管理原则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97193" y="2165032"/>
              <a:ext cx="3648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按部门/角色分组授权，不搞一刀切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97193" y="2526982"/>
              <a:ext cx="4082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入职开通、离职回收，账号有 lifecycle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7193" y="2888932"/>
              <a:ext cx="2638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权限随岗位变化及时调整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8717" y="32642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目标：对的人访问对的能力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3810000"/>
            <a:ext cx="5572125" cy="2381250"/>
            <a:chOff x="381000" y="3810000"/>
            <a:chExt cx="5572125" cy="2381250"/>
          </a:xfrm>
        </p:grpSpPr>
        <p:sp>
          <p:nvSpPr>
            <p:cNvPr id="37" name="Rectangle 37"/>
            <p:cNvSpPr/>
            <p:nvPr/>
          </p:nvSpPr>
          <p:spPr>
            <a:xfrm>
              <a:off x="381000" y="3810000"/>
              <a:ext cx="5572125" cy="2381250"/>
            </a:xfrm>
            <a:prstGeom prst="roundRect">
              <a:avLst>
                <a:gd name="adj" fmla="val 5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28650" y="4095750"/>
              <a:ext cx="495300" cy="4953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87400" y="4240466"/>
              <a:ext cx="204458" cy="205866"/>
              <a:chOff x="787400" y="4240466"/>
              <a:chExt cx="204458" cy="20586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87400" y="4241800"/>
                <a:ext cx="50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38100" y="0"/>
                    </a:lnTo>
                    <a:cubicBezTo>
                      <a:pt x="45114" y="0"/>
                      <a:pt x="50800" y="5686"/>
                      <a:pt x="50800" y="12700"/>
                    </a:cubicBezTo>
                    <a:lnTo>
                      <a:pt x="50800" y="190500"/>
                    </a:lnTo>
                    <a:cubicBezTo>
                      <a:pt x="50800" y="197514"/>
                      <a:pt x="45114" y="203199"/>
                      <a:pt x="381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4241800"/>
                <a:ext cx="50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38100" y="0"/>
                    </a:lnTo>
                    <a:cubicBezTo>
                      <a:pt x="45114" y="0"/>
                      <a:pt x="50800" y="5686"/>
                      <a:pt x="50800" y="12700"/>
                    </a:cubicBezTo>
                    <a:lnTo>
                      <a:pt x="50800" y="190500"/>
                    </a:lnTo>
                    <a:cubicBezTo>
                      <a:pt x="50800" y="197514"/>
                      <a:pt x="45114" y="203199"/>
                      <a:pt x="381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7400" y="42926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4394199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87741" y="4240466"/>
                <a:ext cx="104117" cy="205866"/>
              </a:xfrm>
              <a:custGeom>
                <a:avLst/>
                <a:gdLst/>
                <a:ahLst/>
                <a:cxnLst/>
                <a:rect l="l" t="t" r="r" b="b"/>
                <a:pathLst>
                  <a:path w="104117" h="205866">
                    <a:moveTo>
                      <a:pt x="11457" y="8445"/>
                    </a:moveTo>
                    <a:lnTo>
                      <a:pt x="39193" y="1714"/>
                    </a:lnTo>
                    <a:cubicBezTo>
                      <a:pt x="46331" y="0"/>
                      <a:pt x="53582" y="4127"/>
                      <a:pt x="55475" y="11011"/>
                    </a:cubicBezTo>
                    <a:lnTo>
                      <a:pt x="102401" y="181419"/>
                    </a:lnTo>
                    <a:cubicBezTo>
                      <a:pt x="104117" y="187884"/>
                      <a:pt x="100628" y="194593"/>
                      <a:pt x="94349" y="196900"/>
                    </a:cubicBezTo>
                    <a:lnTo>
                      <a:pt x="92660" y="197421"/>
                    </a:lnTo>
                    <a:lnTo>
                      <a:pt x="64923" y="204152"/>
                    </a:lnTo>
                    <a:cubicBezTo>
                      <a:pt x="57786" y="205866"/>
                      <a:pt x="50534" y="201739"/>
                      <a:pt x="48642" y="194856"/>
                    </a:cubicBezTo>
                    <a:lnTo>
                      <a:pt x="1716" y="24447"/>
                    </a:lnTo>
                    <a:cubicBezTo>
                      <a:pt x="0" y="17982"/>
                      <a:pt x="3489" y="11274"/>
                      <a:pt x="9767" y="8966"/>
                    </a:cubicBezTo>
                    <a:lnTo>
                      <a:pt x="11457" y="84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01700" y="4292600"/>
                <a:ext cx="508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2700">
                    <a:moveTo>
                      <a:pt x="0" y="127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27099" y="4381754"/>
                <a:ext cx="49822" cy="12446"/>
              </a:xfrm>
              <a:custGeom>
                <a:avLst/>
                <a:gdLst/>
                <a:ahLst/>
                <a:cxnLst/>
                <a:rect l="l" t="t" r="r" b="b"/>
                <a:pathLst>
                  <a:path w="49822" h="12446">
                    <a:moveTo>
                      <a:pt x="0" y="12446"/>
                    </a:moveTo>
                    <a:lnTo>
                      <a:pt x="49822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285494" y="42281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资产管理原则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318" y="4736782"/>
              <a:ext cx="32046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搭档/技能上架前先小范围试用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9318" y="5098732"/>
              <a:ext cx="352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知识库设负责人，过期内容定期清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9318" y="5460682"/>
              <a:ext cx="352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优质资产推荐置顶，形成正向循环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0842" y="5835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目标：平台资产越用越好，而非越多越乱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38875" y="3810000"/>
            <a:ext cx="5572125" cy="2381250"/>
            <a:chOff x="6238875" y="3810000"/>
            <a:chExt cx="5572125" cy="2381250"/>
          </a:xfrm>
        </p:grpSpPr>
        <p:sp>
          <p:nvSpPr>
            <p:cNvPr id="53" name="Rectangle 53"/>
            <p:cNvSpPr/>
            <p:nvPr/>
          </p:nvSpPr>
          <p:spPr>
            <a:xfrm>
              <a:off x="6238875" y="3810000"/>
              <a:ext cx="5572125" cy="2381250"/>
            </a:xfrm>
            <a:prstGeom prst="roundRect">
              <a:avLst>
                <a:gd name="adj" fmla="val 5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486525" y="4095750"/>
              <a:ext cx="495300" cy="4953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45275" y="4241800"/>
              <a:ext cx="190500" cy="215899"/>
              <a:chOff x="6645275" y="4241800"/>
              <a:chExt cx="190500" cy="21589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45275" y="424180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59575" y="44068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96075" y="42926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96075" y="43434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143369" y="42281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变更管理原则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97193" y="473678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模型下线、参数调整提前公告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97193" y="5098732"/>
              <a:ext cx="3304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重大变更留出适应期与反馈渠道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97193" y="546068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所有操作留痕，可追溯可回滚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98717" y="5835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目标：变化可预期，用户不迷路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22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安全与合规：四条红线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34574" y="594360"/>
              <a:ext cx="1582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6 · 治理与安全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238250"/>
            <a:ext cx="5572125" cy="2190750"/>
            <a:chOff x="381000" y="1238250"/>
            <a:chExt cx="5572125" cy="2190750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5572125" cy="2190750"/>
            </a:xfrm>
            <a:prstGeom prst="roundRect">
              <a:avLst>
                <a:gd name="adj" fmla="val 6087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238250"/>
              <a:ext cx="5572125" cy="571500"/>
            </a:xfrm>
            <a:prstGeom prst="roundRect">
              <a:avLst>
                <a:gd name="adj" fmla="val 23333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581150"/>
              <a:ext cx="5572125" cy="228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90550" y="1352550"/>
              <a:ext cx="342900" cy="342900"/>
            </a:xfrm>
            <a:prstGeom prst="ellipse">
              <a:avLst/>
            </a:pr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7418" y="1431608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7656" y="1415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数据泄露风险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268" y="1974532"/>
              <a:ext cx="3748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敏感信息先脱敏，再进对话或知识库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0268" y="233648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对外资料与内部资料分开建库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0268" y="2698432"/>
              <a:ext cx="3304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不确定能不能传的，先问管理员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1792" y="30737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红线条目：身份证号、密码、客户隐私一律禁止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38875" y="1238250"/>
            <a:ext cx="5572125" cy="2190750"/>
            <a:chOff x="6238875" y="1238250"/>
            <a:chExt cx="5572125" cy="2190750"/>
          </a:xfrm>
        </p:grpSpPr>
        <p:sp>
          <p:nvSpPr>
            <p:cNvPr id="17" name="Rectangle 17"/>
            <p:cNvSpPr/>
            <p:nvPr/>
          </p:nvSpPr>
          <p:spPr>
            <a:xfrm>
              <a:off x="6238875" y="1238250"/>
              <a:ext cx="5572125" cy="2190750"/>
            </a:xfrm>
            <a:prstGeom prst="roundRect">
              <a:avLst>
                <a:gd name="adj" fmla="val 6087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38875" y="1238250"/>
              <a:ext cx="5572125" cy="571500"/>
            </a:xfrm>
            <a:prstGeom prst="roundRect">
              <a:avLst>
                <a:gd name="adj" fmla="val 23333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38875" y="1581150"/>
              <a:ext cx="5572125" cy="228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448425" y="1352550"/>
              <a:ext cx="342900" cy="342900"/>
            </a:xfrm>
            <a:prstGeom prst="ellipse">
              <a:avLst/>
            </a:pr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5293" y="1431608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15531" y="1415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内容失实风险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8143" y="1974532"/>
              <a:ext cx="3773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会"一本正经地编造"事实与引用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8143" y="2336482"/>
              <a:ext cx="352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关键数字、法条、政策必须核原文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8143" y="2698432"/>
              <a:ext cx="35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要求 AI 标注依据，方便溯源检查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9667" y="30737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对外输出前，必须有人工审核记录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3619500"/>
            <a:ext cx="5572125" cy="2190750"/>
            <a:chOff x="381000" y="3619500"/>
            <a:chExt cx="5572125" cy="2190750"/>
          </a:xfrm>
        </p:grpSpPr>
        <p:sp>
          <p:nvSpPr>
            <p:cNvPr id="28" name="Rectangle 28"/>
            <p:cNvSpPr/>
            <p:nvPr/>
          </p:nvSpPr>
          <p:spPr>
            <a:xfrm>
              <a:off x="381000" y="3619500"/>
              <a:ext cx="5572125" cy="2190750"/>
            </a:xfrm>
            <a:prstGeom prst="roundRect">
              <a:avLst>
                <a:gd name="adj" fmla="val 6087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1000" y="3619500"/>
              <a:ext cx="5572125" cy="571500"/>
            </a:xfrm>
            <a:prstGeom prst="roundRect">
              <a:avLst>
                <a:gd name="adj" fmla="val 23333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1000" y="3962400"/>
              <a:ext cx="5572125" cy="228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0550" y="3733800"/>
              <a:ext cx="342900" cy="342900"/>
            </a:xfrm>
            <a:prstGeom prst="ellipse">
              <a:avLst/>
            </a:pr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418" y="3812858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7656" y="37966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越权访问风险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0268" y="4355782"/>
              <a:ext cx="328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权限按最小够用原则授予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0268" y="4717732"/>
              <a:ext cx="3082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共享账号、代传口令一律禁止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268" y="5079682"/>
              <a:ext cx="3748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定期审查：谁能访问什么，清单要新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1792" y="5454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岗位变动时，权限同步回收调整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38875" y="3619500"/>
            <a:ext cx="5572125" cy="2190750"/>
            <a:chOff x="6238875" y="3619500"/>
            <a:chExt cx="5572125" cy="2190750"/>
          </a:xfrm>
        </p:grpSpPr>
        <p:sp>
          <p:nvSpPr>
            <p:cNvPr id="39" name="Rectangle 39"/>
            <p:cNvSpPr/>
            <p:nvPr/>
          </p:nvSpPr>
          <p:spPr>
            <a:xfrm>
              <a:off x="6238875" y="3619500"/>
              <a:ext cx="5572125" cy="2190750"/>
            </a:xfrm>
            <a:prstGeom prst="roundRect">
              <a:avLst>
                <a:gd name="adj" fmla="val 6087"/>
              </a:avLst>
            </a:prstGeom>
            <a:solidFill>
              <a:schemeClr val="lt1"/>
            </a:solidFill>
            <a:ln w="19050">
              <a:solidFill>
                <a:srgbClr val="DBEAFE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38875" y="3619500"/>
              <a:ext cx="5572125" cy="571500"/>
            </a:xfrm>
            <a:prstGeom prst="roundRect">
              <a:avLst>
                <a:gd name="adj" fmla="val 23333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38875" y="3962400"/>
              <a:ext cx="5572125" cy="228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48425" y="3733800"/>
              <a:ext cx="342900" cy="342900"/>
            </a:xfrm>
            <a:prstGeom prst="ellipse">
              <a:avLst/>
            </a:pr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5293" y="3812858"/>
              <a:ext cx="86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5531" y="37966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过度依赖风险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8143" y="4355782"/>
              <a:ext cx="3750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是助手不是替身，责任始终在人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8143" y="4717732"/>
              <a:ext cx="35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核心判断、最终拍板不由 AI 代做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8143" y="5079682"/>
              <a:ext cx="286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435" indent="-17843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重要结论保留人工复核痕迹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9667" y="5454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工具越好用，越要守住人的判断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1000" y="5962650"/>
            <a:ext cx="11430000" cy="420815"/>
            <a:chOff x="381000" y="5962650"/>
            <a:chExt cx="11430000" cy="420815"/>
          </a:xfrm>
        </p:grpSpPr>
        <p:sp>
          <p:nvSpPr>
            <p:cNvPr id="50" name="Rectangle 50"/>
            <p:cNvSpPr/>
            <p:nvPr/>
          </p:nvSpPr>
          <p:spPr>
            <a:xfrm>
              <a:off x="381000" y="5962650"/>
              <a:ext cx="114300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52450" y="6038850"/>
              <a:ext cx="266700" cy="266700"/>
            </a:xfrm>
            <a:prstGeom prst="ellipse">
              <a:avLst/>
            </a:prstGeom>
            <a:solidFill>
              <a:schemeClr val="lt1">
                <a:alpha val="25000"/>
              </a:schemeClr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583" y="6093619"/>
              <a:ext cx="164435" cy="157163"/>
              <a:chOff x="603583" y="6093619"/>
              <a:chExt cx="164435" cy="15716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03583" y="6093619"/>
                <a:ext cx="164435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64435" h="157163">
                    <a:moveTo>
                      <a:pt x="82217" y="0"/>
                    </a:moveTo>
                    <a:cubicBezTo>
                      <a:pt x="102612" y="18044"/>
                      <a:pt x="129231" y="27439"/>
                      <a:pt x="156433" y="26194"/>
                    </a:cubicBezTo>
                    <a:cubicBezTo>
                      <a:pt x="164435" y="53414"/>
                      <a:pt x="161056" y="82715"/>
                      <a:pt x="147068" y="107399"/>
                    </a:cubicBezTo>
                    <a:cubicBezTo>
                      <a:pt x="133080" y="132083"/>
                      <a:pt x="109680" y="150039"/>
                      <a:pt x="82217" y="157163"/>
                    </a:cubicBezTo>
                    <a:cubicBezTo>
                      <a:pt x="54754" y="150039"/>
                      <a:pt x="31354" y="132083"/>
                      <a:pt x="17367" y="107399"/>
                    </a:cubicBezTo>
                    <a:cubicBezTo>
                      <a:pt x="3379" y="82715"/>
                      <a:pt x="0" y="53414"/>
                      <a:pt x="8002" y="26194"/>
                    </a:cubicBezTo>
                    <a:cubicBezTo>
                      <a:pt x="35204" y="27439"/>
                      <a:pt x="61823" y="18044"/>
                      <a:pt x="82217" y="0"/>
                    </a:cubicBezTo>
                  </a:path>
                </a:pathLst>
              </a:custGeom>
              <a:noFill/>
              <a:ln w="17463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7069" y="6154738"/>
                <a:ext cx="17463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7463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85800" y="6172200"/>
                <a:ext cx="95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828">
                    <a:moveTo>
                      <a:pt x="0" y="0"/>
                    </a:moveTo>
                    <a:lnTo>
                      <a:pt x="0" y="21828"/>
                    </a:lnTo>
                  </a:path>
                </a:pathLst>
              </a:custGeom>
              <a:noFill/>
              <a:ln w="17463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44118" y="6060758"/>
              <a:ext cx="59524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十六字总括：最小权限 · 人工复核 · 资料分级 · 日志追踪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23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419100"/>
            <a:ext cx="11436096" cy="586740"/>
            <a:chOff x="381000" y="419100"/>
            <a:chExt cx="11436096" cy="586740"/>
          </a:xfrm>
        </p:grpSpPr>
        <p:sp>
          <p:nvSpPr>
            <p:cNvPr id="2" name="Rectangle 2"/>
            <p:cNvSpPr/>
            <p:nvPr/>
          </p:nvSpPr>
          <p:spPr>
            <a:xfrm>
              <a:off x="381000" y="43815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360" y="4191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课后实操与行动清单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6638" y="594360"/>
              <a:ext cx="1070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 7 · 收尾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1238250"/>
            <a:ext cx="3676650" cy="3642551"/>
            <a:chOff x="381000" y="1238250"/>
            <a:chExt cx="3676650" cy="3642551"/>
          </a:xfrm>
        </p:grpSpPr>
        <p:sp>
          <p:nvSpPr>
            <p:cNvPr id="6" name="Rectangle 6"/>
            <p:cNvSpPr/>
            <p:nvPr/>
          </p:nvSpPr>
          <p:spPr>
            <a:xfrm>
              <a:off x="381000" y="1238250"/>
              <a:ext cx="3676650" cy="3619500"/>
            </a:xfrm>
            <a:prstGeom prst="roundRect">
              <a:avLst>
                <a:gd name="adj" fmla="val 36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5240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7187" y="1663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6256" y="1672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基础练习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7700" y="21526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494" y="223266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10 分钟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9318" y="2660332"/>
              <a:ext cx="2321814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用提问公式重写一条你本周的真实工作提问，对比改写前后的回答质量差异。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842" y="4388168"/>
              <a:ext cx="17282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验收：能说出公式里哪一项带来的提升最大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57675" y="1238250"/>
            <a:ext cx="3676650" cy="3642551"/>
            <a:chOff x="4257675" y="1238250"/>
            <a:chExt cx="3676650" cy="3642551"/>
          </a:xfrm>
        </p:grpSpPr>
        <p:sp>
          <p:nvSpPr>
            <p:cNvPr id="15" name="Rectangle 15"/>
            <p:cNvSpPr/>
            <p:nvPr/>
          </p:nvSpPr>
          <p:spPr>
            <a:xfrm>
              <a:off x="4257675" y="1238250"/>
              <a:ext cx="3676650" cy="3619500"/>
            </a:xfrm>
            <a:prstGeom prst="roundRect">
              <a:avLst>
                <a:gd name="adj" fmla="val 36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505325" y="15240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73862" y="1663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2931" y="1672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进阶练习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24375" y="21526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91169" y="223266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20 分钟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5993" y="2660332"/>
              <a:ext cx="229038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为你的岗位搭建一个迷你知识库（5 份核心资料即可），跑通一次检索问答。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517" y="4388168"/>
              <a:ext cx="15310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验收：3 个真实问题回答带正确引用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34350" y="1238250"/>
            <a:ext cx="3676650" cy="3642551"/>
            <a:chOff x="8134350" y="1238250"/>
            <a:chExt cx="3676650" cy="3642551"/>
          </a:xfrm>
        </p:grpSpPr>
        <p:sp>
          <p:nvSpPr>
            <p:cNvPr id="24" name="Rectangle 24"/>
            <p:cNvSpPr/>
            <p:nvPr/>
          </p:nvSpPr>
          <p:spPr>
            <a:xfrm>
              <a:off x="8134350" y="1238250"/>
              <a:ext cx="3676650" cy="3619500"/>
            </a:xfrm>
            <a:prstGeom prst="roundRect">
              <a:avLst>
                <a:gd name="adj" fmla="val 36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382000" y="15240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50537" y="1663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39606" y="1672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挑战练习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401050" y="21526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67844" y="223266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30 分钟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2660332"/>
              <a:ext cx="235324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设计并发布一个岗位专属智能搭档：写人设、配开场白、挂知识库、测 3 个任务。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94192" y="4388168"/>
              <a:ext cx="15567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验收：同事不看说明也能用明白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1000" y="5124450"/>
            <a:ext cx="11430000" cy="1166051"/>
            <a:chOff x="381000" y="5124450"/>
            <a:chExt cx="11430000" cy="1166051"/>
          </a:xfrm>
        </p:grpSpPr>
        <p:sp>
          <p:nvSpPr>
            <p:cNvPr id="33" name="Rectangle 33"/>
            <p:cNvSpPr/>
            <p:nvPr/>
          </p:nvSpPr>
          <p:spPr>
            <a:xfrm>
              <a:off x="381000" y="5124450"/>
              <a:ext cx="11430000" cy="1162050"/>
            </a:xfrm>
            <a:prstGeom prst="roundRect">
              <a:avLst>
                <a:gd name="adj" fmla="val 11475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6656" y="53492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行动清单：今天就做三件事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418" y="5746432"/>
              <a:ext cx="8357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登录平台完成一次真实提问　② 上传一份资料建库试检索　③ 把常用提示词存成技能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942" y="60264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两周后复盘：哪些工作流已经跑通？遇到问题随时找管理员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4904" y="6576060"/>
            <a:ext cx="11442192" cy="234696"/>
            <a:chOff x="374904" y="6576060"/>
            <a:chExt cx="114421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374904" y="6576060"/>
              <a:ext cx="18116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accent3"/>
                  </a:solidFill>
                  <a:sym typeface="+mn-ea"/>
                </a:rPr>
                <a:t>Kmind</a:t>
              </a: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· AI 工具箱实战培训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637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24 / 24</a:t>
              </a:r>
              <a:endPara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Free Design">
  <a:themeElements>
    <a:clrScheme name="Free Design">
      <a:dk1>
        <a:srgbClr val="1E293B"/>
      </a:dk1>
      <a:lt1>
        <a:srgbClr val="FFFFFF"/>
      </a:lt1>
      <a:dk2>
        <a:srgbClr val="1F497D"/>
      </a:dk2>
      <a:lt2>
        <a:srgbClr val="F4F8FF"/>
      </a:lt2>
      <a:accent1>
        <a:srgbClr val="2563EB"/>
      </a:accent1>
      <a:accent2>
        <a:srgbClr val="0EA5E9"/>
      </a:accent2>
      <a:accent3>
        <a:srgbClr val="64748B"/>
      </a:accent3>
      <a:accent4>
        <a:srgbClr val="2563EB"/>
      </a:accent4>
      <a:accent5>
        <a:srgbClr val="4BACC6"/>
      </a:accent5>
      <a:accent6>
        <a:srgbClr val="F79646"/>
      </a:accent6>
      <a:hlink>
        <a:srgbClr val="0EA5E9"/>
      </a:hlink>
      <a:folHlink>
        <a:srgbClr val="64748B"/>
      </a:folHlink>
    </a:clrScheme>
    <a:fontScheme name="Free Design">
      <a:majorFont>
        <a:latin typeface="Arial"/>
        <a:ea typeface="DengXian"/>
        <a:cs typeface="Arial"/>
        <a:font script="Jpan" typeface="DengXian"/>
        <a:font script="Hang" typeface="DengXian"/>
        <a:font script="Hans" typeface="DengXian"/>
        <a:font script="Hant" typeface="DengXi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DengXian"/>
        <a:cs typeface="Arial"/>
        <a:font script="Jpan" typeface="DengXian"/>
        <a:font script="Hang" typeface="DengXian"/>
        <a:font script="Hans" typeface="DengXian"/>
        <a:font script="Hant" typeface="DengXia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1E293B"/>
      </a:dk1>
      <a:lt1>
        <a:srgbClr val="FFFFFF"/>
      </a:lt1>
      <a:dk2>
        <a:srgbClr val="1F497D"/>
      </a:dk2>
      <a:lt2>
        <a:srgbClr val="F4F8FF"/>
      </a:lt2>
      <a:accent1>
        <a:srgbClr val="2563EB"/>
      </a:accent1>
      <a:accent2>
        <a:srgbClr val="0EA5E9"/>
      </a:accent2>
      <a:accent3>
        <a:srgbClr val="64748B"/>
      </a:accent3>
      <a:accent4>
        <a:srgbClr val="2563EB"/>
      </a:accent4>
      <a:accent5>
        <a:srgbClr val="4BACC6"/>
      </a:accent5>
      <a:accent6>
        <a:srgbClr val="F79646"/>
      </a:accent6>
      <a:hlink>
        <a:srgbClr val="0EA5E9"/>
      </a:hlink>
      <a:folHlink>
        <a:srgbClr val="64748B"/>
      </a:folHlink>
    </a:clrScheme>
    <a:fontScheme name="Free Design">
      <a:majorFont>
        <a:latin typeface="Arial"/>
        <a:ea typeface="DengXian"/>
        <a:cs typeface="Arial"/>
        <a:font script="Jpan" typeface="DengXian"/>
        <a:font script="Hang" typeface="DengXian"/>
        <a:font script="Hans" typeface="DengXian"/>
        <a:font script="Hant" typeface="DengXi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DengXian"/>
        <a:cs typeface="Arial"/>
        <a:font script="Jpan" typeface="DengXian"/>
        <a:font script="Hang" typeface="DengXian"/>
        <a:font script="Hans" typeface="DengXian"/>
        <a:font script="Hant" typeface="DengXia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6517</Words>
  <Application>WPS 演示</Application>
  <PresentationFormat>On-screen Show (16:9)</PresentationFormat>
  <Paragraphs>1110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Arial</vt:lpstr>
      <vt:lpstr>等线</vt:lpstr>
      <vt:lpstr>微软雅黑</vt:lpstr>
      <vt:lpstr>Arial Unicode MS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xc</cp:lastModifiedBy>
  <cp:revision>2</cp:revision>
  <dcterms:created xsi:type="dcterms:W3CDTF">2026-08-18T07:06:00Z</dcterms:created>
  <dcterms:modified xsi:type="dcterms:W3CDTF">2026-08-18T07:17:05Z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64ED141E3ABC41A38DC4F138A1312F64_12</vt:lpwstr>
  </property>
</Properties>
</file>