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今天汇报的主题是 Open WebUI 与 WorkBuddy 的能力对标，以及基于对标结果提出的新功能方向。核心不是判断谁更强，而是回答一个更具体的问题：企业如何放心地把工作交给 Agent。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目前的 AI 产品已经可以聊天、检索、调用工具并生成文件，但企业真正关心的是授权之后会不会误改、结果是否达标、数据能否追溯以及责任如何界定。我们把能力演进概括成能回答、能执行、敢授权、可审计和可规模化，后半段才是企业采购与落地的关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Open WebUI 和 WorkBuddy 的产品重心不同，因此本次对标不把它们简单当作同类产品，而是放在同一条企业工作链上观察。我们从聊天与任务、模型、知识库、扩展、权限、API、部署和数据边界等维度，分别看平台能力、执行能力和企业治理能力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Open WebUI 的强项是把模型、RAG、Prompt、权限和开放扩展集中到一个可治理的平台里。它适合组织统一接入模型、复用知识和管理资源，但当前工具执行更偏“调用成功即可”，还缺少统一的事务、审批、验收、回滚和数据血缘闭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WorkBuddy 把 AI 放进任务、文件和办公成果的执行现场，更接近真实的工作交付。它在任务拆解、本地文件、Skills、连接器和 Office 产物方面更顺手，但模型、Prompt、知识与权限治理相对分散，完整回滚和可验证交付也仍然是机会点。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从能力边界看，Open WebUI 更擅长多模型统一入口、平台治理、自托管和开放 API；WorkBuddy 更擅长本地文件、多步骤任务、桌面办公生态和成果交付。可以把前者理解为 AI 能力平台，把后者理解为 AI 执行工作台，而企业需要的是两者之间的连接层。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两者共同面对四个缺口。第一是误改、误删和不可逆动作的安全风险；第二是审批、策略和操作审计没有形成完整闭环；第三是缺少机器可执行的完成定义；第四是引用不能完整解释数字和结论如何产生。这些缺口直接决定企业是否愿意放大授权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我们的产品机会，是把平台治理和任务执行放进一个闭环：先明确任务目标，再由 Agent 规划步骤，预演影响，触发权限与审批，执行并记录快照，自动验收，最后交付结果和审计证据。这样产品价值就从“会做事”上升到“企业敢授权”。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优先级的逻辑很明确。P0 先建立可信执行的地基，包括事务、审批、测试门禁、可验证交付和数据血缘；P1 再扩展策略、安全路由、跨平台 Agent 包、多人协作和记忆治理；P2 最后进入仿真、断点续作和合规取证等高级能力。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事务型执行框架要求每一步动作都经过统一网关。Agent 先生成计划，系统做 Dry Run 并展示 Diff，用户批准后再创建事务 Run，执行前保存快照，执行后做自动验收，成功就提交，失败就沿检查点逆向恢复。对于付款、发送邮件和远程删除等不可逆动作，默认应进入二次确认或审批。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仅有回滚还不够，企业还需要知道谁批准了动作、什么条件算完成，以及结果中的数字来自哪里。审批工作流负责风险分级与责任链，可验证交付负责机器检查空值、测试、引用和格式，内容血缘负责把段落、数字和单元格追溯到原始资料与处理步骤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首版建议聚焦文件和知识库，并要求工具具备 Dry Run，保留每一步的快照、差异和结果，同时给不可逆动作加上确认或审批。首版不需要承诺覆盖所有第三方应用，也不需要一开始就解决所有外部 API 的真回滚，先用边界清晰的资源验证核心价值。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路线分为三阶段。第一阶段夯实可信执行，包括回滚、Dry Run、不可逆拦截和执行记录；第二阶段补齐企业治理，包括审批、策略、验收、血缘和发布门禁；第三阶段扩展 Agent 包、多人协作、成本路由、记忆治理与合规取证。每一步都建立在前一阶段的信任基础上。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试点应选择高价值且风险可控的办公任务，例如合同和报价单处理、知识库更新、CRM 同步、报告引用校验以及 Office 文件生成。评价不能只看任务成功率，还要同时观察回滚、不可逆拦截、验收、审批时长、来源追溯、成本耗时和发布回归等指标。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最后需要推动五项决策：确认企业级可控执行型 Agent 方向，启动 P0 MVP，选择首批试点，明确系统、权限和审计基础设施，并确定产品、工程、安全和业务分工。Open WebUI 解决如何统一使用 AI，WorkBuddy 解决如何让 AI 完成工作，而我们的机会是解决企业如何放心地让 AI 完成工作。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penwebui-workbuddy-repor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penwebui-workbuddy-repor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Freeform 2"/>
            <p:cNvSpPr/>
            <p:nvPr/>
          </p:nvSpPr>
          <p:spPr>
            <a:xfrm>
              <a:off x="0" y="1143000"/>
              <a:ext cx="12192000" cy="4572000"/>
            </a:xfrm>
            <a:custGeom>
              <a:avLst/>
              <a:gdLst/>
              <a:ahLst/>
              <a:cxnLst/>
              <a:rect l="l" t="t" r="r" b="b"/>
              <a:pathLst>
                <a:path w="12192000" h="4572000">
                  <a:moveTo>
                    <a:pt x="0" y="0"/>
                  </a:moveTo>
                  <a:lnTo>
                    <a:pt x="12192000" y="0"/>
                  </a:lnTo>
                  <a:moveTo>
                    <a:pt x="0" y="1143000"/>
                  </a:moveTo>
                  <a:lnTo>
                    <a:pt x="12192000" y="1143000"/>
                  </a:lnTo>
                  <a:moveTo>
                    <a:pt x="0" y="2286000"/>
                  </a:moveTo>
                  <a:lnTo>
                    <a:pt x="12192000" y="2286000"/>
                  </a:lnTo>
                  <a:moveTo>
                    <a:pt x="0" y="3429000"/>
                  </a:moveTo>
                  <a:lnTo>
                    <a:pt x="12192000" y="3429000"/>
                  </a:lnTo>
                  <a:moveTo>
                    <a:pt x="0" y="4572000"/>
                  </a:moveTo>
                  <a:lnTo>
                    <a:pt x="12192000" y="4572000"/>
                  </a:lnTo>
                </a:path>
              </a:pathLst>
            </a:custGeom>
            <a:solidFill>
              <a:srgbClr val="000000">
                <a:alpha val="22000"/>
              </a:srgbClr>
            </a:solidFill>
            <a:ln w="9525">
              <a:solidFill>
                <a:schemeClr val="accent3">
                  <a:alpha val="22000"/>
                </a:schemeClr>
              </a:solidFill>
            </a:ln>
          </p:spPr>
        </p:sp>
        <p:sp>
          <p:nvSpPr>
            <p:cNvPr id="3" name="Freeform 3"/>
            <p:cNvSpPr/>
            <p:nvPr/>
          </p:nvSpPr>
          <p:spPr>
            <a:xfrm>
              <a:off x="152400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0" y="0"/>
                  </a:moveTo>
                  <a:lnTo>
                    <a:pt x="0" y="6858000"/>
                  </a:lnTo>
                  <a:moveTo>
                    <a:pt x="1524000" y="0"/>
                  </a:moveTo>
                  <a:lnTo>
                    <a:pt x="1524000" y="6858000"/>
                  </a:lnTo>
                  <a:moveTo>
                    <a:pt x="3048000" y="0"/>
                  </a:moveTo>
                  <a:lnTo>
                    <a:pt x="30480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6096000" y="0"/>
                  </a:moveTo>
                  <a:lnTo>
                    <a:pt x="6096000" y="6858000"/>
                  </a:lnTo>
                  <a:moveTo>
                    <a:pt x="7620000" y="0"/>
                  </a:moveTo>
                  <a:lnTo>
                    <a:pt x="7620000" y="6858000"/>
                  </a:lnTo>
                  <a:moveTo>
                    <a:pt x="9144000" y="0"/>
                  </a:moveTo>
                  <a:lnTo>
                    <a:pt x="9144000" y="6858000"/>
                  </a:lnTo>
                </a:path>
              </a:pathLst>
            </a:custGeom>
            <a:solidFill>
              <a:srgbClr val="000000">
                <a:alpha val="22000"/>
              </a:srgbClr>
            </a:solidFill>
            <a:ln w="9525">
              <a:solidFill>
                <a:schemeClr val="accent3">
                  <a:alpha val="22000"/>
                </a:schemeClr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410325" y="782002"/>
            <a:ext cx="4660011" cy="4282059"/>
            <a:chOff x="6410325" y="782002"/>
            <a:chExt cx="4660011" cy="4282059"/>
          </a:xfrm>
        </p:grpSpPr>
        <p:sp>
          <p:nvSpPr>
            <p:cNvPr id="5" name="Freeform 5"/>
            <p:cNvSpPr/>
            <p:nvPr/>
          </p:nvSpPr>
          <p:spPr>
            <a:xfrm>
              <a:off x="6534150" y="990600"/>
              <a:ext cx="4133850" cy="3600450"/>
            </a:xfrm>
            <a:custGeom>
              <a:avLst/>
              <a:gdLst/>
              <a:ahLst/>
              <a:cxnLst/>
              <a:rect l="l" t="t" r="r" b="b"/>
              <a:pathLst>
                <a:path w="4133850" h="3600450">
                  <a:moveTo>
                    <a:pt x="0" y="3600450"/>
                  </a:moveTo>
                  <a:cubicBezTo>
                    <a:pt x="704850" y="3009900"/>
                    <a:pt x="704850" y="1676400"/>
                    <a:pt x="1524000" y="1276350"/>
                  </a:cubicBezTo>
                  <a:cubicBezTo>
                    <a:pt x="2209800" y="933450"/>
                    <a:pt x="2628900" y="1295400"/>
                    <a:pt x="2990850" y="838200"/>
                  </a:cubicBezTo>
                  <a:cubicBezTo>
                    <a:pt x="3448050" y="266700"/>
                    <a:pt x="3714750" y="247650"/>
                    <a:pt x="4133850" y="0"/>
                  </a:cubicBezTo>
                </a:path>
              </a:pathLst>
            </a:custGeom>
            <a:noFill/>
            <a:ln w="47625">
              <a:solidFill>
                <a:schemeClr val="accent1">
                  <a:alpha val="90000"/>
                </a:scheme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6410325" y="446722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934325" y="214312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401175" y="170497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544175" y="866775"/>
              <a:ext cx="247650" cy="2476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753350" y="3219450"/>
              <a:ext cx="1657350" cy="6858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11693" y="3378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执行网关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88659" y="3639502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snapshot · diff · audit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43116" y="48587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对话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00416" y="19250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计划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786366" y="15630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审批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776966" y="7820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审计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9036" y="1756410"/>
            <a:ext cx="5182172" cy="3168396"/>
            <a:chOff x="669036" y="1756410"/>
            <a:chExt cx="5182172" cy="3168396"/>
          </a:xfrm>
        </p:grpSpPr>
        <p:sp>
          <p:nvSpPr>
            <p:cNvPr id="18" name="TextBox 18"/>
            <p:cNvSpPr txBox="1"/>
            <p:nvPr/>
          </p:nvSpPr>
          <p:spPr>
            <a:xfrm>
              <a:off x="679704" y="1756410"/>
              <a:ext cx="29038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22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内部产品 / 技术汇报 · 2026.08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9036" y="2425065"/>
              <a:ext cx="5182172" cy="11788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200"/>
                </a:lnSpc>
              </a:pPr>
              <a:r>
                <a:rPr lang="en-US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Open WebUI × WorkBuddy</a:t>
              </a:r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深度研究与新功能规划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85800" y="3695700"/>
              <a:ext cx="8191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5894" y="4056698"/>
              <a:ext cx="295991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从“能对话”走向“敢执行”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9704" y="4690110"/>
              <a:ext cx="41547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F96A7"/>
                  </a:solidFill>
                  <a:latin typeface="+mn-lt"/>
                  <a:ea typeface="+mn-ea"/>
                  <a:cs typeface="+mn-cs"/>
                </a:rPr>
                <a:t>Open WebUI：AI 能力平台 · WorkBuddy：AI 执行工作台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80466" y="6249352"/>
            <a:ext cx="4246444" cy="205359"/>
            <a:chOff x="680466" y="6249352"/>
            <a:chExt cx="4246444" cy="205359"/>
          </a:xfrm>
        </p:grpSpPr>
        <p:sp>
          <p:nvSpPr>
            <p:cNvPr id="24" name="TextBox 24"/>
            <p:cNvSpPr txBox="1"/>
            <p:nvPr/>
          </p:nvSpPr>
          <p:spPr>
            <a:xfrm>
              <a:off x="680466" y="6249352"/>
              <a:ext cx="42464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F8798"/>
                  </a:solidFill>
                  <a:latin typeface="+mn-lt"/>
                  <a:ea typeface="+mn-ea"/>
                  <a:cs typeface="+mn-cs"/>
                </a:rPr>
                <a:t>Source: supplied research materials · Internal working draft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0446" y="553402"/>
            <a:ext cx="9037034" cy="832105"/>
            <a:chOff x="520446" y="553402"/>
            <a:chExt cx="9037034" cy="832105"/>
          </a:xfrm>
        </p:grpSpPr>
        <p:sp>
          <p:nvSpPr>
            <p:cNvPr id="2" name="TextBox 2"/>
            <p:cNvSpPr txBox="1"/>
            <p:nvPr/>
          </p:nvSpPr>
          <p:spPr>
            <a:xfrm>
              <a:off x="528066" y="553402"/>
              <a:ext cx="10556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/ 结论先行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0446" y="886778"/>
              <a:ext cx="90370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企业真正要购买的，不是更多能力，而是更大的授权边界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28700" y="2552700"/>
            <a:ext cx="9753600" cy="1066800"/>
            <a:chOff x="1028700" y="2552700"/>
            <a:chExt cx="9753600" cy="1066800"/>
          </a:xfrm>
        </p:grpSpPr>
        <p:sp>
          <p:nvSpPr>
            <p:cNvPr id="5" name="Line 5"/>
            <p:cNvSpPr/>
            <p:nvPr/>
          </p:nvSpPr>
          <p:spPr>
            <a:xfrm>
              <a:off x="1562100" y="3086100"/>
              <a:ext cx="7981950" cy="9525"/>
            </a:xfrm>
            <a:custGeom>
              <a:avLst/>
              <a:gdLst/>
              <a:ahLst/>
              <a:cxnLst/>
              <a:rect l="l" t="t" r="r" b="b"/>
              <a:pathLst>
                <a:path w="7981950" h="9525">
                  <a:moveTo>
                    <a:pt x="0" y="0"/>
                  </a:moveTo>
                  <a:lnTo>
                    <a:pt x="7981950" y="0"/>
                  </a:lnTo>
                </a:path>
              </a:pathLst>
            </a:custGeom>
            <a:noFill/>
            <a:ln w="28575">
              <a:solidFill>
                <a:srgbClr val="29415A"/>
              </a:solidFill>
            </a:ln>
          </p:spPr>
        </p:sp>
        <p:sp>
          <p:nvSpPr>
            <p:cNvPr id="6" name="Polygon 6"/>
            <p:cNvSpPr/>
            <p:nvPr/>
          </p:nvSpPr>
          <p:spPr>
            <a:xfrm>
              <a:off x="2686050" y="2800350"/>
              <a:ext cx="647700" cy="571500"/>
            </a:xfrm>
            <a:custGeom>
              <a:avLst/>
              <a:gdLst/>
              <a:ahLst/>
              <a:cxnLst/>
              <a:rect l="l" t="t" r="r" b="b"/>
              <a:pathLst>
                <a:path w="647700" h="571500">
                  <a:moveTo>
                    <a:pt x="0" y="0"/>
                  </a:moveTo>
                  <a:lnTo>
                    <a:pt x="647700" y="28575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" name="Polygon 7"/>
            <p:cNvSpPr/>
            <p:nvPr/>
          </p:nvSpPr>
          <p:spPr>
            <a:xfrm>
              <a:off x="4857750" y="2800350"/>
              <a:ext cx="647700" cy="571500"/>
            </a:xfrm>
            <a:custGeom>
              <a:avLst/>
              <a:gdLst/>
              <a:ahLst/>
              <a:cxnLst/>
              <a:rect l="l" t="t" r="r" b="b"/>
              <a:pathLst>
                <a:path w="647700" h="571500">
                  <a:moveTo>
                    <a:pt x="0" y="0"/>
                  </a:moveTo>
                  <a:lnTo>
                    <a:pt x="647700" y="28575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8" name="Polygon 8"/>
            <p:cNvSpPr/>
            <p:nvPr/>
          </p:nvSpPr>
          <p:spPr>
            <a:xfrm>
              <a:off x="7029450" y="2800350"/>
              <a:ext cx="647700" cy="571500"/>
            </a:xfrm>
            <a:custGeom>
              <a:avLst/>
              <a:gdLst/>
              <a:ahLst/>
              <a:cxnLst/>
              <a:rect l="l" t="t" r="r" b="b"/>
              <a:pathLst>
                <a:path w="647700" h="571500">
                  <a:moveTo>
                    <a:pt x="0" y="0"/>
                  </a:moveTo>
                  <a:lnTo>
                    <a:pt x="647700" y="28575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28700" y="2552700"/>
              <a:ext cx="1066800" cy="10668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3200400" y="2552700"/>
              <a:ext cx="1066800" cy="10668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5372100" y="2552700"/>
              <a:ext cx="1066800" cy="10668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543800" y="2552700"/>
              <a:ext cx="1066800" cy="10668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9715500" y="2552700"/>
              <a:ext cx="1066800" cy="10668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dk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20533" y="28508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能回答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92234" y="28508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能执行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63934" y="28508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敢授权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5634" y="28508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可审计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96272" y="28508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可规模化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74064" y="33156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96A7"/>
                  </a:solidFill>
                  <a:latin typeface="+mn-lt"/>
                  <a:ea typeface="+mn-ea"/>
                  <a:cs typeface="+mn-cs"/>
                </a:rPr>
                <a:t>模型能力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75088" y="33156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96A7"/>
                  </a:solidFill>
                  <a:latin typeface="+mn-lt"/>
                  <a:ea typeface="+mn-ea"/>
                  <a:cs typeface="+mn-cs"/>
                </a:rPr>
                <a:t>工具与文件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17464" y="33156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96A7"/>
                  </a:solidFill>
                  <a:latin typeface="+mn-lt"/>
                  <a:ea typeface="+mn-ea"/>
                  <a:cs typeface="+mn-cs"/>
                </a:rPr>
                <a:t>风险边界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89164" y="33156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96A7"/>
                  </a:solidFill>
                  <a:latin typeface="+mn-lt"/>
                  <a:ea typeface="+mn-ea"/>
                  <a:cs typeface="+mn-cs"/>
                </a:rPr>
                <a:t>责任闭环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60864" y="33156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96A7"/>
                  </a:solidFill>
                  <a:latin typeface="+mn-lt"/>
                  <a:ea typeface="+mn-ea"/>
                  <a:cs typeface="+mn-cs"/>
                </a:rPr>
                <a:t>组织能力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76300" y="4572000"/>
            <a:ext cx="10439400" cy="1143000"/>
            <a:chOff x="876300" y="4572000"/>
            <a:chExt cx="10439400" cy="1143000"/>
          </a:xfrm>
        </p:grpSpPr>
        <p:sp>
          <p:nvSpPr>
            <p:cNvPr id="25" name="Rectangle 25"/>
            <p:cNvSpPr/>
            <p:nvPr/>
          </p:nvSpPr>
          <p:spPr>
            <a:xfrm>
              <a:off x="876300" y="4572000"/>
              <a:ext cx="10439400" cy="1143000"/>
            </a:xfrm>
            <a:prstGeom prst="roundRect">
              <a:avLst>
                <a:gd name="adj" fmla="val 15000"/>
              </a:avLst>
            </a:prstGeom>
            <a:solidFill>
              <a:schemeClr val="accent5"/>
            </a:solidFill>
            <a:ln w="9525">
              <a:solidFill>
                <a:srgbClr val="29415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74242" y="4788218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企业放权前要问四个问题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74242" y="5150168"/>
              <a:ext cx="69469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会不会误改 / 误删？　结果是否达标？　数据能否追溯？　谁批准、谁执行、谁负责？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28066" y="6268402"/>
            <a:ext cx="11097768" cy="205359"/>
            <a:chOff x="528066" y="6268402"/>
            <a:chExt cx="11097768" cy="205359"/>
          </a:xfrm>
        </p:grpSpPr>
        <p:sp>
          <p:nvSpPr>
            <p:cNvPr id="29" name="TextBox 29"/>
            <p:cNvSpPr txBox="1"/>
            <p:nvPr/>
          </p:nvSpPr>
          <p:spPr>
            <a:xfrm>
              <a:off x="528066" y="6268402"/>
              <a:ext cx="4091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8798"/>
                  </a:solidFill>
                  <a:latin typeface="+mn-lt"/>
                  <a:ea typeface="+mn-ea"/>
                  <a:cs typeface="+mn-cs"/>
                </a:rPr>
                <a:t>核心判断：企业 Agent 的竞争重点从“能力丰富”转向“执行可信”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459680" y="62684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F879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0446" y="553402"/>
            <a:ext cx="6979777" cy="1136905"/>
            <a:chOff x="520446" y="553402"/>
            <a:chExt cx="6979777" cy="1136905"/>
          </a:xfrm>
        </p:grpSpPr>
        <p:sp>
          <p:nvSpPr>
            <p:cNvPr id="2" name="TextBox 2"/>
            <p:cNvSpPr txBox="1"/>
            <p:nvPr/>
          </p:nvSpPr>
          <p:spPr>
            <a:xfrm>
              <a:off x="528066" y="553402"/>
              <a:ext cx="10556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/ 研究框架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0446" y="791528"/>
              <a:ext cx="6979777" cy="89877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Open WebUI 与 WorkBuddy 不是同一种产品，但可以在同一条工作链上对标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85800" y="1771650"/>
            <a:ext cx="10820400" cy="3657600"/>
            <a:chOff x="685800" y="1771650"/>
            <a:chExt cx="10820400" cy="3657600"/>
          </a:xfrm>
        </p:grpSpPr>
        <p:sp>
          <p:nvSpPr>
            <p:cNvPr id="5" name="Rectangle 5"/>
            <p:cNvSpPr/>
            <p:nvPr/>
          </p:nvSpPr>
          <p:spPr>
            <a:xfrm>
              <a:off x="685800" y="1771650"/>
              <a:ext cx="10820400" cy="1066800"/>
            </a:xfrm>
            <a:prstGeom prst="roundRect">
              <a:avLst>
                <a:gd name="adj" fmla="val 16071"/>
              </a:avLst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85800" y="3067050"/>
              <a:ext cx="10820400" cy="1066800"/>
            </a:xfrm>
            <a:prstGeom prst="roundRect">
              <a:avLst>
                <a:gd name="adj" fmla="val 16071"/>
              </a:avLst>
            </a:prstGeom>
            <a:solidFill>
              <a:schemeClr val="accent5"/>
            </a:solidFill>
            <a:ln w="19050">
              <a:solidFill>
                <a:schemeClr val="accent3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4362450"/>
              <a:ext cx="10820400" cy="1066800"/>
            </a:xfrm>
            <a:prstGeom prst="roundRect">
              <a:avLst>
                <a:gd name="adj" fmla="val 16071"/>
              </a:avLst>
            </a:prstGeom>
            <a:solidFill>
              <a:schemeClr val="accent5"/>
            </a:solidFill>
            <a:ln w="1905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1456" y="19773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平台能力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3742" y="2330768"/>
              <a:ext cx="35908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聊天、模型、知识库、Prompt、API 与扩展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1456" y="32727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执行能力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3742" y="362616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任务拆解、工具调用、本地文件与成果交付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1456" y="4568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企业治理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3742" y="492156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权限、审批、验收、审计、数据边界与运营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305300" y="2000250"/>
              <a:ext cx="9525" cy="3200400"/>
            </a:xfrm>
            <a:custGeom>
              <a:avLst/>
              <a:gdLst/>
              <a:ahLst/>
              <a:cxnLst/>
              <a:rect l="l" t="t" r="r" b="b"/>
              <a:pathLst>
                <a:path w="9525"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noFill/>
            <a:ln w="9525">
              <a:solidFill>
                <a:srgbClr val="29415A"/>
              </a:solidFill>
              <a:custDash>
                <a:ds d="400000" sp="800000"/>
              </a:custDash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17542" y="2025968"/>
              <a:ext cx="10197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Open WebUI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19066" y="2363152"/>
              <a:ext cx="2213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96A7"/>
                  </a:solidFill>
                  <a:latin typeface="+mn-lt"/>
                  <a:ea typeface="+mn-ea"/>
                  <a:cs typeface="+mn-cs"/>
                </a:rPr>
                <a:t>自托管 / 多模型 / 多用户 AI 平台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17542" y="3321368"/>
              <a:ext cx="9614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WorkBuddy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19066" y="3658552"/>
              <a:ext cx="21733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96A7"/>
                  </a:solidFill>
                  <a:latin typeface="+mn-lt"/>
                  <a:ea typeface="+mn-ea"/>
                  <a:cs typeface="+mn-cs"/>
                </a:rPr>
                <a:t>桌面端 / 任务导向 / 办公成果交付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17542" y="4616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共同问题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19066" y="4953952"/>
              <a:ext cx="33636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96A7"/>
                  </a:solidFill>
                  <a:latin typeface="+mn-lt"/>
                  <a:ea typeface="+mn-ea"/>
                  <a:cs typeface="+mn-cs"/>
                </a:rPr>
                <a:t>如何让 AI 的执行边界可控、结果可验、过程可追溯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61804" y="20421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对标维度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61804" y="234696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聊天 / 任务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61804" y="333756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 / 工具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61804" y="3642360"/>
              <a:ext cx="7888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 / API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61804" y="463296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部署 / 数据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61804" y="493776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 / 审计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28066" y="6268402"/>
            <a:ext cx="11097768" cy="205359"/>
            <a:chOff x="528066" y="6268402"/>
            <a:chExt cx="110977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528066" y="6268402"/>
              <a:ext cx="47848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8798"/>
                  </a:solidFill>
                  <a:latin typeface="+mn-lt"/>
                  <a:ea typeface="+mn-ea"/>
                  <a:cs typeface="+mn-cs"/>
                </a:rPr>
                <a:t>研究材料：Open WebUI 深度研究、WorkBuddy 对标矩阵、实现新功能清单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459680" y="62684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F879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0446" y="553402"/>
            <a:ext cx="9891901" cy="832105"/>
            <a:chOff x="520446" y="553402"/>
            <a:chExt cx="9891901" cy="832105"/>
          </a:xfrm>
        </p:grpSpPr>
        <p:sp>
          <p:nvSpPr>
            <p:cNvPr id="2" name="TextBox 2"/>
            <p:cNvSpPr txBox="1"/>
            <p:nvPr/>
          </p:nvSpPr>
          <p:spPr>
            <a:xfrm>
              <a:off x="528066" y="553402"/>
              <a:ext cx="14090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/ Open WebUI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0446" y="886778"/>
              <a:ext cx="98919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Open WebUI 把模型、知识和权限组织成了一个可治理的平台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62050" y="1771650"/>
            <a:ext cx="3238500" cy="3524250"/>
            <a:chOff x="1162050" y="1771650"/>
            <a:chExt cx="3238500" cy="3524250"/>
          </a:xfrm>
        </p:grpSpPr>
        <p:sp>
          <p:nvSpPr>
            <p:cNvPr id="5" name="Ellipse 5"/>
            <p:cNvSpPr/>
            <p:nvPr/>
          </p:nvSpPr>
          <p:spPr>
            <a:xfrm>
              <a:off x="1524000" y="2362200"/>
              <a:ext cx="2514600" cy="2514600"/>
            </a:xfrm>
            <a:prstGeom prst="ellipse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2228850" y="306705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489083" y="3384232"/>
              <a:ext cx="584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0B1220"/>
                  </a:solidFill>
                  <a:latin typeface="+mn-lt"/>
                  <a:ea typeface="+mn-ea"/>
                  <a:cs typeface="+mn-cs"/>
                </a:rPr>
                <a:t>Open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47365" y="3650932"/>
              <a:ext cx="6678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0B1220"/>
                  </a:solidFill>
                  <a:latin typeface="+mn-lt"/>
                  <a:ea typeface="+mn-ea"/>
                  <a:cs typeface="+mn-cs"/>
                </a:rPr>
                <a:t>WebUI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2419350" y="1771650"/>
              <a:ext cx="723900" cy="723900"/>
            </a:xfrm>
            <a:prstGeom prst="ellipse">
              <a:avLst/>
            </a:prstGeom>
            <a:solidFill>
              <a:srgbClr val="0F1A2C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162050" y="3257550"/>
              <a:ext cx="723900" cy="723900"/>
            </a:xfrm>
            <a:prstGeom prst="ellipse">
              <a:avLst/>
            </a:prstGeom>
            <a:solidFill>
              <a:srgbClr val="0F1A2C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3676650" y="3257550"/>
              <a:ext cx="723900" cy="723900"/>
            </a:xfrm>
            <a:prstGeom prst="ellipse">
              <a:avLst/>
            </a:prstGeom>
            <a:solidFill>
              <a:srgbClr val="0F1A2C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676400" y="4572000"/>
              <a:ext cx="723900" cy="723900"/>
            </a:xfrm>
            <a:prstGeom prst="ellipse">
              <a:avLst/>
            </a:prstGeom>
            <a:solidFill>
              <a:srgbClr val="0F1A2C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3162300" y="4572000"/>
              <a:ext cx="723900" cy="723900"/>
            </a:xfrm>
            <a:prstGeom prst="ellipse">
              <a:avLst/>
            </a:prstGeom>
            <a:solidFill>
              <a:srgbClr val="0F1A2C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613660" y="2061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77086" y="354711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70960" y="35471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12772" y="4861560"/>
              <a:ext cx="2511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13938" y="4861560"/>
              <a:ext cx="4206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Tools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885950" y="2495550"/>
              <a:ext cx="1790700" cy="2133600"/>
            </a:xfrm>
            <a:custGeom>
              <a:avLst/>
              <a:gdLst/>
              <a:ahLst/>
              <a:cxnLst/>
              <a:rect l="l" t="t" r="r" b="b"/>
              <a:pathLst>
                <a:path w="1790700" h="2133600">
                  <a:moveTo>
                    <a:pt x="895350" y="0"/>
                  </a:moveTo>
                  <a:lnTo>
                    <a:pt x="895350" y="571500"/>
                  </a:lnTo>
                  <a:moveTo>
                    <a:pt x="0" y="1123950"/>
                  </a:moveTo>
                  <a:lnTo>
                    <a:pt x="342900" y="1123950"/>
                  </a:lnTo>
                  <a:moveTo>
                    <a:pt x="1447800" y="1123950"/>
                  </a:moveTo>
                  <a:lnTo>
                    <a:pt x="1790700" y="1123950"/>
                  </a:lnTo>
                  <a:moveTo>
                    <a:pt x="438150" y="2133600"/>
                  </a:moveTo>
                  <a:lnTo>
                    <a:pt x="685800" y="1676400"/>
                  </a:lnTo>
                  <a:moveTo>
                    <a:pt x="1352550" y="1676400"/>
                  </a:moveTo>
                  <a:lnTo>
                    <a:pt x="1504950" y="2133600"/>
                  </a:lnTo>
                </a:path>
              </a:pathLst>
            </a:custGeom>
            <a:solidFill>
              <a:srgbClr val="000000">
                <a:alpha val="70000"/>
              </a:srgbClr>
            </a:solidFill>
            <a:ln w="19050">
              <a:solidFill>
                <a:schemeClr val="accent1">
                  <a:alpha val="70000"/>
                </a:schemeClr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5421630" y="1933575"/>
            <a:ext cx="6084570" cy="3404426"/>
            <a:chOff x="5421630" y="1933575"/>
            <a:chExt cx="6084570" cy="3404426"/>
          </a:xfrm>
        </p:grpSpPr>
        <p:sp>
          <p:nvSpPr>
            <p:cNvPr id="21" name="TextBox 21"/>
            <p:cNvSpPr txBox="1"/>
            <p:nvPr/>
          </p:nvSpPr>
          <p:spPr>
            <a:xfrm>
              <a:off x="5421630" y="19335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平台优势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22392" y="2311718"/>
              <a:ext cx="29463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统一接入多模型与 OpenAI 兼容 API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22392" y="2654618"/>
              <a:ext cx="30784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知识库、RAG、Prompt 可复用与共享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22392" y="29975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用户、群组、资源权限与企业认证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22392" y="3340418"/>
              <a:ext cx="3412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Tools / MCP / Functions / Pipeline 扩展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5429250" y="3829050"/>
              <a:ext cx="6076950" cy="9525"/>
            </a:xfrm>
            <a:custGeom>
              <a:avLst/>
              <a:gdLst/>
              <a:ahLst/>
              <a:cxnLst/>
              <a:rect l="l" t="t" r="r" b="b"/>
              <a:pathLst>
                <a:path w="6076950" h="9525">
                  <a:moveTo>
                    <a:pt x="0" y="0"/>
                  </a:moveTo>
                  <a:lnTo>
                    <a:pt x="6076950" y="0"/>
                  </a:lnTo>
                </a:path>
              </a:pathLst>
            </a:custGeom>
            <a:noFill/>
            <a:ln w="9525">
              <a:solidFill>
                <a:srgbClr val="29415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21630" y="40100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平台短板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22392" y="438816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更偏聊天与配置，工具执行缺少统一事务保障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22392" y="473106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审批、验收、回滚、数据血缘尚未形成闭环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22392" y="50739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能把能力集中起来，但还不能自动保证交付可信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28066" y="6268402"/>
            <a:ext cx="11097768" cy="205359"/>
            <a:chOff x="528066" y="6268402"/>
            <a:chExt cx="11097768" cy="205359"/>
          </a:xfrm>
        </p:grpSpPr>
        <p:sp>
          <p:nvSpPr>
            <p:cNvPr id="32" name="TextBox 32"/>
            <p:cNvSpPr txBox="1"/>
            <p:nvPr/>
          </p:nvSpPr>
          <p:spPr>
            <a:xfrm>
              <a:off x="528066" y="6268402"/>
              <a:ext cx="5990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8798"/>
                  </a:solidFill>
                  <a:latin typeface="+mn-lt"/>
                  <a:ea typeface="+mn-ea"/>
                  <a:cs typeface="+mn-cs"/>
                </a:rPr>
                <a:t>Source: open-webui-research-integrated.md · OpenWebUI-WorkBuddy功能对比矩阵.md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459680" y="62684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F879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0446" y="553402"/>
            <a:ext cx="9921454" cy="832105"/>
            <a:chOff x="520446" y="553402"/>
            <a:chExt cx="9921454" cy="832105"/>
          </a:xfrm>
        </p:grpSpPr>
        <p:sp>
          <p:nvSpPr>
            <p:cNvPr id="2" name="TextBox 2"/>
            <p:cNvSpPr txBox="1"/>
            <p:nvPr/>
          </p:nvSpPr>
          <p:spPr>
            <a:xfrm>
              <a:off x="528066" y="553402"/>
              <a:ext cx="13356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WorkBuddy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0446" y="886778"/>
              <a:ext cx="99214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WorkBuddy 把 AI 直接放进任务、文件和办公成果的执行现场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5800" y="2095500"/>
            <a:ext cx="9772650" cy="1123950"/>
            <a:chOff x="685800" y="2095500"/>
            <a:chExt cx="9772650" cy="1123950"/>
          </a:xfrm>
        </p:grpSpPr>
        <p:sp>
          <p:nvSpPr>
            <p:cNvPr id="5" name="Rectangle 5"/>
            <p:cNvSpPr/>
            <p:nvPr/>
          </p:nvSpPr>
          <p:spPr>
            <a:xfrm>
              <a:off x="685800" y="2095500"/>
              <a:ext cx="2000250" cy="1123950"/>
            </a:xfrm>
            <a:prstGeom prst="roundRect">
              <a:avLst>
                <a:gd name="adj" fmla="val 15254"/>
              </a:avLst>
            </a:prstGeom>
            <a:solidFill>
              <a:schemeClr val="accent5"/>
            </a:solidFill>
            <a:ln w="19050">
              <a:solidFill>
                <a:schemeClr val="accent3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3276600" y="2095500"/>
              <a:ext cx="2000250" cy="1123950"/>
            </a:xfrm>
            <a:prstGeom prst="roundRect">
              <a:avLst>
                <a:gd name="adj" fmla="val 15254"/>
              </a:avLst>
            </a:prstGeom>
            <a:solidFill>
              <a:schemeClr val="accent5"/>
            </a:solidFill>
            <a:ln w="19050">
              <a:solidFill>
                <a:schemeClr val="accent3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867400" y="2095500"/>
              <a:ext cx="2000250" cy="1123950"/>
            </a:xfrm>
            <a:prstGeom prst="roundRect">
              <a:avLst>
                <a:gd name="adj" fmla="val 15254"/>
              </a:avLst>
            </a:prstGeom>
            <a:solidFill>
              <a:schemeClr val="accent5"/>
            </a:solidFill>
            <a:ln w="19050">
              <a:solidFill>
                <a:schemeClr val="accent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458200" y="2095500"/>
              <a:ext cx="2000250" cy="1123950"/>
            </a:xfrm>
            <a:prstGeom prst="roundRect">
              <a:avLst>
                <a:gd name="adj" fmla="val 15254"/>
              </a:avLst>
            </a:prstGeom>
            <a:solidFill>
              <a:schemeClr val="accent5"/>
            </a:solidFill>
            <a:ln w="19050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2686050" y="2657475"/>
              <a:ext cx="590550" cy="9525"/>
            </a:xfrm>
            <a:custGeom>
              <a:avLst/>
              <a:gdLst/>
              <a:ahLst/>
              <a:cxnLst/>
              <a:rect l="l" t="t" r="r" b="b"/>
              <a:pathLst>
                <a:path w="590550" h="9525">
                  <a:moveTo>
                    <a:pt x="0" y="0"/>
                  </a:moveTo>
                  <a:lnTo>
                    <a:pt x="5905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5276850" y="2657475"/>
              <a:ext cx="590550" cy="9525"/>
            </a:xfrm>
            <a:custGeom>
              <a:avLst/>
              <a:gdLst/>
              <a:ahLst/>
              <a:cxnLst/>
              <a:rect l="l" t="t" r="r" b="b"/>
              <a:pathLst>
                <a:path w="590550" h="9525">
                  <a:moveTo>
                    <a:pt x="0" y="0"/>
                  </a:moveTo>
                  <a:lnTo>
                    <a:pt x="5905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7867650" y="2657475"/>
              <a:ext cx="590550" cy="9525"/>
            </a:xfrm>
            <a:custGeom>
              <a:avLst/>
              <a:gdLst/>
              <a:ahLst/>
              <a:cxnLst/>
              <a:rect l="l" t="t" r="r" b="b"/>
              <a:pathLst>
                <a:path w="590550" h="9525">
                  <a:moveTo>
                    <a:pt x="0" y="0"/>
                  </a:moveTo>
                  <a:lnTo>
                    <a:pt x="5905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3181350" y="2562225"/>
              <a:ext cx="152400" cy="190500"/>
            </a:xfrm>
            <a:custGeom>
              <a:avLst/>
              <a:gdLst/>
              <a:ahLst/>
              <a:cxnLst/>
              <a:rect l="l" t="t" r="r" b="b"/>
              <a:pathLst>
                <a:path w="152400" h="190500">
                  <a:moveTo>
                    <a:pt x="0" y="0"/>
                  </a:moveTo>
                  <a:lnTo>
                    <a:pt x="1524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3" name="Polygon 13"/>
            <p:cNvSpPr/>
            <p:nvPr/>
          </p:nvSpPr>
          <p:spPr>
            <a:xfrm>
              <a:off x="5772150" y="2562225"/>
              <a:ext cx="152400" cy="190500"/>
            </a:xfrm>
            <a:custGeom>
              <a:avLst/>
              <a:gdLst/>
              <a:ahLst/>
              <a:cxnLst/>
              <a:rect l="l" t="t" r="r" b="b"/>
              <a:pathLst>
                <a:path w="152400" h="190500">
                  <a:moveTo>
                    <a:pt x="0" y="0"/>
                  </a:moveTo>
                  <a:lnTo>
                    <a:pt x="1524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4" name="Polygon 14"/>
            <p:cNvSpPr/>
            <p:nvPr/>
          </p:nvSpPr>
          <p:spPr>
            <a:xfrm>
              <a:off x="8362950" y="2562225"/>
              <a:ext cx="152400" cy="190500"/>
            </a:xfrm>
            <a:custGeom>
              <a:avLst/>
              <a:gdLst/>
              <a:ahLst/>
              <a:cxnLst/>
              <a:rect l="l" t="t" r="r" b="b"/>
              <a:pathLst>
                <a:path w="152400" h="190500">
                  <a:moveTo>
                    <a:pt x="0" y="0"/>
                  </a:moveTo>
                  <a:lnTo>
                    <a:pt x="1524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44314" y="23555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8649" y="2727960"/>
              <a:ext cx="15145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拆解 / 长任务 / 并行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01885" y="23555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本地文件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19449" y="2727960"/>
              <a:ext cx="15145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读取 / 修改 / 批处理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95650" y="2355532"/>
              <a:ext cx="13437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Skills + MCP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83909" y="272796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连接器 / 工作流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983485" y="23555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办公成果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73579" y="2727960"/>
              <a:ext cx="15694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Office / 分享 / 交付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85800" y="4095750"/>
            <a:ext cx="10572750" cy="1428750"/>
            <a:chOff x="685800" y="4095750"/>
            <a:chExt cx="10572750" cy="1428750"/>
          </a:xfrm>
        </p:grpSpPr>
        <p:sp>
          <p:nvSpPr>
            <p:cNvPr id="24" name="Rectangle 24"/>
            <p:cNvSpPr/>
            <p:nvPr/>
          </p:nvSpPr>
          <p:spPr>
            <a:xfrm>
              <a:off x="685800" y="4095750"/>
              <a:ext cx="5048250" cy="1428750"/>
            </a:xfrm>
            <a:prstGeom prst="roundRect">
              <a:avLst>
                <a:gd name="adj" fmla="val 12000"/>
              </a:avLst>
            </a:prstGeom>
            <a:solidFill>
              <a:srgbClr val="10233A"/>
            </a:solidFill>
            <a:ln w="9525">
              <a:solidFill>
                <a:schemeClr val="accent3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00750" y="4095750"/>
              <a:ext cx="5257800" cy="1428750"/>
            </a:xfrm>
            <a:prstGeom prst="roundRect">
              <a:avLst>
                <a:gd name="adj" fmla="val 12000"/>
              </a:avLst>
            </a:prstGeom>
            <a:solidFill>
              <a:srgbClr val="1F1D18"/>
            </a:solidFill>
            <a:ln w="9525">
              <a:solidFill>
                <a:schemeClr val="accent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82980" y="43148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执行优势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3742" y="4692968"/>
              <a:ext cx="43339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更接近业务结果：任务拆解、文件操作、Office 交付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4504" y="5052060"/>
              <a:ext cx="3481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企业版补充 Managed Agents、SSO 与组织管理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97930" y="43148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平台短板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98692" y="4692968"/>
              <a:ext cx="34075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模型、Prompt、知识与权限治理仍较分散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99454" y="505206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本地执行强，但事务回滚与可验证交付仍不足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28066" y="6268402"/>
            <a:ext cx="11097768" cy="205359"/>
            <a:chOff x="528066" y="6268402"/>
            <a:chExt cx="11097768" cy="205359"/>
          </a:xfrm>
        </p:grpSpPr>
        <p:sp>
          <p:nvSpPr>
            <p:cNvPr id="33" name="TextBox 33"/>
            <p:cNvSpPr txBox="1"/>
            <p:nvPr/>
          </p:nvSpPr>
          <p:spPr>
            <a:xfrm>
              <a:off x="528066" y="6268402"/>
              <a:ext cx="3282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8798"/>
                  </a:solidFill>
                  <a:latin typeface="+mn-lt"/>
                  <a:ea typeface="+mn-ea"/>
                  <a:cs typeface="+mn-cs"/>
                </a:rPr>
                <a:t>Source: OpenWebUI-WorkBuddy功能对比矩阵.md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459680" y="62684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F879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0446" y="553402"/>
            <a:ext cx="11089259" cy="832105"/>
            <a:chOff x="520446" y="553402"/>
            <a:chExt cx="11089259" cy="832105"/>
          </a:xfrm>
        </p:grpSpPr>
        <p:sp>
          <p:nvSpPr>
            <p:cNvPr id="2" name="TextBox 2"/>
            <p:cNvSpPr txBox="1"/>
            <p:nvPr/>
          </p:nvSpPr>
          <p:spPr>
            <a:xfrm>
              <a:off x="528066" y="553402"/>
              <a:ext cx="10556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 / 对标结论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0446" y="886778"/>
              <a:ext cx="110892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平台治理与任务执行正好互补，组合后才接近企业 Agent 的完整形态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52450" y="1657350"/>
            <a:ext cx="11049000" cy="4057650"/>
            <a:chOff x="552450" y="1657350"/>
            <a:chExt cx="11049000" cy="4057650"/>
          </a:xfrm>
        </p:grpSpPr>
        <p:sp>
          <p:nvSpPr>
            <p:cNvPr id="5" name="Rectangle 5"/>
            <p:cNvSpPr/>
            <p:nvPr/>
          </p:nvSpPr>
          <p:spPr>
            <a:xfrm>
              <a:off x="552450" y="1657350"/>
              <a:ext cx="11049000" cy="4057650"/>
            </a:xfrm>
            <a:prstGeom prst="roundRect">
              <a:avLst>
                <a:gd name="adj" fmla="val 3756"/>
              </a:avLst>
            </a:prstGeom>
            <a:solidFill>
              <a:schemeClr val="accent5"/>
            </a:solidFill>
            <a:ln w="9525">
              <a:solidFill>
                <a:srgbClr val="29415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52450" y="1657350"/>
              <a:ext cx="11049000" cy="533400"/>
            </a:xfrm>
            <a:prstGeom prst="roundRect">
              <a:avLst>
                <a:gd name="adj" fmla="val 28571"/>
              </a:avLst>
            </a:prstGeom>
            <a:solidFill>
              <a:srgbClr val="17283E"/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552450" y="2190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29415A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905250" y="1657350"/>
              <a:ext cx="9525" cy="4057650"/>
            </a:xfrm>
            <a:custGeom>
              <a:avLst/>
              <a:gdLst/>
              <a:ahLst/>
              <a:cxnLst/>
              <a:rect l="l" t="t" r="r" b="b"/>
              <a:pathLst>
                <a:path w="9525" h="4057650">
                  <a:moveTo>
                    <a:pt x="0" y="0"/>
                  </a:moveTo>
                  <a:lnTo>
                    <a:pt x="0" y="4057650"/>
                  </a:lnTo>
                </a:path>
              </a:pathLst>
            </a:custGeom>
            <a:noFill/>
            <a:ln w="9525">
              <a:solidFill>
                <a:srgbClr val="29415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334250" y="1657350"/>
              <a:ext cx="9525" cy="4057650"/>
            </a:xfrm>
            <a:custGeom>
              <a:avLst/>
              <a:gdLst/>
              <a:ahLst/>
              <a:cxnLst/>
              <a:rect l="l" t="t" r="r" b="b"/>
              <a:pathLst>
                <a:path w="9525" h="4057650">
                  <a:moveTo>
                    <a:pt x="0" y="0"/>
                  </a:moveTo>
                  <a:lnTo>
                    <a:pt x="0" y="4057650"/>
                  </a:lnTo>
                </a:path>
              </a:pathLst>
            </a:custGeom>
            <a:noFill/>
            <a:ln w="9525">
              <a:solidFill>
                <a:srgbClr val="29415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2104" y="1870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能力方向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75404" y="1870710"/>
              <a:ext cx="13511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 WebUI 更优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04404" y="1870710"/>
              <a:ext cx="12917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WorkBuddy 更优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832104" y="2461260"/>
              <a:ext cx="8653707" cy="2901696"/>
              <a:chOff x="832104" y="2461260"/>
              <a:chExt cx="8653707" cy="2901696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832104" y="2461260"/>
                <a:ext cx="19507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多模型统一入口与横向比较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375404" y="2461260"/>
                <a:ext cx="14903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统一接入 / 同题比较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804404" y="2461260"/>
                <a:ext cx="107708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Auto 自动选模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32104" y="2994660"/>
                <a:ext cx="24255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模型、知识库、Prompt 集中治理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375404" y="2994660"/>
                <a:ext cx="167609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资源绑定 / 版本 / 权限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804404" y="2994660"/>
                <a:ext cx="163609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案例式 Prompt + Skill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32104" y="3528060"/>
                <a:ext cx="17891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本地文件和办公任务执行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375404" y="3528060"/>
                <a:ext cx="12070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工具与 API 接入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804404" y="3528060"/>
                <a:ext cx="156949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桌面 / 文件 / Office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32104" y="4061460"/>
                <a:ext cx="162763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多步骤任务与成果交付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375404" y="406146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聊天与上下文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804404" y="4061460"/>
                <a:ext cx="14903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任务状态 / 工作空间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32104" y="4594860"/>
                <a:ext cx="21799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自托管、数据边界与开放 API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375404" y="4594860"/>
                <a:ext cx="14903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部署可控 / 网关成熟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804404" y="4594860"/>
                <a:ext cx="150997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本机 Key / 开箱即用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32104" y="5128260"/>
                <a:ext cx="21122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桌面环境、办公生态与低运维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375404" y="5128260"/>
                <a:ext cx="14660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自托管避免平台锁定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804404" y="5128260"/>
                <a:ext cx="16814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连接器 / 托管 Runtime</a:t>
                </a:r>
              </a:p>
            </p:txBody>
          </p:sp>
        </p:grpSp>
        <p:sp>
          <p:nvSpPr>
            <p:cNvPr id="32" name="Line 32"/>
            <p:cNvSpPr/>
            <p:nvPr/>
          </p:nvSpPr>
          <p:spPr>
            <a:xfrm>
              <a:off x="552450" y="2857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20364E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552450" y="3390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20364E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552450" y="3924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20364E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552450" y="44577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20364E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552450" y="49911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20364E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78180" y="5991225"/>
            <a:ext cx="6908534" cy="293370"/>
            <a:chOff x="678180" y="5991225"/>
            <a:chExt cx="6908534" cy="293370"/>
          </a:xfrm>
        </p:grpSpPr>
        <p:sp>
          <p:nvSpPr>
            <p:cNvPr id="38" name="TextBox 38"/>
            <p:cNvSpPr txBox="1"/>
            <p:nvPr/>
          </p:nvSpPr>
          <p:spPr>
            <a:xfrm>
              <a:off x="678180" y="5991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一句话：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554480" y="5991225"/>
              <a:ext cx="6032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Open WebUI 更像 AI 能力平台，WorkBuddy 更像 AI 执行工作台。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459680" y="65351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F8798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0446" y="553402"/>
            <a:ext cx="6605730" cy="1136905"/>
            <a:chOff x="520446" y="553402"/>
            <a:chExt cx="6605730" cy="1136905"/>
          </a:xfrm>
        </p:grpSpPr>
        <p:sp>
          <p:nvSpPr>
            <p:cNvPr id="2" name="TextBox 2"/>
            <p:cNvSpPr txBox="1"/>
            <p:nvPr/>
          </p:nvSpPr>
          <p:spPr>
            <a:xfrm>
              <a:off x="528066" y="553402"/>
              <a:ext cx="10556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 / 共同空白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0446" y="791528"/>
              <a:ext cx="6605730" cy="89877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真正阻碍企业放权的，不是 Agent 不会做，而是出了问题无法恢复和追责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90600" y="1809750"/>
            <a:ext cx="10210800" cy="3829050"/>
            <a:chOff x="990600" y="1809750"/>
            <a:chExt cx="10210800" cy="3829050"/>
          </a:xfrm>
        </p:grpSpPr>
        <p:sp>
          <p:nvSpPr>
            <p:cNvPr id="5" name="Ellipse 5"/>
            <p:cNvSpPr/>
            <p:nvPr/>
          </p:nvSpPr>
          <p:spPr>
            <a:xfrm>
              <a:off x="4667250" y="2247900"/>
              <a:ext cx="2857500" cy="2857500"/>
            </a:xfrm>
            <a:prstGeom prst="ellipse">
              <a:avLst/>
            </a:prstGeom>
            <a:solidFill>
              <a:schemeClr val="accent5"/>
            </a:solidFill>
            <a:ln w="19050">
              <a:solidFill>
                <a:srgbClr val="29415A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5372100" y="2952750"/>
              <a:ext cx="1447800" cy="1447800"/>
            </a:xfrm>
            <a:prstGeom prst="ellipse">
              <a:avLst/>
            </a:prstGeom>
            <a:solidFill>
              <a:schemeClr val="accent2">
                <a:alpha val="95000"/>
              </a:scheme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64327" y="34385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B1220"/>
                  </a:solidFill>
                  <a:latin typeface="+mn-lt"/>
                  <a:ea typeface="+mn-ea"/>
                  <a:cs typeface="+mn-cs"/>
                </a:rPr>
                <a:t>企业放权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309006" y="3728085"/>
              <a:ext cx="1573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B1220"/>
                  </a:solidFill>
                  <a:latin typeface="+mn-lt"/>
                  <a:ea typeface="+mn-ea"/>
                  <a:cs typeface="+mn-cs"/>
                </a:rPr>
                <a:t>能否把动作交给 AI？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0" y="228600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6667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381500" y="3676650"/>
              <a:ext cx="1000125" cy="9525"/>
            </a:xfrm>
            <a:custGeom>
              <a:avLst/>
              <a:gdLst/>
              <a:ahLst/>
              <a:cxnLst/>
              <a:rect l="l" t="t" r="r" b="b"/>
              <a:pathLst>
                <a:path w="1000125" h="9525">
                  <a:moveTo>
                    <a:pt x="1000125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810375" y="3676650"/>
              <a:ext cx="1000125" cy="9525"/>
            </a:xfrm>
            <a:custGeom>
              <a:avLst/>
              <a:gdLst/>
              <a:ahLst/>
              <a:cxnLst/>
              <a:rect l="l" t="t" r="r" b="b"/>
              <a:pathLst>
                <a:path w="1000125" h="9525">
                  <a:moveTo>
                    <a:pt x="0" y="0"/>
                  </a:moveTo>
                  <a:lnTo>
                    <a:pt x="1000125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096000" y="440055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762500" y="1809750"/>
              <a:ext cx="2667000" cy="628650"/>
            </a:xfrm>
            <a:prstGeom prst="roundRect">
              <a:avLst>
                <a:gd name="adj" fmla="val 24242"/>
              </a:avLst>
            </a:prstGeom>
            <a:solidFill>
              <a:srgbClr val="1F1D18"/>
            </a:solidFill>
            <a:ln w="9525">
              <a:solidFill>
                <a:schemeClr val="accent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990600" y="3352800"/>
              <a:ext cx="2667000" cy="628650"/>
            </a:xfrm>
            <a:prstGeom prst="roundRect">
              <a:avLst>
                <a:gd name="adj" fmla="val 24242"/>
              </a:avLst>
            </a:prstGeom>
            <a:solidFill>
              <a:srgbClr val="1F1D18"/>
            </a:solidFill>
            <a:ln w="9525">
              <a:solidFill>
                <a:schemeClr val="accent2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8534400" y="3352800"/>
              <a:ext cx="2667000" cy="628650"/>
            </a:xfrm>
            <a:prstGeom prst="roundRect">
              <a:avLst>
                <a:gd name="adj" fmla="val 24242"/>
              </a:avLst>
            </a:prstGeom>
            <a:solidFill>
              <a:srgbClr val="1F1D18"/>
            </a:solidFill>
            <a:ln w="9525">
              <a:solidFill>
                <a:schemeClr val="accent2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762500" y="5010150"/>
              <a:ext cx="2667000" cy="628650"/>
            </a:xfrm>
            <a:prstGeom prst="roundRect">
              <a:avLst>
                <a:gd name="adj" fmla="val 24242"/>
              </a:avLst>
            </a:prstGeom>
            <a:solidFill>
              <a:srgbClr val="1F1D18"/>
            </a:solidFill>
            <a:ln w="952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87324" y="19226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执行安全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38410" y="2193131"/>
              <a:ext cx="1715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误改 / 误删 / 不可逆动作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15424" y="346567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过程治理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41897" y="3736181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审批 / 策略 / 操作审计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9224" y="346567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质量保障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85697" y="3736181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验收 / 测试 / 发布门禁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87324" y="51230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结果可信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13797" y="5393531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来源 / 计算 / 数据血缘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8066" y="6268402"/>
            <a:ext cx="11097768" cy="205359"/>
            <a:chOff x="528066" y="6268402"/>
            <a:chExt cx="110977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528066" y="6268402"/>
              <a:ext cx="31698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8798"/>
                  </a:solidFill>
                  <a:latin typeface="+mn-lt"/>
                  <a:ea typeface="+mn-ea"/>
                  <a:cs typeface="+mn-cs"/>
                </a:rPr>
                <a:t>共同空白 = 从“动作可执行”到“结果可负责”的缺口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459680" y="62684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F8798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0446" y="553402"/>
            <a:ext cx="9612930" cy="832105"/>
            <a:chOff x="520446" y="553402"/>
            <a:chExt cx="9612930" cy="832105"/>
          </a:xfrm>
        </p:grpSpPr>
        <p:sp>
          <p:nvSpPr>
            <p:cNvPr id="2" name="TextBox 2"/>
            <p:cNvSpPr txBox="1"/>
            <p:nvPr/>
          </p:nvSpPr>
          <p:spPr>
            <a:xfrm>
              <a:off x="528066" y="553402"/>
              <a:ext cx="10556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07 / 产品机会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0446" y="886778"/>
              <a:ext cx="96129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产品机会是把“会做事的 Agent”变成“企业敢授权的 Agent”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95706" y="2015490"/>
            <a:ext cx="10353294" cy="1889760"/>
            <a:chOff x="695706" y="2015490"/>
            <a:chExt cx="10353294" cy="1889760"/>
          </a:xfrm>
        </p:grpSpPr>
        <p:sp>
          <p:nvSpPr>
            <p:cNvPr id="5" name="Line 5"/>
            <p:cNvSpPr/>
            <p:nvPr/>
          </p:nvSpPr>
          <p:spPr>
            <a:xfrm>
              <a:off x="990600" y="3429000"/>
              <a:ext cx="9867900" cy="9525"/>
            </a:xfrm>
            <a:custGeom>
              <a:avLst/>
              <a:gdLst/>
              <a:ahLst/>
              <a:cxnLst/>
              <a:rect l="l" t="t" r="r" b="b"/>
              <a:pathLst>
                <a:path w="9867900" h="9525">
                  <a:moveTo>
                    <a:pt x="0" y="0"/>
                  </a:moveTo>
                  <a:lnTo>
                    <a:pt x="9867900" y="0"/>
                  </a:lnTo>
                </a:path>
              </a:pathLst>
            </a:custGeom>
            <a:noFill/>
            <a:ln w="38100">
              <a:solidFill>
                <a:srgbClr val="29415A"/>
              </a:solidFill>
            </a:ln>
          </p:spPr>
        </p:sp>
        <p:sp>
          <p:nvSpPr>
            <p:cNvPr id="6" name="Polygon 6"/>
            <p:cNvSpPr/>
            <p:nvPr/>
          </p:nvSpPr>
          <p:spPr>
            <a:xfrm>
              <a:off x="10763250" y="3295650"/>
              <a:ext cx="285750" cy="266700"/>
            </a:xfrm>
            <a:custGeom>
              <a:avLst/>
              <a:gdLst/>
              <a:ahLst/>
              <a:cxnLst/>
              <a:rect l="l" t="t" r="r" b="b"/>
              <a:pathLst>
                <a:path w="285750" h="266700">
                  <a:moveTo>
                    <a:pt x="0" y="0"/>
                  </a:moveTo>
                  <a:lnTo>
                    <a:pt x="28575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04850" y="2952750"/>
              <a:ext cx="1257300" cy="952500"/>
            </a:xfrm>
            <a:prstGeom prst="roundRect">
              <a:avLst>
                <a:gd name="adj" fmla="val 16000"/>
              </a:avLst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2133600" y="2952750"/>
              <a:ext cx="1257300" cy="952500"/>
            </a:xfrm>
            <a:prstGeom prst="roundRect">
              <a:avLst>
                <a:gd name="adj" fmla="val 16000"/>
              </a:avLst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3562350" y="2952750"/>
              <a:ext cx="1257300" cy="952500"/>
            </a:xfrm>
            <a:prstGeom prst="roundRect">
              <a:avLst>
                <a:gd name="adj" fmla="val 16000"/>
              </a:avLst>
            </a:prstGeom>
            <a:solidFill>
              <a:schemeClr val="accent5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4991100" y="2952750"/>
              <a:ext cx="1257300" cy="952500"/>
            </a:xfrm>
            <a:prstGeom prst="roundRect">
              <a:avLst>
                <a:gd name="adj" fmla="val 16000"/>
              </a:avLst>
            </a:prstGeom>
            <a:solidFill>
              <a:srgbClr val="1F1D1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419850" y="2952750"/>
              <a:ext cx="1257300" cy="952500"/>
            </a:xfrm>
            <a:prstGeom prst="roundRect">
              <a:avLst>
                <a:gd name="adj" fmla="val 16000"/>
              </a:avLst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848600" y="2952750"/>
              <a:ext cx="1257300" cy="952500"/>
            </a:xfrm>
            <a:prstGeom prst="roundRect">
              <a:avLst>
                <a:gd name="adj" fmla="val 16000"/>
              </a:avLst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9277350" y="2952750"/>
              <a:ext cx="1257300" cy="952500"/>
            </a:xfrm>
            <a:prstGeom prst="roundRect">
              <a:avLst>
                <a:gd name="adj" fmla="val 16000"/>
              </a:avLst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63168" y="31880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任务目标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74788" y="34871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目标与边界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91311" y="3188018"/>
              <a:ext cx="941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规划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03538" y="34871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步骤与工具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20668" y="31880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风险预演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09369" y="3487102"/>
              <a:ext cx="7632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影响与 Diff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431155" y="3188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61038" y="34871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权限与确认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78168" y="31880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事务执行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89788" y="34871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快照与留痕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06918" y="31880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自动验收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89214" y="34871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完成定义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535668" y="31880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交付审计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547288" y="34871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可追溯结果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5706" y="2015490"/>
              <a:ext cx="39680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企业级可控执行型 Agent 工作空间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7992" y="2426018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把平台治理能力和任务执行能力放进同一个可验证闭环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8066" y="6268402"/>
            <a:ext cx="11097768" cy="205359"/>
            <a:chOff x="528066" y="6268402"/>
            <a:chExt cx="11097768" cy="205359"/>
          </a:xfrm>
        </p:grpSpPr>
        <p:sp>
          <p:nvSpPr>
            <p:cNvPr id="31" name="TextBox 31"/>
            <p:cNvSpPr txBox="1"/>
            <p:nvPr/>
          </p:nvSpPr>
          <p:spPr>
            <a:xfrm>
              <a:off x="528066" y="6268402"/>
              <a:ext cx="37140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8798"/>
                  </a:solidFill>
                  <a:latin typeface="+mn-lt"/>
                  <a:ea typeface="+mn-ea"/>
                  <a:cs typeface="+mn-cs"/>
                </a:rPr>
                <a:t>从“会做事”到“敢授权”，关键是把风险和责任写进执行链路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459680" y="62684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F8798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0446" y="553402"/>
            <a:ext cx="9756564" cy="832105"/>
            <a:chOff x="520446" y="553402"/>
            <a:chExt cx="9756564" cy="832105"/>
          </a:xfrm>
        </p:grpSpPr>
        <p:sp>
          <p:nvSpPr>
            <p:cNvPr id="2" name="TextBox 2"/>
            <p:cNvSpPr txBox="1"/>
            <p:nvPr/>
          </p:nvSpPr>
          <p:spPr>
            <a:xfrm>
              <a:off x="528066" y="553402"/>
              <a:ext cx="1217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08 / 功能优先级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0446" y="886778"/>
              <a:ext cx="97565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P0 先解决“敢不敢执行”，P1/P2 再扩展协作、运营与合规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5800" y="1733550"/>
            <a:ext cx="10820400" cy="3943350"/>
            <a:chOff x="685800" y="1733550"/>
            <a:chExt cx="10820400" cy="3943350"/>
          </a:xfrm>
        </p:grpSpPr>
        <p:sp>
          <p:nvSpPr>
            <p:cNvPr id="5" name="Rectangle 5"/>
            <p:cNvSpPr/>
            <p:nvPr/>
          </p:nvSpPr>
          <p:spPr>
            <a:xfrm>
              <a:off x="685800" y="1733550"/>
              <a:ext cx="10820400" cy="1238250"/>
            </a:xfrm>
            <a:prstGeom prst="roundRect">
              <a:avLst>
                <a:gd name="adj" fmla="val 13846"/>
              </a:avLst>
            </a:prstGeom>
            <a:solidFill>
              <a:srgbClr val="123C3C"/>
            </a:solidFill>
            <a:ln w="19050">
              <a:solidFill>
                <a:schemeClr val="accent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85800" y="3162300"/>
              <a:ext cx="10820400" cy="1123950"/>
            </a:xfrm>
            <a:prstGeom prst="roundRect">
              <a:avLst>
                <a:gd name="adj" fmla="val 15254"/>
              </a:avLst>
            </a:prstGeom>
            <a:solidFill>
              <a:srgbClr val="10233A"/>
            </a:solidFill>
            <a:ln w="19050">
              <a:solidFill>
                <a:schemeClr val="accent3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4476750"/>
              <a:ext cx="10820400" cy="1200150"/>
            </a:xfrm>
            <a:prstGeom prst="roundRect">
              <a:avLst>
                <a:gd name="adj" fmla="val 14286"/>
              </a:avLst>
            </a:prstGeom>
            <a:solidFill>
              <a:srgbClr val="1F1D1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1456" y="192024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81556" y="19202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可信执行地基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4123" y="2396014"/>
              <a:ext cx="67676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事务执行　·　企业审批　·　测试与发布门禁　·　可验证交付　·　内容来源与数据血缘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1456" y="332994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81556" y="33299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企业治理与协作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4123" y="3805714"/>
              <a:ext cx="65778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策略即代码　·　成本/SLA 路由　·　跨平台 Agent 包　·　多人协作　·　记忆治理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1456" y="464439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81556" y="46443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高级可靠性与合规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4123" y="5120164"/>
              <a:ext cx="46826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任务仿真　·　失败接管与断点续作　·　合规与电子取证中心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23120" y="5966460"/>
            <a:ext cx="1789176" cy="234696"/>
            <a:chOff x="9723120" y="5966460"/>
            <a:chExt cx="1789176" cy="234696"/>
          </a:xfrm>
        </p:grpSpPr>
        <p:sp>
          <p:nvSpPr>
            <p:cNvPr id="18" name="TextBox 18"/>
            <p:cNvSpPr txBox="1"/>
            <p:nvPr/>
          </p:nvSpPr>
          <p:spPr>
            <a:xfrm>
              <a:off x="9723120" y="59664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先建立信任，再扩大授权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459680" y="62684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F8798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0446" y="553402"/>
            <a:ext cx="9397479" cy="832105"/>
            <a:chOff x="520446" y="553402"/>
            <a:chExt cx="9397479" cy="832105"/>
          </a:xfrm>
        </p:grpSpPr>
        <p:sp>
          <p:nvSpPr>
            <p:cNvPr id="2" name="TextBox 2"/>
            <p:cNvSpPr txBox="1"/>
            <p:nvPr/>
          </p:nvSpPr>
          <p:spPr>
            <a:xfrm>
              <a:off x="528066" y="553402"/>
              <a:ext cx="13879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09 / P0 核心功能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0446" y="886778"/>
              <a:ext cx="93974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每一步动作都先预演、留痕、可校验，失败后能回到检查点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85800" y="2038350"/>
            <a:ext cx="10629900" cy="1870234"/>
            <a:chOff x="685800" y="2038350"/>
            <a:chExt cx="10629900" cy="1870234"/>
          </a:xfrm>
        </p:grpSpPr>
        <p:sp>
          <p:nvSpPr>
            <p:cNvPr id="5" name="Rectangle 5"/>
            <p:cNvSpPr/>
            <p:nvPr/>
          </p:nvSpPr>
          <p:spPr>
            <a:xfrm>
              <a:off x="685800" y="2038350"/>
              <a:ext cx="1257300" cy="723900"/>
            </a:xfrm>
            <a:prstGeom prst="roundRect">
              <a:avLst>
                <a:gd name="adj" fmla="val 18421"/>
              </a:avLst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2247900" y="2038350"/>
              <a:ext cx="1257300" cy="723900"/>
            </a:xfrm>
            <a:prstGeom prst="roundRect">
              <a:avLst>
                <a:gd name="adj" fmla="val 18421"/>
              </a:avLst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3810000" y="2038350"/>
              <a:ext cx="1257300" cy="723900"/>
            </a:xfrm>
            <a:prstGeom prst="roundRect">
              <a:avLst>
                <a:gd name="adj" fmla="val 18421"/>
              </a:avLst>
            </a:prstGeom>
            <a:solidFill>
              <a:srgbClr val="10233A"/>
            </a:solidFill>
            <a:ln w="19050">
              <a:solidFill>
                <a:schemeClr val="accent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372100" y="2038350"/>
              <a:ext cx="1257300" cy="723900"/>
            </a:xfrm>
            <a:prstGeom prst="roundRect">
              <a:avLst>
                <a:gd name="adj" fmla="val 18421"/>
              </a:avLst>
            </a:prstGeom>
            <a:solidFill>
              <a:srgbClr val="1F1D1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934200" y="2038350"/>
              <a:ext cx="1257300" cy="723900"/>
            </a:xfrm>
            <a:prstGeom prst="roundRect">
              <a:avLst>
                <a:gd name="adj" fmla="val 18421"/>
              </a:avLst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496300" y="2038350"/>
              <a:ext cx="1257300" cy="723900"/>
            </a:xfrm>
            <a:prstGeom prst="roundRect">
              <a:avLst>
                <a:gd name="adj" fmla="val 18421"/>
              </a:avLst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058400" y="2038350"/>
              <a:ext cx="1257300" cy="723900"/>
            </a:xfrm>
            <a:prstGeom prst="roundRect">
              <a:avLst>
                <a:gd name="adj" fmla="val 18421"/>
              </a:avLst>
            </a:prstGeom>
            <a:solidFill>
              <a:schemeClr val="accent5"/>
            </a:solidFill>
            <a:ln w="19050">
              <a:solidFill>
                <a:schemeClr val="dk1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943100" y="24003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505200" y="24003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067300" y="24003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629400" y="24003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8191500" y="24003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9753600" y="24003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85266" y="2213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用户任务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77569" y="24664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57938" y="2213610"/>
              <a:ext cx="837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计划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39669" y="24664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36288" y="2213610"/>
              <a:ext cx="6047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Dry Run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01769" y="24664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预演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33110" y="22136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批准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863869" y="24664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审批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33666" y="2213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快照执行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92424" y="2466499"/>
              <a:ext cx="5408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事务 Run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95766" y="2213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自动验收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56142" y="24664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完成定义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64978" y="221361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 / 回滚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84206" y="246649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检查点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7562850" y="2990850"/>
              <a:ext cx="1562100" cy="647700"/>
            </a:xfrm>
            <a:custGeom>
              <a:avLst/>
              <a:gdLst/>
              <a:ahLst/>
              <a:cxnLst/>
              <a:rect l="l" t="t" r="r" b="b"/>
              <a:pathLst>
                <a:path w="1562100" h="647700">
                  <a:moveTo>
                    <a:pt x="1562100" y="0"/>
                  </a:moveTo>
                  <a:cubicBezTo>
                    <a:pt x="1562100" y="647700"/>
                    <a:pt x="0" y="647700"/>
                    <a:pt x="0" y="0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custDash>
                <a:ds d="266667" sp="200000"/>
              </a:custDash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394626" y="36885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失败时沿检查点逆向恢复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85800" y="4457700"/>
            <a:ext cx="10820400" cy="1314450"/>
            <a:chOff x="685800" y="4457700"/>
            <a:chExt cx="10820400" cy="1314450"/>
          </a:xfrm>
        </p:grpSpPr>
        <p:sp>
          <p:nvSpPr>
            <p:cNvPr id="35" name="Rectangle 35"/>
            <p:cNvSpPr/>
            <p:nvPr/>
          </p:nvSpPr>
          <p:spPr>
            <a:xfrm>
              <a:off x="685800" y="4457700"/>
              <a:ext cx="2381250" cy="1314450"/>
            </a:xfrm>
            <a:prstGeom prst="roundRect">
              <a:avLst>
                <a:gd name="adj" fmla="val 1159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276600" y="4457700"/>
              <a:ext cx="2381250" cy="1314450"/>
            </a:xfrm>
            <a:prstGeom prst="roundRect">
              <a:avLst>
                <a:gd name="adj" fmla="val 1159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67400" y="4457700"/>
              <a:ext cx="2381250" cy="1314450"/>
            </a:xfrm>
            <a:prstGeom prst="roundRect">
              <a:avLst>
                <a:gd name="adj" fmla="val 1159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458200" y="4457700"/>
              <a:ext cx="3048000" cy="1314450"/>
            </a:xfrm>
            <a:prstGeom prst="roundRect">
              <a:avLst>
                <a:gd name="adj" fmla="val 11594"/>
              </a:avLst>
            </a:prstGeom>
            <a:solidFill>
              <a:srgbClr val="1F1D1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44880" y="467677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快照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6404" y="50520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文件 / 知识库版本化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7166" y="5334952"/>
              <a:ext cx="1494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保存 hash、内容与版本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35680" y="4676775"/>
              <a:ext cx="4345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Diff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37204" y="50520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执行前展示影响范围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537966" y="53349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用户知道将要改变什么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126480" y="467677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回滚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128004" y="50520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支持任意检查点恢复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28766" y="53349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失败不必重做整项任务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17280" y="46767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不可逆动作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18804" y="50520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付款、发送、远程删除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719566" y="53349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默认二次确认或进入审批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28066" y="6268402"/>
            <a:ext cx="11097768" cy="205359"/>
            <a:chOff x="528066" y="6268402"/>
            <a:chExt cx="11097768" cy="205359"/>
          </a:xfrm>
        </p:grpSpPr>
        <p:sp>
          <p:nvSpPr>
            <p:cNvPr id="52" name="TextBox 52"/>
            <p:cNvSpPr txBox="1"/>
            <p:nvPr/>
          </p:nvSpPr>
          <p:spPr>
            <a:xfrm>
              <a:off x="528066" y="6268402"/>
              <a:ext cx="39047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8798"/>
                  </a:solidFill>
                  <a:latin typeface="+mn-lt"/>
                  <a:ea typeface="+mn-ea"/>
                  <a:cs typeface="+mn-cs"/>
                </a:rPr>
                <a:t>核心机制：统一 Tool Gateway + Snapshot + Diff + Rollback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459680" y="62684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F8798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0446" y="553402"/>
            <a:ext cx="9235279" cy="832105"/>
            <a:chOff x="520446" y="553402"/>
            <a:chExt cx="9235279" cy="832105"/>
          </a:xfrm>
        </p:grpSpPr>
        <p:sp>
          <p:nvSpPr>
            <p:cNvPr id="2" name="TextBox 2"/>
            <p:cNvSpPr txBox="1"/>
            <p:nvPr/>
          </p:nvSpPr>
          <p:spPr>
            <a:xfrm>
              <a:off x="528066" y="553402"/>
              <a:ext cx="13879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 / P0 配套能力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0446" y="886778"/>
              <a:ext cx="92352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只有“执行 + 审批 + 验收 + 血缘”同时成立，结果才可交付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85800" y="2038350"/>
            <a:ext cx="10820400" cy="3236595"/>
            <a:chOff x="685800" y="2038350"/>
            <a:chExt cx="10820400" cy="3236595"/>
          </a:xfrm>
        </p:grpSpPr>
        <p:sp>
          <p:nvSpPr>
            <p:cNvPr id="5" name="Rectangle 5"/>
            <p:cNvSpPr/>
            <p:nvPr/>
          </p:nvSpPr>
          <p:spPr>
            <a:xfrm>
              <a:off x="685800" y="2038350"/>
              <a:ext cx="3143250" cy="2247900"/>
            </a:xfrm>
            <a:prstGeom prst="roundRect">
              <a:avLst>
                <a:gd name="adj" fmla="val 7627"/>
              </a:avLst>
            </a:prstGeom>
            <a:solidFill>
              <a:schemeClr val="accent5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4524375" y="2038350"/>
              <a:ext cx="3143250" cy="2247900"/>
            </a:xfrm>
            <a:prstGeom prst="roundRect">
              <a:avLst>
                <a:gd name="adj" fmla="val 7627"/>
              </a:avLst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8362950" y="2038350"/>
              <a:ext cx="3143250" cy="2247900"/>
            </a:xfrm>
            <a:prstGeom prst="roundRect">
              <a:avLst>
                <a:gd name="adj" fmla="val 7627"/>
              </a:avLst>
            </a:prstGeom>
            <a:solidFill>
              <a:schemeClr val="accent5"/>
            </a:solidFill>
            <a:ln w="19050">
              <a:solidFill>
                <a:schemeClr val="accent3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0506" y="22821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审批工作流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05707" y="27308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按金额、数据类型、系统、风险等级触发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7890" y="3120390"/>
              <a:ext cx="1999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会签 / 超时升级 / 审批记录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3600" y="3459480"/>
              <a:ext cx="2217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形成申请—审批—执行—审计闭环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39081" y="22821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可验证交付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58544" y="2753668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用户先定义什么叫“完成”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59306" y="3131810"/>
              <a:ext cx="31542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空值检查 / 测试通过 / 引用数量 / 模板格式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70736" y="34709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机器验收，而不是只看结果长得像不像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77656" y="22821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内容来源与血缘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79942" y="27308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段落、数字、单元格回到原始资料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80704" y="31089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记录计算、转换和中间处理步骤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80704" y="34709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支持审计、复核与结果解释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2247900" y="4648200"/>
              <a:ext cx="7696200" cy="9525"/>
            </a:xfrm>
            <a:custGeom>
              <a:avLst/>
              <a:gdLst/>
              <a:ahLst/>
              <a:cxnLst/>
              <a:rect l="l" t="t" r="r" b="b"/>
              <a:pathLst>
                <a:path w="7696200" h="9525">
                  <a:moveTo>
                    <a:pt x="0" y="0"/>
                  </a:moveTo>
                  <a:lnTo>
                    <a:pt x="7696200" y="0"/>
                  </a:lnTo>
                </a:path>
              </a:pathLst>
            </a:custGeom>
            <a:noFill/>
            <a:ln w="19050">
              <a:solidFill>
                <a:srgbClr val="29415A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2171700" y="45720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6019800" y="45720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9867900" y="45720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476979" y="4981575"/>
              <a:ext cx="32380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从“看起来完成”到“机器证明完成”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8066" y="6268402"/>
            <a:ext cx="11097768" cy="205359"/>
            <a:chOff x="528066" y="6268402"/>
            <a:chExt cx="110977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528066" y="6268402"/>
              <a:ext cx="3013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8798"/>
                  </a:solidFill>
                  <a:latin typeface="+mn-lt"/>
                  <a:ea typeface="+mn-ea"/>
                  <a:cs typeface="+mn-cs"/>
                </a:rPr>
                <a:t>P0 配套能力共同定义企业 Agent 的“完成定义”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459680" y="62684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F8798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0446" y="553402"/>
            <a:ext cx="10746768" cy="832105"/>
            <a:chOff x="520446" y="553402"/>
            <a:chExt cx="10746768" cy="832105"/>
          </a:xfrm>
        </p:grpSpPr>
        <p:sp>
          <p:nvSpPr>
            <p:cNvPr id="2" name="TextBox 2"/>
            <p:cNvSpPr txBox="1"/>
            <p:nvPr/>
          </p:nvSpPr>
          <p:spPr>
            <a:xfrm>
              <a:off x="528066" y="553402"/>
              <a:ext cx="1179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 / 首版 MVP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0446" y="886778"/>
              <a:ext cx="107467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MVP 不追求覆盖所有应用，先把文件、知识库和不可逆动作管住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5800" y="1847850"/>
            <a:ext cx="5048250" cy="3562350"/>
            <a:chOff x="685800" y="1847850"/>
            <a:chExt cx="5048250" cy="3562350"/>
          </a:xfrm>
        </p:grpSpPr>
        <p:sp>
          <p:nvSpPr>
            <p:cNvPr id="5" name="Rectangle 5"/>
            <p:cNvSpPr/>
            <p:nvPr/>
          </p:nvSpPr>
          <p:spPr>
            <a:xfrm>
              <a:off x="685800" y="1847850"/>
              <a:ext cx="5048250" cy="3562350"/>
            </a:xfrm>
            <a:prstGeom prst="roundRect">
              <a:avLst>
                <a:gd name="adj" fmla="val 4813"/>
              </a:avLst>
            </a:prstGeom>
            <a:solidFill>
              <a:srgbClr val="123C3C"/>
            </a:solidFill>
            <a:ln w="19050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8794" y="2094548"/>
              <a:ext cx="13979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首版做什么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21461" y="2627471"/>
              <a:ext cx="16202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文件操作事务化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21461" y="3065621"/>
              <a:ext cx="14290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知识库版本化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21461" y="3503771"/>
              <a:ext cx="22153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所有工具提供 Dry Run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1461" y="3941921"/>
              <a:ext cx="27671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 每一步保存快照、差异、结果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1461" y="4380071"/>
              <a:ext cx="26047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05 不可逆操作进入确认 / 审批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1461" y="4818221"/>
              <a:ext cx="14290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06 提供回滚面板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191250" y="1847850"/>
            <a:ext cx="5314950" cy="3562350"/>
            <a:chOff x="6191250" y="1847850"/>
            <a:chExt cx="5314950" cy="3562350"/>
          </a:xfrm>
        </p:grpSpPr>
        <p:sp>
          <p:nvSpPr>
            <p:cNvPr id="14" name="Rectangle 14"/>
            <p:cNvSpPr/>
            <p:nvPr/>
          </p:nvSpPr>
          <p:spPr>
            <a:xfrm>
              <a:off x="6191250" y="1847850"/>
              <a:ext cx="5314950" cy="3562350"/>
            </a:xfrm>
            <a:prstGeom prst="roundRect">
              <a:avLst>
                <a:gd name="adj" fmla="val 4813"/>
              </a:avLst>
            </a:prstGeom>
            <a:solidFill>
              <a:srgbClr val="1F1D1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24244" y="209454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首版不做什么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26911" y="2741771"/>
              <a:ext cx="22797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× 一次覆盖所有第三方应用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26911" y="3294221"/>
              <a:ext cx="28119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× 承诺所有外部 API 都能真回滚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26911" y="3846671"/>
              <a:ext cx="24708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× 先做复杂的全自动补偿逻辑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534150" y="4457700"/>
              <a:ext cx="4610100" cy="9525"/>
            </a:xfrm>
            <a:custGeom>
              <a:avLst/>
              <a:gdLst/>
              <a:ahLst/>
              <a:cxnLst/>
              <a:rect l="l" t="t" r="r" b="b"/>
              <a:pathLst>
                <a:path w="4610100" h="9525">
                  <a:moveTo>
                    <a:pt x="0" y="0"/>
                  </a:moveTo>
                  <a:lnTo>
                    <a:pt x="4610100" y="0"/>
                  </a:lnTo>
                </a:path>
              </a:pathLst>
            </a:custGeom>
            <a:noFill/>
            <a:ln w="9525">
              <a:solidFill>
                <a:srgbClr val="59472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27673" y="4758214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先用可控资源验证价值，再扩展外部系统的补偿事务。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8066" y="6268402"/>
            <a:ext cx="11097768" cy="205359"/>
            <a:chOff x="528066" y="6268402"/>
            <a:chExt cx="11097768" cy="205359"/>
          </a:xfrm>
        </p:grpSpPr>
        <p:sp>
          <p:nvSpPr>
            <p:cNvPr id="22" name="TextBox 22"/>
            <p:cNvSpPr txBox="1"/>
            <p:nvPr/>
          </p:nvSpPr>
          <p:spPr>
            <a:xfrm>
              <a:off x="528066" y="6268402"/>
              <a:ext cx="3468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8798"/>
                  </a:solidFill>
                  <a:latin typeface="+mn-lt"/>
                  <a:ea typeface="+mn-ea"/>
                  <a:cs typeface="+mn-cs"/>
                </a:rPr>
                <a:t>MVP 原则：边界小、风险高、价值可见、回滚可验证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459680" y="62684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F8798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0446" y="553402"/>
            <a:ext cx="7595254" cy="832105"/>
            <a:chOff x="520446" y="553402"/>
            <a:chExt cx="7595254" cy="832105"/>
          </a:xfrm>
        </p:grpSpPr>
        <p:sp>
          <p:nvSpPr>
            <p:cNvPr id="2" name="TextBox 2"/>
            <p:cNvSpPr txBox="1"/>
            <p:nvPr/>
          </p:nvSpPr>
          <p:spPr>
            <a:xfrm>
              <a:off x="528066" y="553402"/>
              <a:ext cx="10556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 / 产品路线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0446" y="886778"/>
              <a:ext cx="75952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三阶段路线先夯实执行底座，再扩展治理与生态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97230" y="2038350"/>
            <a:ext cx="10789920" cy="3255645"/>
            <a:chOff x="697230" y="2038350"/>
            <a:chExt cx="10789920" cy="3255645"/>
          </a:xfrm>
        </p:grpSpPr>
        <p:sp>
          <p:nvSpPr>
            <p:cNvPr id="5" name="Line 5"/>
            <p:cNvSpPr/>
            <p:nvPr/>
          </p:nvSpPr>
          <p:spPr>
            <a:xfrm>
              <a:off x="1143000" y="3905250"/>
              <a:ext cx="9791700" cy="9525"/>
            </a:xfrm>
            <a:custGeom>
              <a:avLst/>
              <a:gdLst/>
              <a:ahLst/>
              <a:cxnLst/>
              <a:rect l="l" t="t" r="r" b="b"/>
              <a:pathLst>
                <a:path w="9791700" h="9525">
                  <a:moveTo>
                    <a:pt x="0" y="0"/>
                  </a:moveTo>
                  <a:lnTo>
                    <a:pt x="9791700" y="0"/>
                  </a:lnTo>
                </a:path>
              </a:pathLst>
            </a:custGeom>
            <a:noFill/>
            <a:ln w="47625">
              <a:solidFill>
                <a:srgbClr val="29415A"/>
              </a:solidFill>
            </a:ln>
          </p:spPr>
        </p:sp>
        <p:sp>
          <p:nvSpPr>
            <p:cNvPr id="6" name="Polygon 6"/>
            <p:cNvSpPr/>
            <p:nvPr/>
          </p:nvSpPr>
          <p:spPr>
            <a:xfrm>
              <a:off x="10839450" y="37528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1524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638300" y="37338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924550" y="373380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210800" y="37338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04850" y="2038350"/>
              <a:ext cx="3143250" cy="1390650"/>
            </a:xfrm>
            <a:prstGeom prst="roundRect">
              <a:avLst>
                <a:gd name="adj" fmla="val 12329"/>
              </a:avLst>
            </a:prstGeom>
            <a:solidFill>
              <a:srgbClr val="123C3C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4524375" y="2038350"/>
              <a:ext cx="3143250" cy="1390650"/>
            </a:xfrm>
            <a:prstGeom prst="roundRect">
              <a:avLst>
                <a:gd name="adj" fmla="val 12329"/>
              </a:avLst>
            </a:prstGeom>
            <a:solidFill>
              <a:srgbClr val="10233A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8343900" y="2038350"/>
              <a:ext cx="3143250" cy="1390650"/>
            </a:xfrm>
            <a:prstGeom prst="roundRect">
              <a:avLst>
                <a:gd name="adj" fmla="val 12329"/>
              </a:avLst>
            </a:prstGeom>
            <a:solidFill>
              <a:srgbClr val="1F1D1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00506" y="2225040"/>
              <a:ext cx="2091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阶段一 · 可信执行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03173" y="2643664"/>
              <a:ext cx="22777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回滚 / Dry Run / 不可逆拦截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03554" y="29375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执行记录与回滚面板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20031" y="2225040"/>
              <a:ext cx="2091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阶段二 · 企业治理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22698" y="2643664"/>
              <a:ext cx="19859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审批 / 策略 / 验收 / 血缘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23079" y="29375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测试门禁与发布治理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39556" y="2225040"/>
              <a:ext cx="2091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阶段三 · 生态扩展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42223" y="2643664"/>
              <a:ext cx="21651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包 / 协作 / 成本路由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42604" y="29375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记忆治理与合规取证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8754" y="4347210"/>
              <a:ext cx="11591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F96A7"/>
                  </a:solidFill>
                  <a:latin typeface="+mn-lt"/>
                  <a:ea typeface="+mn-ea"/>
                  <a:cs typeface="+mn-cs"/>
                </a:rPr>
                <a:t>先验证“敢执行”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94554" y="4347210"/>
              <a:ext cx="11591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F96A7"/>
                  </a:solidFill>
                  <a:latin typeface="+mn-lt"/>
                  <a:ea typeface="+mn-ea"/>
                  <a:cs typeface="+mn-cs"/>
                </a:rPr>
                <a:t>再验证“可治理”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28404" y="4347210"/>
              <a:ext cx="13206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F96A7"/>
                  </a:solidFill>
                  <a:latin typeface="+mn-lt"/>
                  <a:ea typeface="+mn-ea"/>
                  <a:cs typeface="+mn-cs"/>
                </a:rPr>
                <a:t>最后扩大“可复制”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7230" y="50006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路线原则：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59280" y="500062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信任是授权的前置条件，治理是规模化的前置条件。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459680" y="62684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F8798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0446" y="553402"/>
            <a:ext cx="11222827" cy="832105"/>
            <a:chOff x="520446" y="553402"/>
            <a:chExt cx="11222827" cy="832105"/>
          </a:xfrm>
        </p:grpSpPr>
        <p:sp>
          <p:nvSpPr>
            <p:cNvPr id="2" name="TextBox 2"/>
            <p:cNvSpPr txBox="1"/>
            <p:nvPr/>
          </p:nvSpPr>
          <p:spPr>
            <a:xfrm>
              <a:off x="528066" y="553402"/>
              <a:ext cx="1217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13 / 试点与衡量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0446" y="886778"/>
              <a:ext cx="112228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用高价值、可控风险的办公任务验证 P0，而不是先做大而全的平台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85800" y="1771650"/>
            <a:ext cx="4686300" cy="3924300"/>
            <a:chOff x="685800" y="1771650"/>
            <a:chExt cx="4686300" cy="3924300"/>
          </a:xfrm>
        </p:grpSpPr>
        <p:sp>
          <p:nvSpPr>
            <p:cNvPr id="5" name="Rectangle 5"/>
            <p:cNvSpPr/>
            <p:nvPr/>
          </p:nvSpPr>
          <p:spPr>
            <a:xfrm>
              <a:off x="685800" y="1771650"/>
              <a:ext cx="4686300" cy="3924300"/>
            </a:xfrm>
            <a:prstGeom prst="roundRect">
              <a:avLst>
                <a:gd name="adj" fmla="val 4369"/>
              </a:avLst>
            </a:prstGeom>
            <a:solidFill>
              <a:schemeClr val="accent5"/>
            </a:solidFill>
            <a:ln w="9525">
              <a:solidFill>
                <a:srgbClr val="29415A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9556" y="20154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建议试点场景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21461" y="2570321"/>
              <a:ext cx="22223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合同 / 报价单批量处理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21461" y="3046571"/>
              <a:ext cx="16202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企业知识库更新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21461" y="3522821"/>
              <a:ext cx="15394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CRM 数据同步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1461" y="3999071"/>
              <a:ext cx="20025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 报告生成与引用校验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1461" y="4475321"/>
              <a:ext cx="23203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05 Office 文件生成与检查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028700" y="5010150"/>
              <a:ext cx="3886200" cy="9525"/>
            </a:xfrm>
            <a:custGeom>
              <a:avLst/>
              <a:gdLst/>
              <a:ahLst/>
              <a:cxnLst/>
              <a:rect l="l" t="t" r="r" b="b"/>
              <a:pathLst>
                <a:path w="3886200" h="9525">
                  <a:moveTo>
                    <a:pt x="0" y="0"/>
                  </a:moveTo>
                  <a:lnTo>
                    <a:pt x="3886200" y="0"/>
                  </a:lnTo>
                </a:path>
              </a:pathLst>
            </a:custGeom>
            <a:noFill/>
            <a:ln w="9525">
              <a:solidFill>
                <a:srgbClr val="29415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22604" y="522351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FB5C4"/>
                  </a:solidFill>
                  <a:latin typeface="+mn-lt"/>
                  <a:ea typeface="+mn-ea"/>
                  <a:cs typeface="+mn-cs"/>
                </a:rPr>
                <a:t>共同特征：结果可见、风险可控、验收条件可写清。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848350" y="1771650"/>
            <a:ext cx="5657850" cy="3924300"/>
            <a:chOff x="5848350" y="1771650"/>
            <a:chExt cx="5657850" cy="3924300"/>
          </a:xfrm>
        </p:grpSpPr>
        <p:sp>
          <p:nvSpPr>
            <p:cNvPr id="15" name="Rectangle 15"/>
            <p:cNvSpPr/>
            <p:nvPr/>
          </p:nvSpPr>
          <p:spPr>
            <a:xfrm>
              <a:off x="5848350" y="1771650"/>
              <a:ext cx="5657850" cy="3924300"/>
            </a:xfrm>
            <a:prstGeom prst="roundRect">
              <a:avLst>
                <a:gd name="adj" fmla="val 4369"/>
              </a:avLst>
            </a:prstGeom>
            <a:solidFill>
              <a:srgbClr val="10233A"/>
            </a:solidFill>
            <a:ln w="9525">
              <a:solidFill>
                <a:schemeClr val="accent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182106" y="20154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指标框架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84773" y="25293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安全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61073" y="2529364"/>
              <a:ext cx="24511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回滚成功率 · 不可逆操作拦截率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84773" y="300561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61073" y="3005614"/>
              <a:ext cx="22788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任务成功率 · 自动验收通过率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84773" y="34818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效率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61073" y="3481864"/>
              <a:ext cx="26493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审批平均时长 · 单任务成本 / 耗时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84773" y="395811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治理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61073" y="3958114"/>
              <a:ext cx="26235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来源追溯覆盖率 · 发布回归通过率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191250" y="4476750"/>
              <a:ext cx="4972050" cy="9525"/>
            </a:xfrm>
            <a:custGeom>
              <a:avLst/>
              <a:gdLst/>
              <a:ahLst/>
              <a:cxnLst/>
              <a:rect l="l" t="t" r="r" b="b"/>
              <a:pathLst>
                <a:path w="4972050" h="9525">
                  <a:moveTo>
                    <a:pt x="0" y="0"/>
                  </a:moveTo>
                  <a:lnTo>
                    <a:pt x="4972050" y="0"/>
                  </a:lnTo>
                </a:path>
              </a:pathLst>
            </a:custGeom>
            <a:noFill/>
            <a:ln w="9525">
              <a:solidFill>
                <a:srgbClr val="29415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185154" y="4823460"/>
              <a:ext cx="31865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不只看“做没做成”，还要看“出错能否恢复、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85154" y="5090160"/>
              <a:ext cx="26857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结果是否可验证、过程是否可追责”。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28066" y="6268402"/>
            <a:ext cx="11097768" cy="205359"/>
            <a:chOff x="528066" y="6268402"/>
            <a:chExt cx="11097768" cy="205359"/>
          </a:xfrm>
        </p:grpSpPr>
        <p:sp>
          <p:nvSpPr>
            <p:cNvPr id="29" name="TextBox 29"/>
            <p:cNvSpPr txBox="1"/>
            <p:nvPr/>
          </p:nvSpPr>
          <p:spPr>
            <a:xfrm>
              <a:off x="528066" y="6268402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8798"/>
                  </a:solidFill>
                  <a:latin typeface="+mn-lt"/>
                  <a:ea typeface="+mn-ea"/>
                  <a:cs typeface="+mn-cs"/>
                </a:rPr>
                <a:t>指标用于试点验证，不预设目标值；先建立基线，再设门槛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459680" y="62684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F8798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715250" y="381000"/>
            <a:ext cx="4191000" cy="4191000"/>
            <a:chOff x="7715250" y="381000"/>
            <a:chExt cx="4191000" cy="4191000"/>
          </a:xfrm>
        </p:grpSpPr>
        <p:sp>
          <p:nvSpPr>
            <p:cNvPr id="2" name="Ellipse 2"/>
            <p:cNvSpPr/>
            <p:nvPr/>
          </p:nvSpPr>
          <p:spPr>
            <a:xfrm>
              <a:off x="7715250" y="381000"/>
              <a:ext cx="4191000" cy="4191000"/>
            </a:xfrm>
            <a:prstGeom prst="ellipse">
              <a:avLst/>
            </a:prstGeom>
            <a:solidFill>
              <a:schemeClr val="accent1">
                <a:alpha val="18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477250" y="1143000"/>
              <a:ext cx="2667000" cy="2667000"/>
            </a:xfrm>
            <a:prstGeom prst="ellipse">
              <a:avLst/>
            </a:prstGeom>
            <a:solidFill>
              <a:schemeClr val="lt1">
                <a:alpha val="18000"/>
              </a:scheme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20446" y="553402"/>
            <a:ext cx="6163675" cy="1136905"/>
            <a:chOff x="520446" y="553402"/>
            <a:chExt cx="6163675" cy="1136905"/>
          </a:xfrm>
        </p:grpSpPr>
        <p:sp>
          <p:nvSpPr>
            <p:cNvPr id="5" name="TextBox 5"/>
            <p:cNvSpPr txBox="1"/>
            <p:nvPr/>
          </p:nvSpPr>
          <p:spPr>
            <a:xfrm>
              <a:off x="528066" y="553402"/>
              <a:ext cx="10556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14 / 决策请求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0446" y="791528"/>
              <a:ext cx="6163675" cy="89877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今天需要决定的，不是要不要做 Agent，而是要不要让企业敢把工作交给它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5800" y="1981200"/>
            <a:ext cx="6191250" cy="3238500"/>
            <a:chOff x="685800" y="1981200"/>
            <a:chExt cx="6191250" cy="3238500"/>
          </a:xfrm>
        </p:grpSpPr>
        <p:sp>
          <p:nvSpPr>
            <p:cNvPr id="8" name="Rectangle 8"/>
            <p:cNvSpPr/>
            <p:nvPr/>
          </p:nvSpPr>
          <p:spPr>
            <a:xfrm>
              <a:off x="685800" y="1981200"/>
              <a:ext cx="6191250" cy="3238500"/>
            </a:xfrm>
            <a:prstGeom prst="roundRect">
              <a:avLst>
                <a:gd name="adj" fmla="val 5882"/>
              </a:avLst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57656" y="22631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需要推动的决策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59561" y="2837021"/>
              <a:ext cx="34073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确认“企业级可控执行型 Agent”方向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9561" y="3275171"/>
              <a:ext cx="22867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启动 P0 可信执行 MVP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9561" y="3713321"/>
              <a:ext cx="18113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选定首批试点场景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9561" y="4151471"/>
              <a:ext cx="33406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 明确权限、审计与系统接入基础设施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9561" y="4589621"/>
              <a:ext cx="32355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05 确定产品 / 工程 / 安全 / 业务分工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516368" y="2317432"/>
            <a:ext cx="3704082" cy="2868169"/>
            <a:chOff x="7516368" y="2317432"/>
            <a:chExt cx="3704082" cy="2868169"/>
          </a:xfrm>
        </p:grpSpPr>
        <p:sp>
          <p:nvSpPr>
            <p:cNvPr id="16" name="TextBox 16"/>
            <p:cNvSpPr txBox="1"/>
            <p:nvPr/>
          </p:nvSpPr>
          <p:spPr>
            <a:xfrm>
              <a:off x="7516368" y="2317432"/>
              <a:ext cx="13078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Open WebUI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7892" y="2692718"/>
              <a:ext cx="1770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解决如何统一使用 AI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6368" y="3193732"/>
              <a:ext cx="12330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WorkBuddy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17892" y="3569018"/>
              <a:ext cx="2020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AD5"/>
                  </a:solidFill>
                  <a:latin typeface="+mn-lt"/>
                  <a:ea typeface="+mn-ea"/>
                  <a:cs typeface="+mn-cs"/>
                </a:rPr>
                <a:t>解决如何让 AI 完成工作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524750" y="4057650"/>
              <a:ext cx="3695700" cy="9525"/>
            </a:xfrm>
            <a:custGeom>
              <a:avLst/>
              <a:gdLst/>
              <a:ahLst/>
              <a:cxnLst/>
              <a:rect l="l" t="t" r="r" b="b"/>
              <a:pathLst>
                <a:path w="3695700" h="9525">
                  <a:moveTo>
                    <a:pt x="0" y="0"/>
                  </a:moveTo>
                  <a:lnTo>
                    <a:pt x="3695700" y="0"/>
                  </a:lnTo>
                </a:path>
              </a:pathLst>
            </a:custGeom>
            <a:noFill/>
            <a:ln w="9525">
              <a:solidFill>
                <a:srgbClr val="29415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16368" y="42795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我们的机会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17892" y="4654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解决企业如何放心地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17892" y="4921568"/>
              <a:ext cx="12522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 AI 完成工作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85800" y="5753100"/>
            <a:ext cx="10820400" cy="457200"/>
            <a:chOff x="685800" y="5753100"/>
            <a:chExt cx="10820400" cy="457200"/>
          </a:xfrm>
        </p:grpSpPr>
        <p:sp>
          <p:nvSpPr>
            <p:cNvPr id="25" name="Rectangle 25"/>
            <p:cNvSpPr/>
            <p:nvPr/>
          </p:nvSpPr>
          <p:spPr>
            <a:xfrm>
              <a:off x="685800" y="5753100"/>
              <a:ext cx="10820400" cy="457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257869" y="5879782"/>
              <a:ext cx="36762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B1220"/>
                  </a:solidFill>
                  <a:latin typeface="+mn-lt"/>
                  <a:ea typeface="+mn-ea"/>
                  <a:cs typeface="+mn-cs"/>
                </a:rPr>
                <a:t>建议决策：启动 P0 可信执行 MVP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459680" y="65160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F8798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penwebui-workbuddy-report">
  <a:themeElements>
    <a:clrScheme name="openwebui-workbuddy-report">
      <a:dk1>
        <a:srgbClr val="EAF2F7"/>
      </a:dk1>
      <a:lt1>
        <a:srgbClr val="0B1220"/>
      </a:lt1>
      <a:dk2>
        <a:srgbClr val="1F497D"/>
      </a:dk2>
      <a:lt2>
        <a:srgbClr val="0B1220"/>
      </a:lt2>
      <a:accent1>
        <a:srgbClr val="55D6BE"/>
      </a:accent1>
      <a:accent2>
        <a:srgbClr val="FFC857"/>
      </a:accent2>
      <a:accent3>
        <a:srgbClr val="5EA9FF"/>
      </a:accent3>
      <a:accent4>
        <a:srgbClr val="55D6BE"/>
      </a:accent4>
      <a:accent5>
        <a:srgbClr val="121D31"/>
      </a:accent5>
      <a:accent6>
        <a:srgbClr val="F79646"/>
      </a:accent6>
      <a:hlink>
        <a:srgbClr val="FFC857"/>
      </a:hlink>
      <a:folHlink>
        <a:srgbClr val="5EA9FF"/>
      </a:folHlink>
    </a:clrScheme>
    <a:fontScheme name="openwebui-workbuddy-report">
      <a:majorFont>
        <a:latin typeface="Aptos Display"/>
        <a:ea typeface="Microsoft YaHei UI"/>
        <a:cs typeface="Aptos Display"/>
        <a:font script="Jpan" typeface="Microsoft YaHei UI"/>
        <a:font script="Hang" typeface="Microsoft YaHei UI"/>
        <a:font script="Hans" typeface="Microsoft YaHei UI"/>
        <a:font script="Hant" typeface="Microsoft YaHei U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Microsoft YaHei UI"/>
        <a:cs typeface="Aptos"/>
        <a:font script="Jpan" typeface="Microsoft YaHei UI"/>
        <a:font script="Hang" typeface="Microsoft YaHei UI"/>
        <a:font script="Hans" typeface="Microsoft YaHei UI"/>
        <a:font script="Hant" typeface="Microsoft YaHei U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enwebui-workbuddy-repor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penwebui-workbuddy-report">
  <a:themeElements>
    <a:clrScheme name="openwebui-workbuddy-report">
      <a:dk1>
        <a:srgbClr val="EAF2F7"/>
      </a:dk1>
      <a:lt1>
        <a:srgbClr val="0B1220"/>
      </a:lt1>
      <a:dk2>
        <a:srgbClr val="1F497D"/>
      </a:dk2>
      <a:lt2>
        <a:srgbClr val="0B1220"/>
      </a:lt2>
      <a:accent1>
        <a:srgbClr val="55D6BE"/>
      </a:accent1>
      <a:accent2>
        <a:srgbClr val="FFC857"/>
      </a:accent2>
      <a:accent3>
        <a:srgbClr val="5EA9FF"/>
      </a:accent3>
      <a:accent4>
        <a:srgbClr val="55D6BE"/>
      </a:accent4>
      <a:accent5>
        <a:srgbClr val="121D31"/>
      </a:accent5>
      <a:accent6>
        <a:srgbClr val="F79646"/>
      </a:accent6>
      <a:hlink>
        <a:srgbClr val="FFC857"/>
      </a:hlink>
      <a:folHlink>
        <a:srgbClr val="5EA9FF"/>
      </a:folHlink>
    </a:clrScheme>
    <a:fontScheme name="openwebui-workbuddy-report">
      <a:majorFont>
        <a:latin typeface="Aptos Display"/>
        <a:ea typeface="Microsoft YaHei UI"/>
        <a:cs typeface="Aptos Display"/>
        <a:font script="Jpan" typeface="Microsoft YaHei UI"/>
        <a:font script="Hang" typeface="Microsoft YaHei UI"/>
        <a:font script="Hans" typeface="Microsoft YaHei UI"/>
        <a:font script="Hant" typeface="Microsoft YaHei U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Microsoft YaHei UI"/>
        <a:cs typeface="Aptos"/>
        <a:font script="Jpan" typeface="Microsoft YaHei UI"/>
        <a:font script="Hang" typeface="Microsoft YaHei UI"/>
        <a:font script="Hans" typeface="Microsoft YaHei UI"/>
        <a:font script="Hant" typeface="Microsoft YaHei U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enwebui-workbuddy-repor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2026-08-07T03:48:47Z</dcterms:created>
  <dcterms:modified xsi:type="dcterms:W3CDTF">2026-08-07T03:48:47Z</dcterms:modified>
  <cp:category/>
  <cp:contentStatus/>
</cp:coreProperties>
</file>