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5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31.png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30.svg"/><Relationship Id="rId15" Type="http://schemas.openxmlformats.org/officeDocument/2006/relationships/image" Target="../media/image29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28.sv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9.svg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position: 'relative', overflow: 'hidden', background: 'linear-gradient(135deg, #1E40AF 0%, #0EA5E9 100%)' }}&gt;&#10;    &lt;svg width={620} height={720} viewBox='0 0 620 720' style={{ position: 'absolute', right: 0, top: 0, opacity: 0.12 }}&gt;&#10;        &lt;circle cx='420' cy='220' r='200' fill='#FFFFFF' /&gt;&#10;        &lt;circle cx='520' cy='500' r='140' fill='#FFFFFF' opacity='0.6' /&gt;&#10;        &lt;circle cx='300' cy='600' r='220' fill='#FFFFFF' opacity='0.4' /&gt;&#10;        &lt;rect x='360' y='80' width='180' height='180' rx='24' fill='#FFFFFF' opacity='0.15' transform='rotate(15 450 170)' /&gt;&#10;    &lt;/svg&gt;&#10;    &lt;Box style={{ padding: '80px 80px 60px 80px', height: '100%', justifyContent: 'space-between', position: 'relative', zIndex: 1 }}&gt;&#10;        &lt;Text style={{ fontSize: 16, color: '#FFFFFF', opacity: 0.7, letterSpacing: 4 }}&gt;MONTHLY WORK REPORT&lt;/Text&gt;&#10;        &lt;Box&gt;&#10;            &lt;Text style={{ fontSize: 56, color: '#FFFFFF', fontWeight: 'bold', lineHeight: 1.25 }}&gt;企业AI工作空间&lt;/Text&gt;&#10;            &lt;Text style={{ fontSize: 56, color: '#FFFFFF', fontWeight: 'bold', lineHeight: 1.25 }}&gt;月度工作汇报&lt;/Text&gt;&#10;            &lt;Text style={{ fontSize: 24, color: '#FFFFFF', opacity: 0.85, marginTop: 24, lineHeight: 1.4 }}&gt;从工具上手到功能测试的四周推进&lt;/Text&gt;&#10;            &lt;Box style={{ flexDirection: 'row', gap: 32, marginTop: 28 }}&gt;&#10;                &lt;Text style={{ fontSize: 16, color: '#FFFFFF', opacity: 0.75 }}&gt;汇报周期：Week1 — Week4&lt;/Text&gt;&#10;                &lt;Text style={{ fontSize: 16, color: '#FFFFFF', opacity: 0.75 }}&gt;汇报日期：2026年8月&lt;/Text&gt;&#10;            &lt;/Box&gt;&#10;        &lt;/Box&gt;&#10;        &lt;Box style={{ flexDirection: 'row', gap: 48, alignItems: 'center' }}&gt;&#10;            &lt;Box style={{ width: 48, height: 4, background: '#F97316', borderRadius: 2 }} /&gt;&#10;            &lt;Text style={{ fontSize: 14, color: '#FFFFFF', opacity: 0.6 }}&gt;企业AI工作空间项目组&lt;/Text&gt;&#10;        &lt;/Box&gt;&#10;    &lt;/Box&gt;&#10;&lt;/Slide&gt;"/>
        <p:cNvGrpSpPr/>
        <p:nvPr/>
      </p:nvGrpSpPr>
      <p:grpSpPr>
        <a:xfrm rot="0">
          <a:off x="-9223372036854775808" y="-9223372036854775808"/>
          <a:ext cx="0" cy="0"/>
          <a:chOff x="0" y="0"/>
          <a:chExt cx="12192000" cy="685800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0EA5E9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1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762000" y="2200275"/>
            <a:ext cx="10668000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762000" y="3000375"/>
            <a:ext cx="10668000" cy="800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月度工作汇报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62000" y="61912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62000" y="762000"/>
            <a:ext cx="1066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MONTHLY WORK REPORT</a:t>
            </a:r>
            <a:endParaRPr lang="en-US" sz="1200" spc="3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4029075"/>
            <a:ext cx="106680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从工具上手到功能测试的四周推进</a:t>
            </a:r>
            <a:endParaRPr lang="zh-CN" sz="18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4686300"/>
            <a:ext cx="20097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汇报周期：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Week1 — Week4</a:t>
            </a:r>
            <a:endParaRPr lang="en-US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3076575" y="4686300"/>
            <a:ext cx="1514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汇报日期：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676400" y="6124575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工作空间项目组</a:t>
            </a:r>
            <a:endParaRPr lang="zh-CN" sz="105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 descr="&lt;Slide style={{ width: '1280px', height: '720px', padding: '20px 60px', flexDirection: 'column' }}&gt;&#10;    &lt;Box style={{ height: 100, flexDirection: 'column', justifyContent: 'center' }}&gt;&#10;        &lt;Text style={{ fontSize: 36, fontWeight: 'bold', color: '#1E293B' }}&gt;本月工作总览&lt;/Text&gt;&#10;        &lt;Box style={{ width: 60, height: 4, background: '#2563EB', borderRadius: 2, marginTop: 8 }} /&gt;&#10;    &lt;/Box&gt;&#10;    &lt;Box style={{ flex: 1, flexDirection: 'row', gap: 40, alignItems: 'center' }}&gt;&#10;        &lt;Box style={{ width: '35%', flexDirection: 'column', gap: 28 }}&gt;&#10;            &lt;Box style={{ background: '#EFF6FF', borderRadius: 12, padding: '20px 24px', borderLeft: '4px solid #2563EB' }}&gt;&#10;                &lt;Text style={{ fontSize: 14, color: '#64748B', letterSpacing: 1 }}&gt;关键词一&lt;/Text&gt;&#10;                &lt;Text style={{ fontSize: 26, fontWeight: 'bold', color: '#2563EB', marginTop: 4 }}&gt;建体系&lt;/Text&gt;&#10;                &lt;Text style={{ fontSize: 14, color: '#475569', marginTop: 6 }}&gt;AI概念 + 工具 + 项目实战三层知识库&lt;/Text&gt;&#10;            &lt;/Box&gt;&#10;            &lt;Box style={{ background: '#F0FDFA', borderRadius: 12, padding: '20px 24px', borderLeft: '4px solid #0EA5E9' }}&gt;&#10;                &lt;Text style={{ fontSize: 14, color: '#64748B', letterSpacing: 1 }}&gt;关键词二&lt;/Text&gt;&#10;                &lt;Text style={{ fontSize: 26, fontWeight: 'bold', color: '#0EA5E9', marginTop: 4 }}&gt;定方向&lt;/Text&gt;&#10;                &lt;Text style={{ fontSize: 14, color: '#475569', marginTop: 6 }}&gt;候选池22项 → 预选6项 + 前瞻框架1项&lt;/Text&gt;&#10;            &lt;/Box&gt;&#10;            &lt;Box style={{ background: '#FFF7ED', borderRadius: 12, padding: '20px 24px', borderLeft: '4px solid #F97316' }}&gt;&#10;                &lt;Text style={{ fontSize: 14, color: '#64748B', letterSpacing: 1 }}&gt;关键词三&lt;/Text&gt;&#10;                &lt;Text style={{ fontSize: 26, fontWeight: 'bold', color: '#F97316', marginTop: 4 }}&gt;验质量&lt;/Text&gt;&#10;                &lt;Text style={{ fontSize: 14, color: '#475569', marginTop: 6 }}&gt;自动化测试工具链 + 检索质量分析&lt;/Text&gt;&#10;            &lt;/Box&gt;&#10;        &lt;/Box&gt;&#10;        &lt;Box style={{ flex: 1, height: 420, background: '#F8FAFC', borderRadius: 16, padding: 32, position: 'relative' }}&gt;&#10;            &lt;Text style={{ fontSize: 16, fontWeight: 'bold', color: '#1E293B', marginBottom: 20 }}&gt;工作主线：四周递进，环环相扣&lt;/Text&gt;&#10;            &lt;svg width={600} height={300} viewBox='0 0 600 300'&gt;&#10;                &lt;defs&gt;&#10;                    &lt;linearGradient id='lineGrad' x1='0' y1='0' x2='1' y2='0'&gt;&#10;                        &lt;stop offset='0%' stopColor='#2563EB' /&gt;&#10;                        &lt;stop offset='50%' stopColor='#0EA5E9' /&gt;&#10;                        &lt;stop offset='100%' stopColor='#F97316' /&gt;&#10;                    &lt;/linearGradient&gt;&#10;                &lt;/defs&gt;&#10;                &lt;line x1='70' y1='150' x2='530' y2='150' stroke='url(#lineGrad)' strokeWidth='4' strokeLinecap='round' /&gt;&#10;                &lt;circle cx='70' cy='150' r='36' fill='#2563EB' /&gt;&#10;                &lt;circle cx='240' cy='150' r='36' fill='#0EA5E9' /&gt;&#10;                &lt;circle cx='410' cy='150' r='36' fill='#0EA5E9' /&gt;&#10;                &lt;circle cx='530' cy='150' r='36' fill='#F97316' /&gt;&#10;                &lt;text x='70' y='156' textAnchor='middle' fill='#FFFFFF' fontSize='16' fontWeight='bold'&gt;W1&lt;/text&gt;&#10;                &lt;text x='240' y='156' textAnchor='middle' fill='#FFFFFF' fontSize='16' fontWeight='bold'&gt;W2&lt;/text&gt;&#10;                &lt;text x='410' y='156' textAnchor='middle' fill='#FFFFFF' fontSize='16' fontWeight='bold'&gt;W3&lt;/text&gt;&#10;                &lt;text x='530' y='156' textAnchor='middle' fill='#FFFFFF' fontSize='16' fontWeight='bold'&gt;W4&lt;/text&gt;&#10;                &lt;text x='70' y='210' textAnchor='middle' fill='#1E293B' fontSize='14' fontWeight='bold'&gt;工具上手&lt;/text&gt;&#10;                &lt;text x='70' y='232' textAnchor='middle' fill='#64748B' fontSize='12'&gt;知识库搭建&lt;/text&gt;&#10;                &lt;text x='240' y='210' textAnchor='middle' fill='#1E293B' fontSize='14' fontWeight='bold'&gt;竞品研究&lt;/text&gt;&#10;                &lt;text x='240' y='232' textAnchor='middle' fill='#64748B' fontSize='12'&gt;OpenWebUI对标&lt;/text&gt;&#10;                &lt;text x='410' y='210' textAnchor='middle' fill='#1E293B' fontSize='14' fontWeight='bold'&gt;功能规划&lt;/text&gt;&#10;                &lt;text x='410' y='232' textAnchor='middle' fill='#64748B' fontSize='12'&gt;2期候选池&lt;/text&gt;&#10;                &lt;text x='530' y='210' textAnchor='middle' fill='#1E293B' fontSize='14' fontWeight='bold'&gt;功能测试&lt;/text&gt;&#10;                &lt;text x='530' y='232' textAnchor='middle' fill='#64748B' fontSize='12'&gt;检索质量分析&lt;/text&gt;&#10;                &lt;text x='300' y='90' textAnchor='middle' fill='#475569' fontSize='13'&gt;完成从AI工具认知到企业AI工作空间2期功能规划与测试验证的完整闭环&lt;/text&gt;&#10;            &lt;/svg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2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00050"/>
          <a:chExt cx="11049000" cy="419100"/>
        </a:xfrm>
      </p:grpSpPr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71500" y="400050"/>
            <a:ext cx="110490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本月工作总览</a:t>
            </a:r>
            <a:endParaRPr lang="zh-CN" sz="27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571500" y="8953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18" name="圆角矩形 117"/>
          <p:cNvSpPr/>
          <p:nvPr/>
        </p:nvSpPr>
        <p:spPr>
          <a:xfrm>
            <a:off x="609600" y="1695450"/>
            <a:ext cx="3867150" cy="1104900"/>
          </a:xfrm>
          <a:prstGeom prst="roundRect">
            <a:avLst>
              <a:gd name="adj" fmla="val 10345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19" name="任意多边形 118"/>
          <p:cNvSpPr/>
          <p:nvPr/>
        </p:nvSpPr>
        <p:spPr>
          <a:xfrm>
            <a:off x="609600" y="1695450"/>
            <a:ext cx="3867150" cy="1104900"/>
          </a:xfrm>
          <a:custGeom>
            <a:avLst/>
            <a:gdLst/>
            <a:ahLst/>
            <a:cxnLst/>
            <a:pathLst>
              <a:path w="406" h="11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8"/>
                </a:lnTo>
                <a:cubicBezTo>
                  <a:pt x="4" y="112"/>
                  <a:pt x="7" y="115"/>
                  <a:pt x="10" y="116"/>
                </a:cubicBezTo>
                <a:cubicBezTo>
                  <a:pt x="4" y="115"/>
                  <a:pt x="0" y="110"/>
                  <a:pt x="0" y="10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838200" y="1885950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关键词一</a:t>
            </a:r>
            <a:endParaRPr lang="zh-CN" sz="1050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838200" y="2085975"/>
            <a:ext cx="3371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建体系</a:t>
            </a:r>
            <a:endParaRPr lang="zh-CN" sz="1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838200" y="2447925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概念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项目实战三层知识库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609600" y="3067050"/>
            <a:ext cx="3867150" cy="1104900"/>
          </a:xfrm>
          <a:prstGeom prst="roundRect">
            <a:avLst>
              <a:gd name="adj" fmla="val 10345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124" name="任意多边形 123"/>
          <p:cNvSpPr/>
          <p:nvPr/>
        </p:nvSpPr>
        <p:spPr>
          <a:xfrm>
            <a:off x="609600" y="3067050"/>
            <a:ext cx="3867150" cy="1104900"/>
          </a:xfrm>
          <a:custGeom>
            <a:avLst/>
            <a:gdLst/>
            <a:ahLst/>
            <a:cxnLst/>
            <a:pathLst>
              <a:path w="406" h="11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8"/>
                </a:lnTo>
                <a:cubicBezTo>
                  <a:pt x="4" y="112"/>
                  <a:pt x="7" y="115"/>
                  <a:pt x="10" y="116"/>
                </a:cubicBezTo>
                <a:cubicBezTo>
                  <a:pt x="4" y="115"/>
                  <a:pt x="0" y="110"/>
                  <a:pt x="0" y="10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EA5E9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838200" y="3257550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关键词二</a:t>
            </a:r>
            <a:endParaRPr lang="zh-CN" sz="1050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838200" y="3457575"/>
            <a:ext cx="3371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定方向</a:t>
            </a:r>
            <a:endParaRPr lang="zh-CN" sz="1950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38200" y="3819525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候选池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预选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前瞻框架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609600" y="4438650"/>
            <a:ext cx="3867150" cy="1104900"/>
          </a:xfrm>
          <a:prstGeom prst="roundRect">
            <a:avLst>
              <a:gd name="adj" fmla="val 10345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29" name="任意多边形 128"/>
          <p:cNvSpPr/>
          <p:nvPr/>
        </p:nvSpPr>
        <p:spPr>
          <a:xfrm>
            <a:off x="609600" y="4438650"/>
            <a:ext cx="3867150" cy="1104900"/>
          </a:xfrm>
          <a:custGeom>
            <a:avLst/>
            <a:gdLst/>
            <a:ahLst/>
            <a:cxnLst/>
            <a:pathLst>
              <a:path w="406" h="11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8"/>
                </a:lnTo>
                <a:cubicBezTo>
                  <a:pt x="4" y="112"/>
                  <a:pt x="7" y="115"/>
                  <a:pt x="10" y="116"/>
                </a:cubicBezTo>
                <a:cubicBezTo>
                  <a:pt x="4" y="115"/>
                  <a:pt x="0" y="110"/>
                  <a:pt x="0" y="10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838200" y="4629150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关键词三</a:t>
            </a:r>
            <a:endParaRPr lang="zh-CN" sz="1050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838200" y="4829175"/>
            <a:ext cx="3371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验质量</a:t>
            </a:r>
            <a:endParaRPr lang="zh-CN" sz="195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38200" y="5191125"/>
            <a:ext cx="3371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自动化测试工具链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检索质量分析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4819650" y="1619250"/>
            <a:ext cx="6800850" cy="4000500"/>
          </a:xfrm>
          <a:prstGeom prst="roundRect">
            <a:avLst>
              <a:gd name="adj" fmla="val 3810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124450" y="1924050"/>
            <a:ext cx="6191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工作主线：四周递进，环环相扣</a:t>
            </a:r>
            <a:endParaRPr lang="zh-CN" sz="12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4450" y="2305050"/>
            <a:ext cx="5715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1：AI工具上手 + 知识库搭建&lt;/Text&gt;&#10;        &lt;Box style={{ width: 60, height: 4, background: '#2563EB', borderRadius: 2, marginTop: 8 }} /&gt;&#10;    &lt;/Box&gt;&#10;    &lt;Box style={{ flex: 1, flexDirection: 'row', gap: 20, alignItems: 'center' }}&gt;&#10;        &lt;Box style={{ flex: 1, height: 460, background: '#FFFFFF', borderRadius: 16, padding: 28, boxShadow: '0 4px 24px rgba(37,99,235,0.08)', border: '1px solid #E2E8F0', flexDirection: 'column' }}&gt;&#10;            &lt;Box style={{ width: 56, height: 56, borderRadius: 14, background: 'linear-gradient(135deg, #2563EB 0%, #3B82F6 100%)', justifyContent: 'center', alignItems: 'center', marginBottom: 20 }}&gt;&#10;                &lt;FAIcon name='rocket' style={{ fill: '#FFFFFF', width: 28, height: 28 }} /&gt;&#10;            &lt;/Box&gt;&#10;            &lt;Text style={{ fontSize: 22, fontWeight: 'bold', color: '#1E293B' }}&gt;工具体验&lt;/Text&gt;&#10;            &lt;Text style={{ fontSize: 15, color: '#64748B', marginTop: 12, lineHeight: 1.6 }}&gt;Claude、Codex 深度使用，整理成使用指南与体验笔记，建立 AI 工具操作基础&lt;/Text&gt;&#10;            &lt;Box style={{ marginTop: 'auto', flexDirection: 'row', gap: 8, flexWrap: 'wrap' }}&gt;&#10;                &lt;Box style={{ background: '#EFF6FF', borderRadius: 6, padding: '4px 10px' }}&gt;&lt;Text style={{ fontSize: 12, color: '#2563EB' }}&gt;Claude&lt;/Text&gt;&lt;/Box&gt;&#10;                &lt;Box style={{ background: '#EFF6FF', borderRadius: 6, padding: '4px 10px' }}&gt;&lt;Text style={{ fontSize: 12, color: '#2563EB' }}&gt;Codex&lt;/Text&gt;&lt;/Box&gt;&#10;            &lt;/Box&gt;&#10;        &lt;/Box&gt;&#10;        &lt;Box style={{ flex: 1, height: 460, background: '#FFFFFF', borderRadius: 16, padding: 28, boxShadow: '0 4px 24px rgba(37,99,235,0.08)', border: '1px solid #E2E8F0', flexDirection: 'column' }}&gt;&#10;            &lt;Box style={{ width: 56, height: 56, borderRadius: 14, background: 'linear-gradient(135deg, #0EA5E9 0%, #06B6D4 100%)', justifyContent: 'center', alignItems: 'center', marginBottom: 20 }}&gt;&#10;                &lt;FAIcon name='brain' style={{ fill: '#FFFFFF', width: 28, height: 28 }} /&gt;&#10;            &lt;/Box&gt;&#10;            &lt;Text style={{ fontSize: 22, fontWeight: 'bold', color: '#1E293B' }}&gt;AI概念体系&lt;/Text&gt;&#10;            &lt;Text style={{ fontSize: 15, color: '#64748B', marginTop: 12, lineHeight: 1.6 }}&gt;系统梳理 7 大核心概念：LLM、RAG、Agent、MCP、Prompt Engineering、微调、向量数据库&lt;/Text&gt;&#10;            &lt;Box style={{ marginTop: 'auto', flexDirection: 'row', gap: 6, flexWrap: 'wrap' }}&gt;&#10;                &lt;Box style={{ background: '#F0FDFA', borderRadius: 6, padding: '4px 10px' }}&gt;&lt;Text style={{ fontSize: 12, color: '#0EA5E9' }}&gt;7大概念&lt;/Text&gt;&lt;/Box&gt;&#10;                &lt;Box style={{ background: '#F0FDFA', borderRadius: 6, padding: '4px 10px' }}&gt;&lt;Text style={{ fontSize: 12, color: '#0EA5E9' }}&gt;三层结构&lt;/Text&gt;&lt;/Box&gt;&#10;            &lt;/Box&gt;&#10;        &lt;/Box&gt;&#10;        &lt;Box style={{ flex: 1, height: 460, background: '#FFFFFF', borderRadius: 16, padding: 28, boxShadow: '0 4px 24px rgba(37,99,235,0.08)', border: '1px solid #E2E8F0', flexDirection: 'column' }}&gt;&#10;            &lt;Box style={{ width: 56, height: 56, borderRadius: 14, background: 'linear-gradient(135deg, #8B5CF6 0%, #A78BFA 100%)', justifyContent: 'center', alignItems: 'center', marginBottom: 20 }}&gt;&#10;                &lt;FAIcon name='code' style={{ fill: '#FFFFFF', width: 28, height: 28 }} /&gt;&#10;            &lt;/Box&gt;&#10;            &lt;Text style={{ fontSize: 22, fontWeight: 'bold', color: '#1E293B' }}&gt;实战验证&lt;/Text&gt;&#10;            &lt;Text style={{ fontSize: 15, color: '#64748B', marginTop: 12, lineHeight: 1.6 }}&gt;Claude：Qt 智能风场雷达界面（C++）&lt;br /&gt;Codex：类马里奥小游戏 skybound_sprout&lt;/Text&gt;&#10;            &lt;Box style={{ marginTop: 'auto', flexDirection: 'row', gap: 8, flexWrap: 'wrap' }}&gt;&#10;                &lt;Box style={{ background: '#F5F3FF', borderRadius: 6, padding: '4px 10px' }}&gt;&lt;Text style={{ fontSize: 12, color: '#8B5CF6' }}&gt;Qt/C++&lt;/Text&gt;&lt;/Box&gt;&#10;                &lt;Box style={{ background: '#F5F3FF', borderRadius: 6, padding: '4px 10px' }}&gt;&lt;Text style={{ fontSize: 12, color: '#8B5CF6' }}&gt;游戏开发&lt;/Text&gt;&lt;/Box&gt;&#10;            &lt;/Box&gt;&#10;        &lt;/Box&gt;&#10;        &lt;Box style={{ flex: 1, height: 460, background: '#FFFFFF', borderRadius: 16, padding: 28, boxShadow: '0 4px 24px rgba(37,99,235,0.08)', border: '1px solid #E2E8F0', flexDirection: 'column' }}&gt;&#10;            &lt;Box style={{ width: 56, height: 56, borderRadius: 14, background: 'linear-gradient(135deg, #F97316 0%, #FB923C 100%)', justifyContent: 'center', alignItems: 'center', marginBottom: 20 }}&gt;&#10;                &lt;FAIcon name='book' style={{ fill: '#FFFFFF', width: 28, height: 28 }} /&gt;&#10;            &lt;/Box&gt;&#10;            &lt;Text style={{ fontSize: 22, fontWeight: 'bold', color: '#1E293B' }}&gt;沉淀产出&lt;/Text&gt;&#10;            &lt;Text style={{ fontSize: 15, color: '#64748B', marginTop: 12, lineHeight: 1.6 }}&gt;搭建 Obsidian AI 知识库，概念 / 工具 / 项目三层结构，产出 Week1 分享 PPT&lt;/Text&gt;&#10;            &lt;Box style={{ marginTop: 'auto', flexDirection: 'row', gap: 8, flexWrap: 'wrap' }}&gt;&#10;                &lt;Box style={{ background: '#FFF7ED', borderRadius: 6, padding: '4px 10px' }}&gt;&lt;Text style={{ fontSize: 12, color: '#F97316' }}&gt;Obsidian&lt;/Text&gt;&lt;/Box&gt;&#10;                &lt;Box style={{ background: '#FFF7ED', borderRadius: 6, padding: '4px 10px' }}&gt;&lt;Text style={{ fontSize: 12, color: '#F97316' }}&gt;三层结构&lt;/Text&gt;&lt;/Box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3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Week1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工具上手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知识库搭建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42" name="圆角矩形 141"/>
          <p:cNvSpPr/>
          <p:nvPr/>
        </p:nvSpPr>
        <p:spPr>
          <a:xfrm>
            <a:off x="571500" y="142875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3" name="圆角矩形 142"/>
          <p:cNvSpPr/>
          <p:nvPr/>
        </p:nvSpPr>
        <p:spPr>
          <a:xfrm>
            <a:off x="838200" y="1695450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" y="1828800"/>
            <a:ext cx="266700" cy="266700"/>
          </a:xfrm>
          <a:prstGeom prst="rect">
            <a:avLst/>
          </a:prstGeom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838200" y="2419350"/>
            <a:ext cx="2085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工具体验</a:t>
            </a:r>
            <a:endParaRPr lang="zh-CN" sz="16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838200" y="2790825"/>
            <a:ext cx="20859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Claude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Codex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深度使用，整理成使用指南与体验笔记，建立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工具操作基础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838200" y="5324475"/>
            <a:ext cx="571500" cy="219075"/>
          </a:xfrm>
          <a:prstGeom prst="roundRect">
            <a:avLst>
              <a:gd name="adj" fmla="val 26087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933450" y="5362575"/>
            <a:ext cx="3810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Claude</a:t>
            </a:r>
            <a:endParaRPr lang="en-US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1485900" y="5324475"/>
            <a:ext cx="542925" cy="219075"/>
          </a:xfrm>
          <a:prstGeom prst="roundRect">
            <a:avLst>
              <a:gd name="adj" fmla="val 26087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581150" y="5362575"/>
            <a:ext cx="352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Codex</a:t>
            </a:r>
            <a:endParaRPr lang="en-US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3381375" y="142875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2" name="圆角矩形 151"/>
          <p:cNvSpPr/>
          <p:nvPr/>
        </p:nvSpPr>
        <p:spPr>
          <a:xfrm>
            <a:off x="3648075" y="1695450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EA5E9"/>
              </a:gs>
              <a:gs pos="100000">
                <a:srgbClr val="06B6D4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1425" y="1828800"/>
            <a:ext cx="266700" cy="266700"/>
          </a:xfrm>
          <a:prstGeom prst="rect">
            <a:avLst/>
          </a:prstGeom>
        </p:spPr>
      </p:pic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3648075" y="2419350"/>
            <a:ext cx="2085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概念体系</a:t>
            </a:r>
            <a:endParaRPr lang="zh-CN" sz="16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3648075" y="2790825"/>
            <a:ext cx="2085975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系统梳理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大核心概念：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LLM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Prompt Engineering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、微调、向量数据库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3648075" y="5324475"/>
            <a:ext cx="609600" cy="219075"/>
          </a:xfrm>
          <a:prstGeom prst="roundRect">
            <a:avLst>
              <a:gd name="adj" fmla="val 26087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3743325" y="5362575"/>
            <a:ext cx="419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大概念</a:t>
            </a:r>
            <a:endParaRPr lang="zh-CN" sz="900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4314825" y="5324475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410075" y="53625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三层结构</a:t>
            </a:r>
            <a:endParaRPr lang="zh-CN" sz="900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6191250" y="142875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1" name="圆角矩形 160"/>
          <p:cNvSpPr/>
          <p:nvPr/>
        </p:nvSpPr>
        <p:spPr>
          <a:xfrm>
            <a:off x="6457950" y="1695450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8B5CF6"/>
              </a:gs>
              <a:gs pos="100000">
                <a:srgbClr val="A78BFA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1300" y="1828800"/>
            <a:ext cx="266700" cy="266700"/>
          </a:xfrm>
          <a:prstGeom prst="rect">
            <a:avLst/>
          </a:prstGeom>
        </p:spPr>
      </p:pic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457950" y="2419350"/>
            <a:ext cx="2085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实战验证</a:t>
            </a:r>
            <a:endParaRPr lang="zh-CN" sz="16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457950" y="2790825"/>
            <a:ext cx="2085975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Claude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Qt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智能风场雷达界面（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C++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Codex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：类马里奥小游戏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skybound_sprout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6457950" y="5324475"/>
            <a:ext cx="628650" cy="219075"/>
          </a:xfrm>
          <a:prstGeom prst="roundRect">
            <a:avLst>
              <a:gd name="adj" fmla="val 26087"/>
            </a:avLst>
          </a:prstGeom>
          <a:solidFill>
            <a:srgbClr val="F5F3FF"/>
          </a:solidFill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6553200" y="536257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Qt/C++</a:t>
            </a:r>
            <a:endParaRPr lang="en-US" sz="90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7162800" y="5324475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5F3FF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7258050" y="53625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游戏开发</a:t>
            </a:r>
            <a:endParaRPr lang="zh-CN" sz="90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9001125" y="1428750"/>
            <a:ext cx="2619375" cy="43815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0" name="圆角矩形 169"/>
          <p:cNvSpPr/>
          <p:nvPr/>
        </p:nvSpPr>
        <p:spPr>
          <a:xfrm>
            <a:off x="9267825" y="1695450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F97316"/>
              </a:gs>
              <a:gs pos="100000">
                <a:srgbClr val="FB923C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71" name="图片 17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1175" y="1828800"/>
            <a:ext cx="266700" cy="266700"/>
          </a:xfrm>
          <a:prstGeom prst="rect">
            <a:avLst/>
          </a:prstGeom>
        </p:spPr>
      </p:pic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9267825" y="2419350"/>
            <a:ext cx="2085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沉淀产出</a:t>
            </a:r>
            <a:endParaRPr lang="zh-CN" sz="16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9267825" y="2790825"/>
            <a:ext cx="20859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搭建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Obsidian AI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知识库，概念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项目三层结构，产出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Week1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分享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PPT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9267825" y="5324475"/>
            <a:ext cx="685800" cy="219075"/>
          </a:xfrm>
          <a:prstGeom prst="roundRect">
            <a:avLst>
              <a:gd name="adj" fmla="val 26087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363075" y="5362575"/>
            <a:ext cx="495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Obsidian</a:t>
            </a:r>
            <a:endParaRPr lang="en-US" sz="90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10029825" y="5324475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10125075" y="536257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三层结构</a:t>
            </a:r>
            <a:endParaRPr lang="zh-CN" sz="90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03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9"/>
          <a:stretch>
            <a:fillRect/>
          </a:stretch>
        </p:blipFill>
        <p:spPr>
          <a:xfrm>
            <a:off x="6457950" y="3968750"/>
            <a:ext cx="2077720" cy="1215390"/>
          </a:xfrm>
          <a:prstGeom prst="rect">
            <a:avLst/>
          </a:prstGeom>
        </p:spPr>
      </p:pic>
      <p:pic>
        <p:nvPicPr>
          <p:cNvPr id="181" name="图片 180"/>
          <p:cNvPicPr/>
          <p:nvPr/>
        </p:nvPicPr>
        <p:blipFill>
          <a:blip r:embed="rId10"/>
          <a:stretch>
            <a:fillRect/>
          </a:stretch>
        </p:blipFill>
        <p:spPr>
          <a:xfrm>
            <a:off x="7258050" y="1530985"/>
            <a:ext cx="1394460" cy="888365"/>
          </a:xfrm>
          <a:prstGeom prst="rect">
            <a:avLst/>
          </a:prstGeom>
        </p:spPr>
      </p:pic>
      <p:pic>
        <p:nvPicPr>
          <p:cNvPr id="182" name="图片 181"/>
          <p:cNvPicPr/>
          <p:nvPr/>
        </p:nvPicPr>
        <p:blipFill>
          <a:blip r:embed="rId11"/>
          <a:stretch>
            <a:fillRect/>
          </a:stretch>
        </p:blipFill>
        <p:spPr>
          <a:xfrm>
            <a:off x="9267825" y="3731260"/>
            <a:ext cx="2095500" cy="13849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2（上）：Open WebUI 深度研究&lt;/Text&gt;&#10;        &lt;Box style={{ width: 60, height: 4, background: '#2563EB', borderRadius: 2, marginTop: 8 }} /&gt;&#10;    &lt;/Box&gt;&#10;    &lt;Box style={{ flex: 1, flexDirection: 'row', gap: 0, borderRadius: 16, overflow: 'hidden', boxShadow: '0 4px 24px rgba(37,99,235,0.08)' }}&gt;&#10;        &lt;Box style={{ width: '30%', background: 'linear-gradient(160deg, #1E40AF 0%, #2563EB 100%)', padding: 32, justifyContent: 'space-between' }}&gt;&#10;            &lt;Box&gt;&#10;                &lt;FAIcon name='compass' style={{ fill: '#FFFFFF', width: 40, height: 40, opacity: 0.9 }} /&gt;&#10;                &lt;Text style={{ fontSize: 24, fontWeight: 'bold', color: '#FFFFFF', marginTop: 20, lineHeight: 1.3 }}&gt;Open WebUI&lt;br /&gt;深度研究&lt;/Text&gt;&#10;                &lt;Text style={{ fontSize: 14, color: '#FFFFFF', opacity: 0.7, marginTop: 16, lineHeight: 1.5 }}&gt;自托管多用户 AI 交互平台的功能拆解与架构分析&lt;/Text&gt;&#10;            &lt;/Box&gt;&#10;            &lt;Box style={{ flexDirection: 'row', gap: 8, flexWrap: 'wrap' }}&gt;&#10;                &lt;Box style={{ background: 'rgba(255,255,255,0.15)', borderRadius: 6, padding: '4px 10px' }}&gt;&lt;Text style={{ fontSize: 12, color: '#FFFFFF' }}&gt;Pipeline&lt;/Text&gt;&lt;/Box&gt;&#10;                &lt;Box style={{ background: 'rgba(255,255,255,0.15)', borderRadius: 6, padding: '4px 10px' }}&gt;&lt;Text style={{ fontSize: 12, color: '#FFFFFF' }}&gt;API Tool&lt;/Text&gt;&lt;/Box&gt;&#10;                &lt;Box style={{ background: 'rgba(255,255,255,0.15)', borderRadius: 6, padding: '4px 10px' }}&gt;&lt;Text style={{ fontSize: 12, color: '#FFFFFF' }}&gt;Chat/Core&lt;/Text&gt;&lt;/Box&gt;&#10;            &lt;/Box&gt;&#10;        &lt;/Box&gt;&#10;        &lt;Box style={{ flex: 1, background: '#F8FAFC', padding: 32, flexDirection: 'column', gap: 24 }}&gt;&#10;            &lt;Box style={{ background: '#FFFFFF', borderRadius: 12, padding: 20, borderLeft: '4px solid #2563EB', boxShadow: '0 2px 8px rgba(0,0,0,0.04)' }}&gt;&#10;                &lt;Box style={{ flexDirection: 'row', alignItems: 'center', gap: 12 }}&gt;&#10;                    &lt;Box style={{ width: 32, height: 32, borderRadius: 8, background: '#EFF6FF', justifyContent: 'center', alignItems: 'center' }}&gt;&#10;                        &lt;FAIcon name='file-text' style={{ fill: '#2563EB', width: 18, height: 18 }} /&gt;&#10;                    &lt;/Box&gt;&#10;                    &lt;Text style={{ fontSize: 18, fontWeight: 'bold', color: '#1E293B' }}&gt;功能拆解报告&lt;/Text&gt;&#10;                &lt;/Box&gt;&#10;                &lt;Text style={{ fontSize: 14, color: '#64748B', marginTop: 10, lineHeight: 1.6 }}&gt;完成 Open WebUI 功能拆解报告，覆盖聊天对话、对话管理、模型管理、知识库、Prompt、权限管理、开放能力、扩展能力、多用户管理、部署与数据等核心模块&lt;/Text&gt;&#10;            &lt;/Box&gt;&#10;            &lt;Box style={{ background: '#FFFFFF', borderRadius: 12, padding: 20, borderLeft: '4px solid #0EA5E9', boxShadow: '0 2px 8px rgba(0,0,0,0.04)' }}&gt;&#10;                &lt;Box style={{ flexDirection: 'row', alignItems: 'center', gap: 12 }}&gt;&#10;                    &lt;Box style={{ width: 32, height: 32, borderRadius: 8, background: '#F0FDFA', justifyContent: 'center', alignItems: 'center' }}&gt;&#10;                        &lt;FAIcon name='cog' style={{ fill: '#0EA5E9', width: 18, height: 18 }} /&gt;&#10;                    &lt;/Box&gt;&#10;                    &lt;Text style={{ fontSize: 18, fontWeight: 'bold', color: '#1E293B' }}&gt;机制研究&lt;/Text&gt;&#10;                &lt;/Box&gt;&#10;                &lt;Text style={{ fontSize: 14, color: '#64748B', marginTop: 10, lineHeight: 1.6 }}&gt;Pipeline 与 Model 的区别机制分析；API Tool Function 调用原理；Chat / Core 架构层级拆解&lt;/Text&gt;&#10;            &lt;/Box&gt;&#10;            &lt;Box style={{ background: '#FFFFFF', borderRadius: 12, padding: 20, borderLeft: '4px solid #F97316', boxShadow: '0 2px 8px rgba(0,0,0,0.04)' }}&gt;&#10;                &lt;Box style={{ flexDirection: 'row', alignItems: 'center', gap: 12 }}&gt;&#10;                    &lt;Box style={{ width: 32, height: 32, borderRadius: 8, background: '#FFF7ED', justifyContent: 'center', alignItems: 'center' }}&gt;&#10;                        &lt;FAIcon name='image' style={{ fill: '#F97316', width: 18, height: 18 }} /&gt;&#10;                    &lt;/Box&gt;&#10;                    &lt;Text style={{ fontSize: 18, fontWeight: 'bold', color: '#1E293B' }}&gt;初体验记录&lt;/Text&gt;&#10;                &lt;/Box&gt;&#10;                &lt;Text style={{ fontSize: 14, color: '#64748B', marginTop: 10, lineHeight: 1.6 }}&gt;部署与上手过程截图沉淀，记录多模型同题对比、工具调用、知识库 RAG 等实际使用体验&lt;/Text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4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Week2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（上）：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Open WebUI 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深度研究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圆角矩形 184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86" name="圆角矩形 185"/>
          <p:cNvSpPr/>
          <p:nvPr/>
        </p:nvSpPr>
        <p:spPr>
          <a:xfrm>
            <a:off x="571500" y="1143000"/>
            <a:ext cx="11049000" cy="4953000"/>
          </a:xfrm>
          <a:prstGeom prst="roundRect">
            <a:avLst>
              <a:gd name="adj" fmla="val 3077"/>
            </a:avLst>
          </a:prstGeom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7" name="任意多边形 186"/>
          <p:cNvSpPr/>
          <p:nvPr/>
        </p:nvSpPr>
        <p:spPr>
          <a:xfrm>
            <a:off x="571500" y="1143000"/>
            <a:ext cx="3314700" cy="4953000"/>
          </a:xfrm>
          <a:custGeom>
            <a:avLst/>
            <a:gdLst/>
            <a:ahLst/>
            <a:cxnLst/>
            <a:pathLst>
              <a:path w="348" h="520">
                <a:moveTo>
                  <a:pt x="348" y="520"/>
                </a:move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48" y="0"/>
                </a:lnTo>
                <a:close/>
              </a:path>
            </a:pathLst>
          </a:custGeom>
          <a:gradFill>
            <a:gsLst>
              <a:gs pos="0">
                <a:srgbClr val="1E40AF"/>
              </a:gs>
              <a:gs pos="100000">
                <a:srgbClr val="2563EB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76300" y="2019300"/>
            <a:ext cx="27051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Open WebUI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深度研究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76300" y="5572125"/>
            <a:ext cx="628650" cy="219075"/>
          </a:xfrm>
          <a:prstGeom prst="roundRect">
            <a:avLst>
              <a:gd name="adj" fmla="val 26087"/>
            </a:avLst>
          </a:prstGeom>
          <a:solidFill>
            <a:srgbClr val="FFFFFF">
              <a:alpha val="15000"/>
            </a:srgbClr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971550" y="5610225"/>
            <a:ext cx="4381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Pipeline</a:t>
            </a:r>
            <a:endParaRPr lang="en-US"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1581150" y="5572125"/>
            <a:ext cx="638175" cy="219075"/>
          </a:xfrm>
          <a:prstGeom prst="roundRect">
            <a:avLst>
              <a:gd name="adj" fmla="val 26087"/>
            </a:avLst>
          </a:prstGeom>
          <a:solidFill>
            <a:srgbClr val="FFFFFF">
              <a:alpha val="15000"/>
            </a:srgbClr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1676400" y="5610225"/>
            <a:ext cx="447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API Tool</a:t>
            </a:r>
            <a:endParaRPr lang="en-US"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2295525" y="5572125"/>
            <a:ext cx="752475" cy="219075"/>
          </a:xfrm>
          <a:prstGeom prst="roundRect">
            <a:avLst>
              <a:gd name="adj" fmla="val 26087"/>
            </a:avLst>
          </a:prstGeom>
          <a:solidFill>
            <a:srgbClr val="FFFFFF">
              <a:alpha val="15000"/>
            </a:srgbClr>
          </a:solidFill>
        </p:spPr>
        <p:txBody>
          <a:bodyPr/>
          <a:p/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2390775" y="5610225"/>
            <a:ext cx="561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Chat/Core</a:t>
            </a:r>
            <a:endParaRPr lang="en-US"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任意多边形 194"/>
          <p:cNvSpPr/>
          <p:nvPr/>
        </p:nvSpPr>
        <p:spPr>
          <a:xfrm>
            <a:off x="3886200" y="1143000"/>
            <a:ext cx="7734300" cy="4953000"/>
          </a:xfrm>
          <a:custGeom>
            <a:avLst/>
            <a:gdLst/>
            <a:ahLst/>
            <a:cxnLst/>
            <a:pathLst>
              <a:path w="812" h="520">
                <a:moveTo>
                  <a:pt x="796" y="0"/>
                </a:moveTo>
                <a:cubicBezTo>
                  <a:pt x="805" y="0"/>
                  <a:pt x="812" y="7"/>
                  <a:pt x="812" y="16"/>
                </a:cubicBezTo>
                <a:lnTo>
                  <a:pt x="812" y="504"/>
                </a:lnTo>
                <a:cubicBezTo>
                  <a:pt x="812" y="513"/>
                  <a:pt x="805" y="520"/>
                  <a:pt x="796" y="520"/>
                </a:cubicBezTo>
                <a:lnTo>
                  <a:pt x="0" y="520"/>
                </a:lnTo>
                <a:lnTo>
                  <a:pt x="0" y="0"/>
                </a:lnTo>
                <a:lnTo>
                  <a:pt x="796" y="0"/>
                </a:lnTo>
                <a:close/>
              </a:path>
            </a:pathLst>
          </a:custGeom>
          <a:solidFill>
            <a:srgbClr val="F8FAFC"/>
          </a:solidFill>
        </p:spPr>
        <p:txBody>
          <a:bodyPr/>
          <a:p/>
        </p:txBody>
      </p:sp>
      <p:sp>
        <p:nvSpPr>
          <p:cNvPr id="196" name="圆角矩形 195"/>
          <p:cNvSpPr/>
          <p:nvPr/>
        </p:nvSpPr>
        <p:spPr>
          <a:xfrm>
            <a:off x="4229100" y="1447800"/>
            <a:ext cx="712470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97" name="任意多边形 196"/>
          <p:cNvSpPr/>
          <p:nvPr/>
        </p:nvSpPr>
        <p:spPr>
          <a:xfrm>
            <a:off x="4229100" y="1447800"/>
            <a:ext cx="7124700" cy="1295400"/>
          </a:xfrm>
          <a:custGeom>
            <a:avLst/>
            <a:gdLst/>
            <a:ahLst/>
            <a:cxnLst/>
            <a:pathLst>
              <a:path w="748" h="13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28"/>
                </a:lnTo>
                <a:cubicBezTo>
                  <a:pt x="4" y="132"/>
                  <a:pt x="7" y="135"/>
                  <a:pt x="10" y="136"/>
                </a:cubicBezTo>
                <a:cubicBezTo>
                  <a:pt x="4" y="135"/>
                  <a:pt x="0" y="130"/>
                  <a:pt x="0" y="12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198" name="圆角矩形 197"/>
          <p:cNvSpPr/>
          <p:nvPr/>
        </p:nvSpPr>
        <p:spPr>
          <a:xfrm>
            <a:off x="4419600" y="16383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199" name="图片 19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6275" y="1704975"/>
            <a:ext cx="171450" cy="171450"/>
          </a:xfrm>
          <a:prstGeom prst="rect">
            <a:avLst/>
          </a:prstGeom>
        </p:spPr>
      </p:pic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838700" y="1685925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功能拆解报告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419600" y="2038350"/>
            <a:ext cx="67056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Open WebUI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功能拆解报告，覆盖聊天对话、对话管理、模型管理、知识库、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Prompt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、权限管理、开放能力、扩展能力、多用户管理、部署与数据等核心模块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4229100" y="2971800"/>
            <a:ext cx="71247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03" name="任意多边形 202"/>
          <p:cNvSpPr/>
          <p:nvPr/>
        </p:nvSpPr>
        <p:spPr>
          <a:xfrm>
            <a:off x="4229100" y="2971800"/>
            <a:ext cx="7124700" cy="1038225"/>
          </a:xfrm>
          <a:custGeom>
            <a:avLst/>
            <a:gdLst/>
            <a:ahLst/>
            <a:cxnLst/>
            <a:pathLst>
              <a:path w="748" h="10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1"/>
                </a:lnTo>
                <a:cubicBezTo>
                  <a:pt x="4" y="105"/>
                  <a:pt x="7" y="108"/>
                  <a:pt x="10" y="109"/>
                </a:cubicBezTo>
                <a:cubicBezTo>
                  <a:pt x="4" y="108"/>
                  <a:pt x="0" y="103"/>
                  <a:pt x="0" y="9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EA5E9"/>
          </a:solidFill>
        </p:spPr>
        <p:txBody>
          <a:bodyPr/>
          <a:p/>
        </p:txBody>
      </p:sp>
      <p:sp>
        <p:nvSpPr>
          <p:cNvPr id="204" name="圆角矩形 203"/>
          <p:cNvSpPr/>
          <p:nvPr/>
        </p:nvSpPr>
        <p:spPr>
          <a:xfrm>
            <a:off x="4419600" y="31623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</p:spPr>
        <p:txBody>
          <a:bodyPr/>
          <a:p/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6275" y="3228975"/>
            <a:ext cx="171450" cy="171450"/>
          </a:xfrm>
          <a:prstGeom prst="rect">
            <a:avLst/>
          </a:prstGeom>
        </p:spPr>
      </p:pic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838700" y="3209925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机制研究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419600" y="3562350"/>
            <a:ext cx="6705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Pipeline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Model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的区别机制分析；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API Tool Function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调用原理；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Chat / Core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架构层级拆解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4229100" y="4238625"/>
            <a:ext cx="7124700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09" name="任意多边形 208"/>
          <p:cNvSpPr/>
          <p:nvPr/>
        </p:nvSpPr>
        <p:spPr>
          <a:xfrm>
            <a:off x="4229100" y="4238625"/>
            <a:ext cx="7124700" cy="1038225"/>
          </a:xfrm>
          <a:custGeom>
            <a:avLst/>
            <a:gdLst/>
            <a:ahLst/>
            <a:cxnLst/>
            <a:pathLst>
              <a:path w="748" h="10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1"/>
                </a:lnTo>
                <a:cubicBezTo>
                  <a:pt x="4" y="105"/>
                  <a:pt x="7" y="108"/>
                  <a:pt x="10" y="109"/>
                </a:cubicBezTo>
                <a:cubicBezTo>
                  <a:pt x="4" y="108"/>
                  <a:pt x="0" y="103"/>
                  <a:pt x="0" y="9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210" name="圆角矩形 209"/>
          <p:cNvSpPr/>
          <p:nvPr/>
        </p:nvSpPr>
        <p:spPr>
          <a:xfrm>
            <a:off x="4419600" y="44291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</p:spPr>
        <p:txBody>
          <a:bodyPr/>
          <a:p/>
        </p:txBody>
      </p:sp>
      <p:pic>
        <p:nvPicPr>
          <p:cNvPr id="211" name="图片 2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4495800"/>
            <a:ext cx="171450" cy="171450"/>
          </a:xfrm>
          <a:prstGeom prst="rect">
            <a:avLst/>
          </a:prstGeom>
        </p:spPr>
      </p:pic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4838700" y="447675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初体验记录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419600" y="4829175"/>
            <a:ext cx="6705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部署与上手过程截图沉淀，记录多模型同题对比、工具调用、知识库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RAG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等实际使用体验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04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6" name="图片 215"/>
          <p:cNvPicPr>
            <a:picLocks noChangeAspect="1"/>
          </p:cNvPicPr>
          <p:nvPr/>
        </p:nvPicPr>
        <p:blipFill>
          <a:blip r:embed="rId7">
            <a:alphaModFix amt="9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300" y="1447800"/>
            <a:ext cx="381000" cy="381000"/>
          </a:xfrm>
          <a:prstGeom prst="rect">
            <a:avLst/>
          </a:prstGeom>
        </p:spPr>
      </p:pic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876300" y="2886075"/>
            <a:ext cx="27051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自托管多用户</a:t>
            </a:r>
            <a:r>
              <a:rPr lang="en-US" sz="105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交互平台的功能拆解与架构分析</a:t>
            </a:r>
            <a:endParaRPr lang="zh-CN" sz="105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8" name="图片 217"/>
          <p:cNvPicPr/>
          <p:nvPr/>
        </p:nvPicPr>
        <p:blipFill>
          <a:blip r:embed="rId9"/>
          <a:stretch>
            <a:fillRect/>
          </a:stretch>
        </p:blipFill>
        <p:spPr>
          <a:xfrm>
            <a:off x="876300" y="3576955"/>
            <a:ext cx="2705100" cy="1683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2（下）：WorkBuddy 对标分析&lt;/Text&gt;&#10;        &lt;Box style={{ width: 60, height: 4, background: '#2563EB', borderRadius: 2, marginTop: 8 }} /&gt;&#10;    &lt;/Box&gt;&#10;    &lt;Box style={{ flex: 1, flexDirection: 'row', gap: 24 }}&gt;&#10;        &lt;Box style={{ width: '38%', flexDirection: 'column', gap: 20, justifyContent: 'center' }}&gt;&#10;            &lt;Box style={{ background: '#EFF6FF', borderRadius: 14, padding: 24, border: '1px solid #DBEAFE' }}&gt;&#10;                &lt;Box style={{ flexDirection: 'row', alignItems: 'center', gap: 10, marginBottom: 12 }}&gt;&#10;                    &lt;FAIcon name='chart-bar' style={{ fill: '#2563EB', width: 24, height: 24 }} /&gt;&#10;                    &lt;Text style={{ fontSize: 18, fontWeight: 'bold', color: '#1E293B' }}&gt;功能对比矩阵&lt;/Text&gt;&#10;                &lt;/Box&gt;&#10;                &lt;Text style={{ fontSize: 14, color: '#475569', lineHeight: 1.6 }}&gt;覆盖聊天、模型、知识库、权限、扩展、部署等 10 大维度全维度对比，识别双方优劣势&lt;/Text&gt;&#10;            &lt;/Box&gt;&#10;            &lt;Box style={{ background: '#FFF7ED', borderRadius: 14, padding: 24, border: '1px solid #FED7AA' }}&gt;&#10;                &lt;Box style={{ flexDirection: 'row', alignItems: 'center', gap: 10, marginBottom: 12 }}&gt;&#10;                    &lt;FAIcon name='lightbulb' style={{ fill: '#F97316', width: 24, height: 24 }} /&gt;&#10;                    &lt;Text style={{ fontSize: 18, fontWeight: 'bold', color: '#1E293B' }}&gt;可借鉴功能点&lt;/Text&gt;&#10;                &lt;/Box&gt;&#10;                &lt;Text style={{ fontSize: 14, color: '#475569', lineHeight: 1.6 }}&gt;多模型同题并排比较；Pipeline 中间件；独立 Prompt 模板库；分享能力&lt;/Text&gt;&#10;            &lt;/Box&gt;&#10;            &lt;Box style={{ background: '#F0FDFA', borderRadius: 14, padding: 24, border: '1px solid #A7F3D0' }}&gt;&#10;                &lt;Box style={{ flexDirection: 'row', alignItems: 'center', gap: 10, marginBottom: 12 }}&gt;&#10;                    &lt;FAIcon name='clipboard' style={{ fill: '#0EA5E9', width: 24, height: 24 }} /&gt;&#10;                    &lt;Text style={{ fontSize: 18, fontWeight: 'bold', color: '#1E293B' }}&gt;产品背景理解&lt;/Text&gt;&#10;                &lt;/Box&gt;&#10;                &lt;Text style={{ fontSize: 14, color: '#475569', lineHeight: 1.6 }}&gt;研读规划书 V1.2 正式版，理解产品定位、目标用户、V1→V5 版本路线与 MVP 最小功能集&lt;/Text&gt;&#10;            &lt;/Box&gt;&#10;        &lt;/Box&gt;&#10;        &lt;Box style={{ flex: 1, background: '#FFFFFF', borderRadius: 16, padding: 20, boxShadow: '0 4px 24px rgba(37,99,235,0.06)', border: '1px solid #E2E8F0' }}&gt;&#10;            &lt;Text style={{ fontSize: 14, fontWeight: 'bold', color: '#1E293B', marginBottom: 12 }}&gt;关键维度差异对比&lt;/Text&gt;&#10;            &lt;Table&#10;                style={{ width: '100%', height: 380 }}&#10;                defaultTextStyle={{ fontSize: 12, textAlign: 'center', color: '#1E293B' }}&#10;                defaultCellStyle={{&#10;                    border: { left: { width: 1, color: '#E2E8F0' }, right: { width: 1, color: '#E2E8F0' }, top: { width: 1, color: '#E2E8F0' }, bottom: { width: 1, color: '#E2E8F0' } },&#10;                    padding: 8,&#10;                }}&#10;                cells={[&#10;                    [{ text: '维度', textStyle: { bold: true, color: '#FFFFFF' }, cellStyle: { background: { color: '#2563EB' } } },&#10;                     { text: 'Open WebUI 优势', textStyle: { bold: true, color: '#FFFFFF' }, cellStyle: { background: { color: '#2563EB' } } },&#10;                     { text: 'WorkBuddy 优势', textStyle: { bold: true, color: '#FFFFFF' }, cellStyle: { background: { color: '#2563EB' } } }],&#10;                    ['多模型比较', { text: '同题并排比较', textStyle: { color: '#2563EB', bold: true } }, 'Auto 自动选模'],&#10;                    ['对话管理', { text: '搜索/标签/分叉', textStyle: { bold: true } }, '任务+工作空间'],&#10;                    ['模型管理', { text: '集中治理', textStyle: { bold: true } }, 'BYOK 本地保存'],&#10;                    ['知识库', { text: '检索参数可控', textStyle: { bold: true } }, '办公生态闭环'],&#10;                    ['Prompt', { text: '独立模板库', textStyle: { bold: true } }, '一键复刻案例'],&#10;                    ['权限', { text: '细粒度 RBAC', textStyle: { bold: true } }, '本地敏感操作确认'],&#10;                    ['工具调用', { text: '标准化注册', textStyle: { bold: true } }, '桌面+文件操控'],&#10;                    ['部署', { text: '完整自托管', textStyle: { bold: true } }, '开箱即用'],&#10;                ]}&#10;            /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5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Week2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（下）：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WorkBuddy 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对标分析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22" name="圆角矩形 221"/>
          <p:cNvSpPr/>
          <p:nvPr>
            <p:custDataLst>
              <p:tags r:id="rId1"/>
            </p:custDataLst>
          </p:nvPr>
        </p:nvSpPr>
        <p:spPr>
          <a:xfrm>
            <a:off x="571500" y="1457325"/>
            <a:ext cx="4200525" cy="1314450"/>
          </a:xfrm>
          <a:prstGeom prst="roundRect">
            <a:avLst>
              <a:gd name="adj" fmla="val 101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pic>
        <p:nvPicPr>
          <p:cNvPr id="223" name="图片 2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1685925"/>
            <a:ext cx="228600" cy="228600"/>
          </a:xfrm>
          <a:prstGeom prst="rect">
            <a:avLst/>
          </a:prstGeom>
        </p:spPr>
      </p:pic>
      <p:sp>
        <p:nvSpPr>
          <p:cNvPr id="224" name="文本框 223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123950" y="169545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功能对比矩阵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00100" y="2028825"/>
            <a:ext cx="3743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覆盖聊天、模型、知识库、权限、扩展、部署等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大维度全维度对比，识别双方优劣势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圆角矩形 225"/>
          <p:cNvSpPr/>
          <p:nvPr>
            <p:custDataLst>
              <p:tags r:id="rId7"/>
            </p:custDataLst>
          </p:nvPr>
        </p:nvSpPr>
        <p:spPr>
          <a:xfrm>
            <a:off x="571500" y="2962275"/>
            <a:ext cx="4200525" cy="1314450"/>
          </a:xfrm>
          <a:prstGeom prst="roundRect">
            <a:avLst>
              <a:gd name="adj" fmla="val 1014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pic>
        <p:nvPicPr>
          <p:cNvPr id="227" name="图片 2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" y="3190875"/>
            <a:ext cx="228600" cy="228600"/>
          </a:xfrm>
          <a:prstGeom prst="rect">
            <a:avLst/>
          </a:prstGeom>
        </p:spPr>
      </p:pic>
      <p:sp>
        <p:nvSpPr>
          <p:cNvPr id="228" name="文本框 227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1123950" y="320040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可借鉴功能点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800100" y="3533775"/>
            <a:ext cx="3743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多模型同题并排比较；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Pipeline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中间件；独立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Prompt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模板库；分享能力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圆角矩形 229"/>
          <p:cNvSpPr/>
          <p:nvPr>
            <p:custDataLst>
              <p:tags r:id="rId13"/>
            </p:custDataLst>
          </p:nvPr>
        </p:nvSpPr>
        <p:spPr>
          <a:xfrm>
            <a:off x="571500" y="4467225"/>
            <a:ext cx="4200525" cy="1314450"/>
          </a:xfrm>
          <a:prstGeom prst="roundRect">
            <a:avLst>
              <a:gd name="adj" fmla="val 10145"/>
            </a:avLst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pic>
        <p:nvPicPr>
          <p:cNvPr id="231" name="图片 23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0100" y="4695825"/>
            <a:ext cx="228600" cy="228600"/>
          </a:xfrm>
          <a:prstGeom prst="rect">
            <a:avLst/>
          </a:prstGeom>
        </p:spPr>
      </p:pic>
      <p:sp>
        <p:nvSpPr>
          <p:cNvPr id="232" name="文本框 231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1123950" y="470535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产品背景理解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800100" y="5038725"/>
            <a:ext cx="3743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研读规划书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V1.2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正式版，理解产品定位、目标用户、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V1→V5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版本路线与</a:t>
            </a: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MVP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最小功能集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圆角矩形 233"/>
          <p:cNvSpPr/>
          <p:nvPr/>
        </p:nvSpPr>
        <p:spPr>
          <a:xfrm>
            <a:off x="5000625" y="1685925"/>
            <a:ext cx="6619875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5191125" y="1876425"/>
            <a:ext cx="6238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关键维度差异对比</a:t>
            </a:r>
            <a:endParaRPr lang="zh-CN" sz="10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6" name="表格 235"/>
          <p:cNvGraphicFramePr/>
          <p:nvPr/>
        </p:nvGraphicFramePr>
        <p:xfrm>
          <a:off x="5191125" y="2152650"/>
          <a:ext cx="6238875" cy="3619503"/>
        </p:xfrm>
        <a:graphic>
          <a:graphicData uri="http://schemas.openxmlformats.org/drawingml/2006/table">
            <a:tbl>
              <a:tblPr/>
              <a:tblGrid>
                <a:gridCol w="1477964"/>
                <a:gridCol w="2433543"/>
                <a:gridCol w="2327368"/>
              </a:tblGrid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 WebUI 优势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WorkBuddy 优势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多模型比较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同题并排比较</a:t>
                      </a:r>
                      <a:endParaRPr sz="9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Auto 自动选模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对话管理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搜索/标签/分叉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任务+工作空间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模型管理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集中治理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BYOK 本地保存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知识库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检索参数可控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办公生态闭环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Prompt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独立模板库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一键复刻案例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细粒度 RBAC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本地敏感操作确认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工具调用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标准化注册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桌面+文件操控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16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部署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完整自托管</a:t>
                      </a:r>
                      <a:endParaRPr sz="9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开箱即用</a:t>
                      </a:r>
                      <a:endParaRPr sz="90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05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9" name="图片 238"/>
          <p:cNvPicPr/>
          <p:nvPr/>
        </p:nvPicPr>
        <p:blipFill>
          <a:blip r:embed="rId19"/>
          <a:stretch>
            <a:fillRect/>
          </a:stretch>
        </p:blipFill>
        <p:spPr>
          <a:xfrm>
            <a:off x="6608445" y="98425"/>
            <a:ext cx="367284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3（上）：2期功能候选池与初选&lt;/Text&gt;&#10;        &lt;Box style={{ width: 60, height: 4, background: '#2563EB', borderRadius: 2, marginTop: 8 }} /&gt;&#10;    &lt;/Box&gt;&#10;    &lt;Box style={{ flex: 1, flexDirection: 'row', gap: 0, borderRadius: 16, overflow: 'hidden', boxShadow: '0 4px 24px rgba(37,99,235,0.08)' }}&gt;&#10;        &lt;Box style={{ width: '28%', background: 'linear-gradient(160deg, #1E40AF 0%, #2563EB 100%)', padding: 32, justifyContent: 'center', alignItems: 'center' }}&gt;&#10;            &lt;Box style={{ alignItems: 'center', flexDirection: 'column' }}&gt;&#10;                &lt;Text style={{ fontSize: 80, fontWeight: 'bold', color: '#FFFFFF', lineHeight: 1 }}&gt;22&lt;/Text&gt;&#10;                &lt;Text style={{ fontSize: 16, color: '#FFFFFF', opacity: 0.8, marginTop: 8 }}&gt;候选功能总数&lt;/Text&gt;&#10;                &lt;Box style={{ width: 40, height: 3, background: '#F97316', borderRadius: 2, marginTop: 16, marginBottom: 16 }} /&gt;&#10;                &lt;Text style={{ fontSize: 80, fontWeight: 'bold', color: '#FFFFFF', lineHeight: 1 }}&gt;6&lt;/Text&gt;&#10;                &lt;Text style={{ fontSize: 16, color: '#FFFFFF', opacity: 0.8, marginTop: 8 }}&gt;预选功能数&lt;/Text&gt;&#10;            &lt;/Box&gt;&#10;        &lt;/Box&gt;&#10;        &lt;Box style={{ flex: 1, background: '#F8FAFC', padding: 28, flexDirection: 'column', gap: 16 }}&gt;&#10;            &lt;Box style={{ flexDirection: 'row', alignItems: 'center', gap: 10, marginBottom: 4 }}&gt;&#10;                &lt;Box style={{ background: '#2563EB', borderRadius: 6, padding: '4px 12px' }}&gt;&lt;Text style={{ fontSize: 13, fontWeight: 'bold', color: '#FFFFFF' }}&gt;2期预选&lt;/Text&gt;&lt;/Box&gt;&#10;                &lt;Text style={{ fontSize: 14, color: '#64748B' }}&gt;对齐 V1.5 标准搭子与专业办公&lt;/Text&gt;&#10;            &lt;/Box&gt;&#10;            &lt;Box style={{ flexDirection: 'row', gap: 10 }}&gt;&#10;                &lt;Box style={{ flex: 1, background: '#FFFFFF', borderRadius: 10, padding: 14, border: '1px solid #DBEAFE', flexDirection: 'column', gap: 6 }}&gt;&#10;                    &lt;Text style={{ fontSize: 13, fontWeight: 'bold', color: '#2563EB' }}&gt;1. 模板中心&lt;/Text&gt;&#10;                    &lt;Text style={{ fontSize: 12, color: '#64748B', lineHeight: 1.4 }}&gt;文稿/PPT/报告模板库，团队复用，做成 Skill&lt;/Text&gt;&#10;                &lt;/Box&gt;&#10;                &lt;Box style={{ flex: 1, background: '#FFFFFF', borderRadius: 10, padding: 14, border: '1px solid #DBEAFE', flexDirection: 'column', gap: 6 }}&gt;&#10;                    &lt;Text style={{ fontSize: 13, fontWeight: 'bold', color: '#2563EB' }}&gt;2. 模型自动选择&lt;/Text&gt;&#10;                    &lt;Text style={{ fontSize: 12, color: '#64748B', lineHeight: 1.4 }}&gt;根据问题类型自动匹配最优模型&lt;/Text&gt;&#10;                &lt;/Box&gt;&#10;            &lt;/Box&gt;&#10;            &lt;Box style={{ flexDirection: 'row', gap: 10 }}&gt;&#10;                &lt;Box style={{ flex: 1, background: '#FFFFFF', borderRadius: 10, padding: 14, border: '1px solid #DBEAFE', flexDirection: 'column', gap: 6 }}&gt;&#10;                    &lt;Text style={{ fontSize: 13, fontWeight: 'bold', color: '#2563EB' }}&gt;3. 成本分析看板&lt;/Text&gt;&#10;                    &lt;Text style={{ fontSize: 12, color: '#64748B', lineHeight: 1.4 }}&gt;使用量、采纳率、Token 成本报表&lt;/Text&gt;&#10;                &lt;/Box&gt;&#10;                &lt;Box style={{ flex: 1, background: '#FFFFFF', borderRadius: 10, padding: 14, border: '1px solid #DBEAFE', flexDirection: 'column', gap: 6 }}&gt;&#10;                    &lt;Text style={{ fontSize: 13, fontWeight: 'bold', color: '#2563EB' }}&gt;4. 外部分享&lt;/Text&gt;&#10;                    &lt;Text style={{ fontSize: 12, color: '#64748B', lineHeight: 1.4 }}&gt;成果只读/可评论外链分享&lt;/Text&gt;&#10;                &lt;/Box&gt;&#10;            &lt;/Box&gt;&#10;            &lt;Box style={{ flexDirection: 'row', alignItems: 'center', gap: 10, marginTop: 8, marginBottom: 4 }}&gt;&#10;                &lt;Box style={{ background: '#0EA5E9', borderRadius: 6, padding: '4px 12px' }}&gt;&lt;Text style={{ fontSize: 13, fontWeight: 'bold', color: '#FFFFFF' }}&gt;3期预选&lt;/Text&gt;&lt;/Box&gt;&#10;                &lt;Text style={{ fontSize: 14, color: '#64748B' }}&gt;对齐 V2 专业智能体构建&lt;/Text&gt;&#10;            &lt;/Box&gt;&#10;            &lt;Box style={{ flexDirection: 'row', gap: 10 }}&gt;&#10;                &lt;Box style={{ flex: 1, background: '#FFFFFF', borderRadius: 10, padding: 14, border: '1px solid #A7F3D0', flexDirection: 'column', gap: 6 }}&gt;&#10;                    &lt;Text style={{ fontSize: 13, fontWeight: 'bold', color: '#0EA5E9' }}&gt;5. 智能体构建器&lt;/Text&gt;&#10;                    &lt;Text style={{ fontSize: 12, color: '#64748B', lineHeight: 1.4 }}&gt;可视化配置台，统一构建界面&lt;/Text&gt;&#10;                &lt;/Box&gt;&#10;                &lt;Box style={{ flex: 1, background: '#FFFFFF', borderRadius: 10, padding: 14, border: '1px solid #A7F3D0', flexDirection: 'column', gap: 6 }}&gt;&#10;                    &lt;Text style={{ fontSize: 13, fontWeight: 'bold', color: '#0EA5E9' }}&gt;6. 多智能体协作&lt;/Text&gt;&#10;                    &lt;Text style={{ fontSize: 12, color: '#64748B', lineHeight: 1.4 }}&gt;任务拆解协同，接力式完成&lt;/Text&gt;&#10;                &lt;/Box&gt;&#10;            &lt;/Box&gt;&#10;            &lt;Box style={{ background: '#FFF7ED', borderRadius: 10, padding: 12, border: '1px solid #FED7AA', flexDirection: 'row', alignItems: 'center', gap: 10 }}&gt;&#10;                &lt;FAIcon name='lightbulb' style={{ fill: '#F97316', width: 20, height: 20 }} /&gt;&#10;                &lt;Text style={{ fontSize: 13, color: '#92400E' }}&gt;前瞻设计：事务型 Agent 执行框架（统一工具网关 + Dry Run + 快照回滚）&lt;/Text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6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Week3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（上）：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期功能候选池与初选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43" name="圆角矩形 242"/>
          <p:cNvSpPr/>
          <p:nvPr/>
        </p:nvSpPr>
        <p:spPr>
          <a:xfrm>
            <a:off x="571500" y="1143000"/>
            <a:ext cx="11049000" cy="4953000"/>
          </a:xfrm>
          <a:prstGeom prst="roundRect">
            <a:avLst>
              <a:gd name="adj" fmla="val 3077"/>
            </a:avLst>
          </a:prstGeom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4" name="任意多边形 243"/>
          <p:cNvSpPr/>
          <p:nvPr/>
        </p:nvSpPr>
        <p:spPr>
          <a:xfrm>
            <a:off x="571500" y="1143000"/>
            <a:ext cx="3095625" cy="4953000"/>
          </a:xfrm>
          <a:custGeom>
            <a:avLst/>
            <a:gdLst/>
            <a:ahLst/>
            <a:cxnLst/>
            <a:pathLst>
              <a:path w="325" h="520">
                <a:moveTo>
                  <a:pt x="325" y="520"/>
                </a:move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25" y="0"/>
                </a:lnTo>
                <a:close/>
              </a:path>
            </a:pathLst>
          </a:custGeom>
          <a:gradFill>
            <a:gsLst>
              <a:gs pos="0">
                <a:srgbClr val="1E40AF"/>
              </a:gs>
              <a:gs pos="100000">
                <a:srgbClr val="2563EB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1647825" y="2276475"/>
            <a:ext cx="942975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sz="6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圆角矩形 245"/>
          <p:cNvSpPr/>
          <p:nvPr/>
        </p:nvSpPr>
        <p:spPr>
          <a:xfrm>
            <a:off x="1933575" y="360997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885950" y="3790950"/>
            <a:ext cx="476250" cy="914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6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3667125" y="1143000"/>
            <a:ext cx="7953375" cy="4953000"/>
          </a:xfrm>
          <a:custGeom>
            <a:avLst/>
            <a:gdLst/>
            <a:ahLst/>
            <a:cxnLst/>
            <a:pathLst>
              <a:path w="835" h="520">
                <a:moveTo>
                  <a:pt x="819" y="0"/>
                </a:moveTo>
                <a:cubicBezTo>
                  <a:pt x="828" y="0"/>
                  <a:pt x="835" y="7"/>
                  <a:pt x="835" y="16"/>
                </a:cubicBezTo>
                <a:lnTo>
                  <a:pt x="835" y="504"/>
                </a:lnTo>
                <a:cubicBezTo>
                  <a:pt x="835" y="513"/>
                  <a:pt x="828" y="520"/>
                  <a:pt x="819" y="520"/>
                </a:cubicBezTo>
                <a:lnTo>
                  <a:pt x="0" y="520"/>
                </a:lnTo>
                <a:lnTo>
                  <a:pt x="0" y="0"/>
                </a:lnTo>
                <a:lnTo>
                  <a:pt x="819" y="0"/>
                </a:lnTo>
                <a:close/>
              </a:path>
            </a:pathLst>
          </a:custGeom>
          <a:solidFill>
            <a:srgbClr val="F8FAFC"/>
          </a:solidFill>
        </p:spPr>
        <p:txBody>
          <a:bodyPr/>
          <a:p/>
        </p:txBody>
      </p:sp>
      <p:sp>
        <p:nvSpPr>
          <p:cNvPr id="249" name="圆角矩形 248"/>
          <p:cNvSpPr/>
          <p:nvPr/>
        </p:nvSpPr>
        <p:spPr>
          <a:xfrm>
            <a:off x="3933825" y="140970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4048125" y="1447800"/>
            <a:ext cx="457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期预选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4714875" y="1447800"/>
            <a:ext cx="182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V1.5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标准搭子与专业办公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圆角矩形 251"/>
          <p:cNvSpPr/>
          <p:nvPr/>
        </p:nvSpPr>
        <p:spPr>
          <a:xfrm>
            <a:off x="3933825" y="1828800"/>
            <a:ext cx="3667125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4067175" y="1962150"/>
            <a:ext cx="3400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模板中心</a:t>
            </a:r>
            <a:endParaRPr lang="zh-CN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4067175" y="2171700"/>
            <a:ext cx="3400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文稿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/PPT/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报告模板库，团队复用，做成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Skill</a:t>
            </a:r>
            <a:endParaRPr lang="en-US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7696200" y="1828800"/>
            <a:ext cx="36576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7829550" y="1962150"/>
            <a:ext cx="3390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模型自动选择</a:t>
            </a:r>
            <a:endParaRPr lang="zh-CN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829550" y="2171700"/>
            <a:ext cx="3390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根据问题类型自动匹配最优模型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3933825" y="2657475"/>
            <a:ext cx="3667125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4067175" y="2790825"/>
            <a:ext cx="3400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成本分析看板</a:t>
            </a:r>
            <a:endParaRPr lang="zh-CN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4067175" y="3000375"/>
            <a:ext cx="3400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使用量、采纳率、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Token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成本报表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7696200" y="2657475"/>
            <a:ext cx="36576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7829550" y="2790825"/>
            <a:ext cx="3390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sz="9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外部分享</a:t>
            </a:r>
            <a:endParaRPr lang="zh-CN" sz="9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829550" y="3000375"/>
            <a:ext cx="3390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成果只读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可评论外链分享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圆角矩形 263"/>
          <p:cNvSpPr/>
          <p:nvPr/>
        </p:nvSpPr>
        <p:spPr>
          <a:xfrm>
            <a:off x="3933825" y="356235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0EA5E9"/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4048125" y="3600450"/>
            <a:ext cx="457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期预选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4714875" y="36004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V2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专业智能体构建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3933825" y="3981450"/>
            <a:ext cx="3667125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4067175" y="4114800"/>
            <a:ext cx="3400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sz="975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智能体构建器</a:t>
            </a:r>
            <a:endParaRPr lang="zh-CN" sz="975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4067175" y="4324350"/>
            <a:ext cx="3400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可视化配置台，统一构建界面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7696200" y="3981450"/>
            <a:ext cx="36576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829550" y="4114800"/>
            <a:ext cx="3390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6. </a:t>
            </a:r>
            <a:r>
              <a:rPr lang="zh-CN" sz="975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多智能体协作</a:t>
            </a:r>
            <a:endParaRPr lang="zh-CN" sz="975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7829550" y="4324350"/>
            <a:ext cx="3390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任务拆解协同，接力式完成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3933825" y="4810125"/>
            <a:ext cx="7419975" cy="419100"/>
          </a:xfrm>
          <a:prstGeom prst="roundRect">
            <a:avLst>
              <a:gd name="adj" fmla="val 22727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8125" y="4924425"/>
            <a:ext cx="190500" cy="190500"/>
          </a:xfrm>
          <a:prstGeom prst="rect">
            <a:avLst/>
          </a:pr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4333875" y="4943475"/>
            <a:ext cx="42195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前瞻设计：事务型</a:t>
            </a:r>
            <a:r>
              <a:rPr lang="en-US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Agent </a:t>
            </a: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执行框架（统一工具网关</a:t>
            </a:r>
            <a:r>
              <a:rPr lang="en-US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+ Dry Run + </a:t>
            </a: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快照回滚）</a:t>
            </a:r>
            <a:endParaRPr lang="zh-CN" sz="975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06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666875" y="3267075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候选功能总数</a:t>
            </a:r>
            <a:endParaRPr lang="zh-CN" sz="120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743075" y="4781550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预选功能数</a:t>
            </a:r>
            <a:endParaRPr lang="zh-CN" sz="120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3（下）：原型设计与PRD&lt;/Text&gt;&#10;        &lt;Box style={{ width: 60, height: 4, background: '#2563EB', borderRadius: 2, marginTop: 8 }} /&gt;&#10;    &lt;/Box&gt;&#10;    &lt;Box style={{ height: 40, flexDirection: 'row', alignItems: 'center', gap: 12 }}&gt;&#10;        &lt;FAIcon name='pencil-ruler' style={{ fill: '#2563EB', width: 22, height: 22 }} /&gt;&#10;        &lt;Text style={{ fontSize: 15, color: '#64748B' }}&gt;基于功能预选结果，完成 4 份原型设计 / PRD / 测试用例交付物，为开发提供直接依据&lt;/Text&gt;&#10;    &lt;/Box&gt;&#10;    &lt;Box style={{ flex: 1, flexDirection: 'row', gap: 18, alignItems: 'center' }}&gt;&#10;        &lt;Box style={{ flex: 1, height: 400, background: '#FFFFFF', borderRadius: 16, padding: 24, boxShadow: '0 4px 24px rgba(37,99,235,0.08)', border: '1px solid #E2E8F0', flexDirection: 'column' }}&gt;&#10;            &lt;Box style={{ width: 52, height: 52, borderRadius: 12, background: 'linear-gradient(135deg, #2563EB 0%, #3B82F6 100%)', justifyContent: 'center', alignItems: 'center', marginBottom: 16 }}&gt;&#10;                &lt;FAIcon name='share-alt' style={{ fill: '#FFFFFF', width: 26, height: 26 }} /&gt;&#10;            &lt;/Box&gt;&#10;            &lt;Text style={{ fontSize: 18, fontWeight: 'bold', color: '#1E293B' }}&gt;分享与导出提案&lt;/Text&gt;&#10;            &lt;Text style={{ fontSize: 14, color: '#64748B', marginTop: 10, lineHeight: 1.5 }}&gt;外链只读/可评论分享 + PDF/Markdown 导出，含三态交互设计与权限控制方案&lt;/Text&gt;&#10;            &lt;Box style={{ marginTop: 'auto', flexDirection: 'row', gap: 8 }}&gt;&#10;                &lt;Box style={{ background: '#EFF6FF', borderRadius: 6, padding: '4px 10px' }}&gt;&lt;Text style={{ fontSize: 12, color: '#2563EB' }}&gt;P0优先级&lt;/Text&gt;&lt;/Box&gt;&#10;                &lt;Box style={{ background: '#F0FDFA', borderRadius: 6, padding: '4px 10px' }}&gt;&lt;Text style={{ fontSize: 12, color: '#0EA5E9' }}&gt;1-2周&lt;/Text&gt;&lt;/Box&gt;&#10;            &lt;/Box&gt;&#10;        &lt;/Box&gt;&#10;        &lt;Box style={{ flex: 1, height: 400, background: '#FFFFFF', borderRadius: 16, padding: 24, boxShadow: '0 4px 24px rgba(37,99,235,0.08)', border: '1px solid #E2E8F0', flexDirection: 'column' }}&gt;&#10;            &lt;Box style={{ width: 52, height: 52, borderRadius: 12, background: 'linear-gradient(135deg, #0EA5E9 0%, #06B6D4 100%)', justifyContent: 'center', alignItems: 'center', marginBottom: 16 }}&gt;&#10;                &lt;FAIcon name='chart-line' style={{ fill: '#FFFFFF', width: 26, height: 26 }} /&gt;&#10;            &lt;/Box&gt;&#10;            &lt;Text style={{ fontSize: 18, fontWeight: 'bold', color: '#1E293B' }}&gt;成本分析看板PRD&lt;/Text&gt;&#10;            &lt;Text style={{ fontSize: 14, color: '#64748B', marginTop: 10, lineHeight: 1.5 }}&gt;管理端使用量、试用率、启用率、成果采纳率、Token 成本报表完整规格定义&lt;/Text&gt;&#10;            &lt;Box style={{ marginTop: 'auto', flexDirection: 'row', gap: 8 }}&gt;&#10;                &lt;Box style={{ background: '#EFF6FF', borderRadius: 6, padding: '4px 10px' }}&gt;&lt;Text style={{ fontSize: 12, color: '#2563EB' }}&gt;管理端&lt;/Text&gt;&lt;/Box&gt;&#10;                &lt;Box style={{ background: '#F0FDFA', borderRadius: 6, padding: '4px 10px' }}&gt;&lt;Text style={{ fontSize: 12, color: '#0EA5E9' }}&gt;PRD文档&lt;/Text&gt;&lt;/Box&gt;&#10;            &lt;/Box&gt;&#10;        &lt;/Box&gt;&#10;        &lt;Box style={{ flex: 1, height: 400, background: '#FFFFFF', borderRadius: 16, padding: 24, boxShadow: '0 4px 24px rgba(37,99,235,0.08)', border: '1px solid #E2E8F0', flexDirection: 'column' }}&gt;&#10;            &lt;Box style={{ width: 52, height: 52, borderRadius: 12, background: 'linear-gradient(135deg, #8B5CF6 0%, #A78BFA 100%)', justifyContent: 'center', alignItems: 'center', marginBottom: 16 }}&gt;&#10;                &lt;FAIcon name='code' style={{ fill: '#FFFFFF', width: 26, height: 26 }} /&gt;&#10;            &lt;/Box&gt;&#10;            &lt;Text style={{ fontSize: 18, fontWeight: 'bold', color: '#1E293B' }}&gt;Agent Prompt 方案&lt;/Text&gt;&#10;            &lt;Text style={{ fontSize: 14, color: '#64748B', marginTop: 10, lineHeight: 1.5 }}&gt;搭子系统 Prompt 设计规范，含角色定义、知识库引用、MCP 工具绑定策略&lt;/Text&gt;&#10;            &lt;Box style={{ marginTop: 'auto', flexDirection: 'row', gap: 8 }}&gt;&#10;                &lt;Box style={{ background: '#F5F3FF', borderRadius: 6, padding: '4px 10px' }}&gt;&lt;Text style={{ fontSize: 12, color: '#8B5CF6' }}&gt;Prompt工程&lt;/Text&gt;&lt;/Box&gt;&#10;                &lt;Box style={{ background: '#F5F3FF', borderRadius: 6, padding: '4px 10px' }}&gt;&lt;Text style={{ fontSize: 12, color: '#8B5CF6' }}&gt;设计规范&lt;/Text&gt;&lt;/Box&gt;&#10;            &lt;/Box&gt;&#10;        &lt;/Box&gt;&#10;        &lt;Box style={{ flex: 1, height: 400, background: '#FFFFFF', borderRadius: 16, padding: 24, boxShadow: '0 4px 24px rgba(37,99,235,0.08)', border: '1px solid #E2E8F0', flexDirection: 'column' }}&gt;&#10;            &lt;Box style={{ width: 52, height: 52, borderRadius: 12, background: 'linear-gradient(135deg, #F97316 0%, #FB923C 100%)', justifyContent: 'center', alignItems: 'center', marginBottom: 16 }}&gt;&#10;                &lt;FAIcon name='check-circle' style={{ fill: '#FFFFFF', width: 26, height: 26 }} /&gt;&#10;            &lt;/Box&gt;&#10;            &lt;Text style={{ fontSize: 18, fontWeight: 'bold', color: '#1E293B' }}&gt;Kmind 测试用例&lt;/Text&gt;&#10;            &lt;Text style={{ fontSize: 14, color: '#64748B', marginTop: 10, lineHeight: 1.5 }}&gt;MVP 功能测试用例（xlsx），覆盖账号、对话、搭档、技能、MCP、知识库全链路&lt;/Text&gt;&#10;            &lt;Box style={{ marginTop: 'auto', flexDirection: 'row', gap: 8 }}&gt;&#10;                &lt;Box style={{ background: '#FFF7ED', borderRadius: 6, padding: '4px 10px' }}&gt;&lt;Text style={{ fontSize: 12, color: '#F97316' }}&gt;xlsx&lt;/Text&gt;&lt;/Box&gt;&#10;                &lt;Box style={{ background: '#FFF7ED', borderRadius: 6, padding: '4px 10px' }}&gt;&lt;Text style={{ fontSize: 12, color: '#F97316' }}&gt;全链路&lt;/Text&gt;&lt;/Box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7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Week3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（下）：原型设计与</a:t>
            </a: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PRD</a:t>
            </a:r>
            <a:endParaRPr lang="en-US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pic>
        <p:nvPicPr>
          <p:cNvPr id="284" name="图片 28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228725"/>
            <a:ext cx="209550" cy="209550"/>
          </a:xfrm>
          <a:prstGeom prst="rect">
            <a:avLst/>
          </a:prstGeom>
        </p:spPr>
      </p:pic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895350" y="1247775"/>
            <a:ext cx="5467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基于功能预选结果，完成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份原型设计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PRD /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测试用例交付物，为开发提供直接依据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571500" y="1905000"/>
            <a:ext cx="2638425" cy="381000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7" name="圆角矩形 286"/>
          <p:cNvSpPr/>
          <p:nvPr/>
        </p:nvSpPr>
        <p:spPr>
          <a:xfrm>
            <a:off x="800100" y="213360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925" y="2257425"/>
            <a:ext cx="247650" cy="247650"/>
          </a:xfrm>
          <a:prstGeom prst="rect">
            <a:avLst/>
          </a:prstGeom>
        </p:spPr>
      </p:pic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00100" y="2781300"/>
            <a:ext cx="21812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分享与导出提案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800100" y="3086100"/>
            <a:ext cx="218122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外链只读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可评论分享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PDF/Markdown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导出，含三态交互设计与权限控制方案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800100" y="5267325"/>
            <a:ext cx="676275" cy="219075"/>
          </a:xfrm>
          <a:prstGeom prst="roundRect">
            <a:avLst>
              <a:gd name="adj" fmla="val 26087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95350" y="5305425"/>
            <a:ext cx="485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优先级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1552575" y="5267325"/>
            <a:ext cx="495300" cy="219075"/>
          </a:xfrm>
          <a:prstGeom prst="roundRect">
            <a:avLst>
              <a:gd name="adj" fmla="val 26087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1647825" y="5305425"/>
            <a:ext cx="304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1-2</a:t>
            </a:r>
            <a:r>
              <a:rPr lang="zh-CN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900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3381375" y="1905000"/>
            <a:ext cx="2628900" cy="38100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6" name="圆角矩形 295"/>
          <p:cNvSpPr/>
          <p:nvPr/>
        </p:nvSpPr>
        <p:spPr>
          <a:xfrm>
            <a:off x="3609975" y="213360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EA5E9"/>
              </a:gs>
              <a:gs pos="100000">
                <a:srgbClr val="06B6D4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297" name="图片 29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800" y="2257425"/>
            <a:ext cx="247650" cy="247650"/>
          </a:xfrm>
          <a:prstGeom prst="rect">
            <a:avLst/>
          </a:prstGeom>
        </p:spPr>
      </p:pic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3609975" y="2781300"/>
            <a:ext cx="2171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成本分析看板</a:t>
            </a:r>
            <a:r>
              <a:rPr lang="en-US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PRD</a:t>
            </a:r>
            <a:endParaRPr lang="en-US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3609975" y="3086100"/>
            <a:ext cx="21717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管理端使用量、试用率、启用率、成果采纳率、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Token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成本报表完整规格定义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3609975" y="5267325"/>
            <a:ext cx="533400" cy="219075"/>
          </a:xfrm>
          <a:prstGeom prst="roundRect">
            <a:avLst>
              <a:gd name="adj" fmla="val 26087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3705225" y="53054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管理端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4219575" y="5267325"/>
            <a:ext cx="657225" cy="219075"/>
          </a:xfrm>
          <a:prstGeom prst="roundRect">
            <a:avLst>
              <a:gd name="adj" fmla="val 26087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4314825" y="5305425"/>
            <a:ext cx="466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PRD</a:t>
            </a:r>
            <a:r>
              <a:rPr lang="zh-CN" sz="900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endParaRPr lang="zh-CN" sz="900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圆角矩形 303"/>
          <p:cNvSpPr/>
          <p:nvPr/>
        </p:nvSpPr>
        <p:spPr>
          <a:xfrm>
            <a:off x="6181725" y="1905000"/>
            <a:ext cx="2638425" cy="381000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5" name="圆角矩形 304"/>
          <p:cNvSpPr/>
          <p:nvPr/>
        </p:nvSpPr>
        <p:spPr>
          <a:xfrm>
            <a:off x="6410325" y="213360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8B5CF6"/>
              </a:gs>
              <a:gs pos="100000">
                <a:srgbClr val="A78BFA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06" name="图片 30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4150" y="2257425"/>
            <a:ext cx="247650" cy="247650"/>
          </a:xfrm>
          <a:prstGeom prst="rect">
            <a:avLst/>
          </a:prstGeom>
        </p:spPr>
      </p:pic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410325" y="2781300"/>
            <a:ext cx="21812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Agent Prompt </a:t>
            </a: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6410325" y="3086100"/>
            <a:ext cx="218122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搭子系统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Prompt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设计规范，含角色定义、知识库引用、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工具绑定策略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圆角矩形 308"/>
          <p:cNvSpPr/>
          <p:nvPr/>
        </p:nvSpPr>
        <p:spPr>
          <a:xfrm>
            <a:off x="6410325" y="5267325"/>
            <a:ext cx="828675" cy="219075"/>
          </a:xfrm>
          <a:prstGeom prst="roundRect">
            <a:avLst>
              <a:gd name="adj" fmla="val 26087"/>
            </a:avLst>
          </a:prstGeom>
          <a:solidFill>
            <a:srgbClr val="F5F3FF"/>
          </a:solidFill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505575" y="5305425"/>
            <a:ext cx="638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Prompt</a:t>
            </a:r>
            <a:r>
              <a:rPr lang="zh-CN" sz="90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工程</a:t>
            </a:r>
            <a:endParaRPr lang="zh-CN" sz="90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7315200" y="5267325"/>
            <a:ext cx="647700" cy="219075"/>
          </a:xfrm>
          <a:prstGeom prst="roundRect">
            <a:avLst>
              <a:gd name="adj" fmla="val 26087"/>
            </a:avLst>
          </a:prstGeom>
          <a:solidFill>
            <a:srgbClr val="F5F3FF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410450" y="5305425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设计规范</a:t>
            </a:r>
            <a:endParaRPr lang="zh-CN" sz="90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圆角矩形 312"/>
          <p:cNvSpPr/>
          <p:nvPr/>
        </p:nvSpPr>
        <p:spPr>
          <a:xfrm>
            <a:off x="8991600" y="1905000"/>
            <a:ext cx="2628900" cy="38100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4" name="圆角矩形 313"/>
          <p:cNvSpPr/>
          <p:nvPr/>
        </p:nvSpPr>
        <p:spPr>
          <a:xfrm>
            <a:off x="9220200" y="213360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F97316"/>
              </a:gs>
              <a:gs pos="100000">
                <a:srgbClr val="FB923C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15" name="图片 31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44025" y="2257425"/>
            <a:ext cx="247650" cy="247650"/>
          </a:xfrm>
          <a:prstGeom prst="rect">
            <a:avLst/>
          </a:prstGeom>
        </p:spPr>
      </p:pic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9220200" y="2781300"/>
            <a:ext cx="2171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Kmind </a:t>
            </a:r>
            <a:r>
              <a:rPr lang="zh-CN" sz="13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测试用例</a:t>
            </a:r>
            <a:endParaRPr lang="zh-CN" sz="13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9220200" y="3086100"/>
            <a:ext cx="21717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MVP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功能测试用例（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xlsx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），覆盖账号、对话、搭档、技能、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、知识库全链路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圆角矩形 317"/>
          <p:cNvSpPr/>
          <p:nvPr/>
        </p:nvSpPr>
        <p:spPr>
          <a:xfrm>
            <a:off x="9220200" y="5267325"/>
            <a:ext cx="390525" cy="219075"/>
          </a:xfrm>
          <a:prstGeom prst="roundRect">
            <a:avLst>
              <a:gd name="adj" fmla="val 26087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9315450" y="5305425"/>
            <a:ext cx="200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xlsx</a:t>
            </a:r>
            <a:endParaRPr lang="en-US" sz="90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圆角矩形 319"/>
          <p:cNvSpPr/>
          <p:nvPr/>
        </p:nvSpPr>
        <p:spPr>
          <a:xfrm>
            <a:off x="9686925" y="5267325"/>
            <a:ext cx="533400" cy="219075"/>
          </a:xfrm>
          <a:prstGeom prst="roundRect">
            <a:avLst>
              <a:gd name="adj" fmla="val 26087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9782175" y="53054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全链路</a:t>
            </a:r>
            <a:endParaRPr lang="zh-CN" sz="900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07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Week4（上）：知识库功能测试体系搭建&lt;/Text&gt;&#10;        &lt;Box style={{ width: 60, height: 4, background: '#2563EB', borderRadius: 2, marginTop: 8 }} /&gt;&#10;    &lt;/Box&gt;&#10;    &lt;Box style={{ flex: 1, flexDirection: 'row', gap: 0, borderRadius: 16, overflow: 'hidden', boxShadow: '0 4px 24px rgba(37,99,235,0.08)' }}&gt;&#10;        &lt;Box style={{ width: '28%', background: 'linear-gradient(160deg, #1E40AF 0%, #2563EB 100%)', padding: 28, justifyContent: 'center' }}&gt;&#10;            &lt;FAIcon name='clipboard-check' style={{ fill: '#FFFFFF', width: 40, height: 40, opacity: 0.9 }} /&gt;&#10;            &lt;Text style={{ fontSize: 22, fontWeight: 'bold', color: '#FFFFFF', marginTop: 16, lineHeight: 1.3 }}&gt;测试体系&lt;br /&gt;搭建&lt;/Text&gt;&#10;            &lt;Text style={{ fontSize: 14, color: '#FFFFFF', opacity: 0.7, marginTop: 12, lineHeight: 1.5 }}&gt;从测试场景到自动化工具链的全流程覆盖&lt;/Text&gt;&#10;        &lt;/Box&gt;&#10;        &lt;Box style={{ flex: 1, background: '#F8FAFC', padding: 28, flexDirection: 'column', gap: 18 }}&gt;&#10;            &lt;Box&gt;&#10;                &lt;Text style={{ fontSize: 16, fontWeight: 'bold', color: '#1E293B', marginBottom: 10 }}&gt;&#10;                    &lt;FAIcon name='folder' style={{ fill: '#2563EB', width: 18, height: 18 }} /&gt;{'  '}测试场景&#10;                &lt;/Text&gt;&#10;                &lt;Box style={{ flexDirection: 'row', gap: 10, flexWrap: 'wrap' }}&gt;&#10;                    &lt;Box style={{ background: '#FFFFFF', borderRadius: 8, padding: '8px 14px', border: '1px solid #DBEAFE' }}&gt;&lt;Text style={{ fontSize: 13, color: '#2563EB' }}&gt;公司规章制度&lt;/Text&gt;&lt;/Box&gt;&#10;                    &lt;Box style={{ background: '#FFFFFF', borderRadius: 8, padding: '8px 14px', border: '1px solid #DBEAFE' }}&gt;&lt;Text style={{ fontSize: 13, color: '#2563EB' }}&gt;计算机使用制度&lt;/Text&gt;&lt;/Box&gt;&#10;                    &lt;Box style={{ background: '#FFFFFF', borderRadius: 8, padding: '8px 14px', border: '1px solid #DBEAFE' }}&gt;&lt;Text style={{ fontSize: 13, color: '#2563EB' }}&gt;DCIM产品知识库&lt;/Text&gt;&lt;/Box&gt;&#10;                    &lt;Box style={{ background: '#FFFFFF', borderRadius: 8, padding: '8px 14px', border: '1px solid #DBEAFE' }}&gt;&lt;Text style={{ fontSize: 13, color: '#2563EB' }}&gt;员工手册&lt;/Text&gt;&lt;/Box&gt;&#10;                &lt;/Box&gt;&#10;            &lt;/Box&gt;&#10;            &lt;Box&gt;&#10;                &lt;Text style={{ fontSize: 16, fontWeight: 'bold', color: '#1E293B', marginBottom: 10 }}&gt;&#10;                    &lt;FAIcon name='file-text' style={{ fill: '#0EA5E9', width: 18, height: 18 }} /&gt;{'  '}测试资产&#10;                &lt;/Text&gt;&#10;                &lt;Box style={{ flexDirection: 'row', gap: 10 }}&gt;&#10;                    &lt;Box style={{ flex: 1, background: '#FFFFFF', borderRadius: 10, padding: 14, border: '1px solid #A7F3D0' }}&gt;&#10;                        &lt;Text style={{ fontSize: 14, fontWeight: 'bold', color: '#0EA5E9' }}&gt;L1基础测试用例&lt;/Text&gt;&#10;                        &lt;Text style={{ fontSize: 12, color: '#64748B', marginTop: 4 }}&gt;v1.1 多轮RUN迭代&lt;/Text&gt;&#10;                    &lt;/Box&gt;&#10;                    &lt;Box style={{ flex: 1, background: '#FFFFFF', borderRadius: 10, padding: 14, border: '1px solid #A7F3D0' }}&gt;&#10;                        &lt;Text style={{ fontSize: 14, fontWeight: 'bold', color: '#0EA5E9' }}&gt;四库Golden Dataset&lt;/Text&gt;&#10;                        &lt;Text style={{ fontSize: 12, color: '#64748B', marginTop: 4 }}&gt;md + xlsx双格式&lt;/Text&gt;&#10;                    &lt;/Box&gt;&#10;                &lt;/Box&gt;&#10;            &lt;/Box&gt;&#10;            &lt;Box&gt;&#10;                &lt;Text style={{ fontSize: 16, fontWeight: 'bold', color: '#1E293B', marginBottom: 10 }}&gt;&#10;                    &lt;FAIcon name='cog' style={{ fill: '#F97316', width: 18, height: 18 }} /&gt;{'  '}自动化工具链&#10;                &lt;/Text&gt;&#10;                &lt;svg width={600} height={70} viewBox='0 0 600 70'&gt;&#10;                    &lt;defs&gt;&#10;                        &lt;linearGradient id='toolGrad' x1='0' y1='0' x2='1' y2='0'&gt;&#10;                            &lt;stop offset='0%' stopColor='#F97316' /&gt;&#10;                            &lt;stop offset='100%' stopColor='#FB923C' /&gt;&#10;                        &lt;/linearGradient&gt;&#10;                    &lt;/defs&gt;&#10;                    &lt;rect x='10' y='20' width='110' height='30' rx='6' fill='url(#toolGrad)' /&gt;&#10;                    &lt;text x='65' y='40' textAnchor='middle' fill='#FFFFFF' fontSize='12' fontWeight='bold'&gt;kb_runner&lt;/text&gt;&#10;                    &lt;path d='M120 35 L150 35' stroke='#F97316' strokeWidth='2' markerEnd='url(#arrow1)' /&gt;&#10;                    &lt;rect x='150' y='20' width='110' height='30' rx='6' fill='url(#toolGrad)' /&gt;&#10;                    &lt;text x='205' y='40' textAnchor='middle' fill='#FFFFFF' fontSize='12' fontWeight='bold'&gt;kb_metrics&lt;/text&gt;&#10;                    &lt;path d='M260 35 L290 35' stroke='#F97316' strokeWidth='2' /&gt;&#10;                    &lt;rect x='290' y='20' width='110' height='30' rx='6' fill='url(#toolGrad)' /&gt;&#10;                    &lt;text x='345' y='40' textAnchor='middle' fill='#FFFFFF' fontSize='12' fontWeight='bold'&gt;kb_retest&lt;/text&gt;&#10;                    &lt;path d='M400 35 L430 35' stroke='#F97316' strokeWidth='2' /&gt;&#10;                    &lt;rect x='430' y='20' width='110' height='30' rx='6' fill='url(#toolGrad)' /&gt;&#10;                    &lt;text x='485' y='40' textAnchor='middle' fill='#FFFFFF' fontSize='12' fontWeight='bold'&gt;make_report&lt;/text&gt;&#10;                    &lt;defs&gt;&#10;                        &lt;marker id='arrow1' markerWidth='8' markerHeight='8' refX='6' refY='4' orient='auto'&gt;&#10;                            &lt;path d='M0 0 L6 4 L0 8 Z' fill='#F97316' /&gt;&#10;                        &lt;/marker&gt;&#10;                    &lt;/defs&gt;&#10;                    &lt;text x='300' y='65' textAnchor='middle' fill='#64748B' fontSize='11'&gt;测试执行 → 指标计算 → 重测 → 报告生成 全流程自动化&lt;/text&gt;&#10;                &lt;/svg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08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Week4</a:t>
            </a: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：知识库功能测试体系搭建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328" name="圆角矩形 327"/>
          <p:cNvSpPr/>
          <p:nvPr/>
        </p:nvSpPr>
        <p:spPr>
          <a:xfrm>
            <a:off x="571500" y="1143000"/>
            <a:ext cx="11049000" cy="4953000"/>
          </a:xfrm>
          <a:prstGeom prst="roundRect">
            <a:avLst>
              <a:gd name="adj" fmla="val 3077"/>
            </a:avLst>
          </a:prstGeom>
          <a:effectLst>
            <a:outerShdw blurRad="228600" dist="38100" dir="5400000">
              <a:srgbClr val="2563E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9" name="任意多边形 328"/>
          <p:cNvSpPr/>
          <p:nvPr/>
        </p:nvSpPr>
        <p:spPr>
          <a:xfrm>
            <a:off x="571500" y="1143000"/>
            <a:ext cx="3095625" cy="4953000"/>
          </a:xfrm>
          <a:custGeom>
            <a:avLst/>
            <a:gdLst/>
            <a:ahLst/>
            <a:cxnLst/>
            <a:pathLst>
              <a:path w="325" h="520">
                <a:moveTo>
                  <a:pt x="325" y="520"/>
                </a:move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25" y="0"/>
                </a:lnTo>
                <a:close/>
              </a:path>
            </a:pathLst>
          </a:custGeom>
          <a:gradFill>
            <a:gsLst>
              <a:gs pos="0">
                <a:srgbClr val="1E40AF"/>
              </a:gs>
              <a:gs pos="100000">
                <a:srgbClr val="2563EB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838200" y="3381375"/>
            <a:ext cx="2562225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测试体系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搭建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任意多边形 330"/>
          <p:cNvSpPr/>
          <p:nvPr/>
        </p:nvSpPr>
        <p:spPr>
          <a:xfrm>
            <a:off x="3667125" y="1143000"/>
            <a:ext cx="7953375" cy="4953000"/>
          </a:xfrm>
          <a:custGeom>
            <a:avLst/>
            <a:gdLst/>
            <a:ahLst/>
            <a:cxnLst/>
            <a:pathLst>
              <a:path w="835" h="520">
                <a:moveTo>
                  <a:pt x="819" y="0"/>
                </a:moveTo>
                <a:cubicBezTo>
                  <a:pt x="828" y="0"/>
                  <a:pt x="835" y="7"/>
                  <a:pt x="835" y="16"/>
                </a:cubicBezTo>
                <a:lnTo>
                  <a:pt x="835" y="504"/>
                </a:lnTo>
                <a:cubicBezTo>
                  <a:pt x="835" y="513"/>
                  <a:pt x="828" y="520"/>
                  <a:pt x="819" y="520"/>
                </a:cubicBezTo>
                <a:lnTo>
                  <a:pt x="0" y="520"/>
                </a:lnTo>
                <a:lnTo>
                  <a:pt x="0" y="0"/>
                </a:lnTo>
                <a:lnTo>
                  <a:pt x="819" y="0"/>
                </a:lnTo>
                <a:close/>
              </a:path>
            </a:pathLst>
          </a:custGeom>
          <a:solidFill>
            <a:srgbClr val="F8FAFC"/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3933825" y="1409700"/>
            <a:ext cx="7419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测试场景</a:t>
            </a:r>
            <a:endParaRPr lang="zh-CN" sz="12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3933825" y="1695450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067175" y="17716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公司规章制度</a:t>
            </a:r>
            <a:endParaRPr lang="zh-CN" sz="9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圆角矩形 334"/>
          <p:cNvSpPr/>
          <p:nvPr/>
        </p:nvSpPr>
        <p:spPr>
          <a:xfrm>
            <a:off x="5038725" y="1695450"/>
            <a:ext cx="1133475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172075" y="17716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计算机使用制度</a:t>
            </a:r>
            <a:endParaRPr lang="zh-CN" sz="9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圆角矩形 336"/>
          <p:cNvSpPr/>
          <p:nvPr/>
        </p:nvSpPr>
        <p:spPr>
          <a:xfrm>
            <a:off x="6267450" y="1695450"/>
            <a:ext cx="1228725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6400800" y="17716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DCIM</a:t>
            </a:r>
            <a:r>
              <a:rPr lang="zh-CN" sz="9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产品知识库</a:t>
            </a:r>
            <a:endParaRPr lang="zh-CN" sz="9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圆角矩形 338"/>
          <p:cNvSpPr/>
          <p:nvPr/>
        </p:nvSpPr>
        <p:spPr>
          <a:xfrm>
            <a:off x="7591425" y="1695450"/>
            <a:ext cx="7620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7724775" y="17716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员工手册</a:t>
            </a:r>
            <a:endParaRPr lang="zh-CN" sz="9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3933825" y="2171700"/>
            <a:ext cx="7419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测试资产</a:t>
            </a:r>
            <a:endParaRPr lang="zh-CN" sz="12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3933825" y="2457450"/>
            <a:ext cx="3667125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4067175" y="2590800"/>
            <a:ext cx="3400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L1</a:t>
            </a:r>
            <a:r>
              <a:rPr lang="zh-CN" sz="10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基础测试用例</a:t>
            </a:r>
            <a:endParaRPr lang="zh-CN" sz="1050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4067175" y="2790825"/>
            <a:ext cx="34004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v1.1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多轮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RUN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7696200" y="2457450"/>
            <a:ext cx="36576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7829550" y="2590800"/>
            <a:ext cx="3390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四库</a:t>
            </a:r>
            <a:r>
              <a:rPr lang="en-US" sz="105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Golden Dataset</a:t>
            </a:r>
            <a:endParaRPr lang="en-US" sz="1050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7829550" y="2790825"/>
            <a:ext cx="3390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md + xlsx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双格式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3933825" y="3238500"/>
            <a:ext cx="7419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自动化工具链</a:t>
            </a:r>
            <a:endParaRPr lang="zh-CN" sz="12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9" name="图片 3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3825" y="3524250"/>
            <a:ext cx="5715000" cy="666750"/>
          </a:xfrm>
          <a:prstGeom prst="rect">
            <a:avLst/>
          </a:prstGeom>
        </p:spPr>
      </p:pic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1122045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08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2" name="图片 351"/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847975"/>
            <a:ext cx="381000" cy="381000"/>
          </a:xfrm>
          <a:prstGeom prst="rect">
            <a:avLst/>
          </a:prstGeom>
        </p:spPr>
      </p:pic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838200" y="4152900"/>
            <a:ext cx="25622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从测试场景到自动化工具链的全流程覆盖</a:t>
            </a:r>
            <a:endParaRPr lang="zh-CN" sz="105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508000"/>
            <a:ext cx="101600" cy="50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444500"/>
            <a:ext cx="889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使用与成本分析看板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16000"/>
            <a:ext cx="825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管理端 · 搭子 / 技能 / 模型 / 组织 多维资源投入可视化</a:t>
            </a:r>
          </a:p>
        </p:txBody>
      </p:sp>
      <p:pic>
        <p:nvPicPr>
          <p:cNvPr id="5" name="Picture 4" descr="clipboard-2026-08-21T07-25-14-281Z-706f955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00" y="508000"/>
            <a:ext cx="3415030" cy="5010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000" y="1778000"/>
            <a:ext cx="3089910" cy="126873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000" y="1778000"/>
            <a:ext cx="76200" cy="126873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968500"/>
            <a:ext cx="2733040" cy="37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总使用量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387600"/>
            <a:ext cx="2733040" cy="534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消息数 + 生成成果数 + 工具调用次数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0" y="1778000"/>
            <a:ext cx="3089910" cy="126873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91000" y="1778000"/>
            <a:ext cx="76200" cy="126873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5000" y="1968500"/>
            <a:ext cx="2733040" cy="37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平均试用率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5000" y="2387600"/>
            <a:ext cx="2733040" cy="534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周期内首次试用用户数 ÷ 活跃用户数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" y="3175000"/>
            <a:ext cx="3089910" cy="126873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000" y="3175000"/>
            <a:ext cx="76200" cy="126873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3365500"/>
            <a:ext cx="2733040" cy="37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平均启用率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784600"/>
            <a:ext cx="2733040" cy="534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已启用单元用户数 ÷ 组织总用户数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1000" y="3175000"/>
            <a:ext cx="3089910" cy="126873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91000" y="3175000"/>
            <a:ext cx="76200" cy="126873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5000" y="3365500"/>
            <a:ext cx="2733040" cy="374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Token 折算成本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0" y="3784600"/>
            <a:ext cx="2733040" cy="534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Σ(模型 Token × 单价) 按搭子/技能/模型/组织下钻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3000" y="1498600"/>
            <a:ext cx="4559300" cy="7175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7000" y="1651000"/>
            <a:ext cx="11398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① 采集层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6525" y="1696720"/>
            <a:ext cx="309435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行为埋点 · 启用/试用事件 · Token 计量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049000" y="2199005"/>
            <a:ext cx="0" cy="188595"/>
          </a:xfrm>
          <a:prstGeom prst="line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3000" y="2400300"/>
            <a:ext cx="4559300" cy="7747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0175" y="2630170"/>
            <a:ext cx="11398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微软雅黑" panose="020B0503020204020204" charset="-122"/>
              </a:defRPr>
            </a:pPr>
            <a:r>
              <a:t>② 汇总层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7650" y="2630170"/>
            <a:ext cx="309435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按搭子 / 技能 / 组织维度聚合指标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049000" y="3176905"/>
            <a:ext cx="0" cy="188595"/>
          </a:xfrm>
          <a:prstGeom prst="line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83475" y="3416300"/>
            <a:ext cx="4559300" cy="78613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7000" y="3640455"/>
            <a:ext cx="11398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③ 看板层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7645" y="3686175"/>
            <a:ext cx="309435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维度切换 · 趋势图 · 排行榜 · 成本明细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049000" y="4202430"/>
            <a:ext cx="0" cy="188595"/>
          </a:xfrm>
          <a:prstGeom prst="line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93000" y="4391025"/>
            <a:ext cx="4559300" cy="7493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0175" y="4616450"/>
            <a:ext cx="11398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t>④ 输出层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6525" y="4616450"/>
            <a:ext cx="309435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CSV / Excel 导出 · 图表快照 · 任务反馈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2600" y="5394325"/>
            <a:ext cx="3149600" cy="67373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2600" y="5394325"/>
            <a:ext cx="76200" cy="67373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5570220"/>
            <a:ext cx="2886710" cy="269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下钻分析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5825490"/>
            <a:ext cx="2886710" cy="242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搭子 → 技能 → 模型 → 组织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2600" y="5394325"/>
            <a:ext cx="3009900" cy="67373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92600" y="5394325"/>
            <a:ext cx="76200" cy="673735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1200" y="5570220"/>
            <a:ext cx="2759075" cy="269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权限隔离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1200" y="5825490"/>
            <a:ext cx="2759075" cy="242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仅展示授权组织及其下级数据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26375" y="5394325"/>
            <a:ext cx="2628900" cy="67373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26375" y="5394325"/>
            <a:ext cx="76200" cy="673735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54975" y="5570220"/>
            <a:ext cx="2409825" cy="269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导出审计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4975" y="5825490"/>
            <a:ext cx="2409825" cy="242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CSV/Excel + 图表快照 + 任务状态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600" y="66040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企业AI工作空间 · 月度汇报</a:t>
            </a: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1122045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09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 descr="&lt;Slide style={{ width: '1280px', height: '720px', padding: '20px 60px', flexDirection: 'column' }}&gt;&#10;    &lt;Box style={{ height: 100, flexDirection: 'column', justifyContent: 'center' }}&gt;&#10;        &lt;Text style={{ fontSize: 32, fontWeight: 'bold', color: '#1E293B' }}&gt;本月成果总结&lt;/Text&gt;&#10;        &lt;Box style={{ width: 60, height: 4, background: '#2563EB', borderRadius: 2, marginTop: 8 }} /&gt;&#10;    &lt;/Box&gt;&#10;    &lt;Box style={{ flex: 1, flexDirection: 'row', gap: 24, alignItems: 'center' }}&gt;&#10;        &lt;Box style={{ width: '45%', flexDirection: 'column', gap: 10 }}&gt;&#10;            &lt;Box style={{ flexDirection: 'row', alignItems: 'center', gap: 16, background: '#EFF6FF', borderRadius: 14, padding: '12px 20px', borderLeft: '4px solid #2563EB' }}&gt;&#10;                &lt;Text style={{ fontSize: 48, fontWeight: 'bold', color: '#2563EB', lineHeight: 1, width: 70, textAlign: 'center' }}&gt;1&lt;/Text&gt;&#10;                &lt;Box&gt;&lt;Text style={{ fontSize: 15, fontWeight: 'bold', color: '#1E293B' }}&gt;知识库体系&lt;/Text&gt;&lt;Text style={{ fontSize: 13, color: '#64748B' }}&gt;AI概念 + 工具 + 项目实战&lt;/Text&gt;&lt;/Box&gt;&#10;            &lt;/Box&gt;&#10;            &lt;Box style={{ flexDirection: 'row', alignItems: 'center', gap: 16, background: '#F0FDFA', borderRadius: 14, padding: '12px 20px', borderLeft: '4px solid #0EA5E9' }}&gt;&#10;                &lt;Text style={{ fontSize: 48, fontWeight: 'bold', color: '#0EA5E9', lineHeight: 1, width: 70, textAlign: 'center' }}&gt;2&lt;/Text&gt;&#10;                &lt;Box&gt;&lt;Text style={{ fontSize: 15, fontWeight: 'bold', color: '#1E293B' }}&gt;深度研究报告&lt;/Text&gt;&lt;Text style={{ fontSize: 13, color: '#64748B' }}&gt;OpenWebUI拆解 + WorkBuddy对标&lt;/Text&gt;&lt;/Box&gt;&#10;            &lt;/Box&gt;&#10;            &lt;Box style={{ flexDirection: 'row', alignItems: 'center', gap: 16, background: '#F5F3FF', borderRadius: 14, padding: '12px 20px', borderLeft: '4px solid #8B5CF6' }}&gt;&#10;                &lt;Text style={{ fontSize: 48, fontWeight: 'bold', color: '#8B5CF6', lineHeight: 1, width: 70, textAlign: 'center' }}&gt;1&lt;/Text&gt;&#10;                &lt;Box&gt;&lt;Text style={{ fontSize: 15, fontWeight: 'bold', color: '#1E293B' }}&gt;功能规划&lt;/Text&gt;&lt;Text style={{ fontSize: 13, color: '#64748B' }}&gt;候选池22项 → 预选6+框架1&lt;/Text&gt;&lt;/Box&gt;&#10;            &lt;/Box&gt;&#10;            &lt;Box style={{ flexDirection: 'row', alignItems: 'center', gap: 16, background: '#FFF7ED', borderRadius: 14, padding: '12px 20px', borderLeft: '4px solid #F97316' }}&gt;&#10;                &lt;Text style={{ fontSize: 48, fontWeight: 'bold', color: '#F97316', lineHeight: 1, width: 70, textAlign: 'center' }}&gt;4&lt;/Text&gt;&#10;                &lt;Box&gt;&lt;Text style={{ fontSize: 15, fontWeight: 'bold', color: '#1E293B' }}&gt;原型/PRD/用例&lt;/Text&gt;&lt;Text style={{ fontSize: 13, color: '#64748B' }}&gt;分享导出 + 成本看板 + Prompt + 测试&lt;/Text&gt;&lt;/Box&gt;&#10;            &lt;/Box&gt;&#10;            &lt;Box style={{ flexDirection: 'row', alignItems: 'center', gap: 16, background: '#FEF2F2', borderRadius: 14, padding: '12px 20px', borderLeft: '4px solid #EF4444' }}&gt;&#10;                &lt;Text style={{ fontSize: 48, fontWeight: 'bold', color: '#EF4444', lineHeight: 1, width: 70, textAlign: 'center' }}&gt;1&lt;/Text&gt;&#10;                &lt;Box&gt;&lt;Text style={{ fontSize: 15, fontWeight: 'bold', color: '#1E293B' }}&gt;测试工具链+报告&lt;/Text&gt;&lt;Text style={{ fontSize: 13, color: '#64748B' }}&gt;自动化测试 + 检索质量分析&lt;/Text&gt;&lt;/Box&gt;&#10;            &lt;/Box&gt;&#10;        &lt;/Box&gt;&#10;        &lt;Box style={{ flex: 1, background: 'linear-gradient(160deg, #1E40AF 0%, #0EA5E9 100%)', borderRadius: 20, padding: 40, height: 460, justifyContent: 'center', position: 'relative', overflow: 'hidden' }}&gt;&#10;            &lt;svg width={300} height={300} viewBox='0 0 300 300' style={{ position: 'absolute', right: -40, top: -40, opacity: 0.15 }}&gt;&#10;                &lt;circle cx='150' cy='150' r='120' fill='#FFFFFF' /&gt;&#10;                &lt;circle cx='180' cy='180' r='80' fill='#FFFFFF' opacity='0.5' /&gt;&#10;            &lt;/svg&gt;&#10;            &lt;Box style={{ position: 'relative', zIndex: 1 }}&gt;&#10;                &lt;Text style={{ fontSize: 20, color: '#FFFFFF', opacity: 0.8 }}&gt;本月完成&lt;/Text&gt;&#10;                &lt;Text style={{ fontSize: 42, fontWeight: 'bold', color: '#FFFFFF', marginTop: 12, lineHeight: 1.3 }}&gt;从 AI 工具认知&lt;br /&gt;到企业AI工作空间&lt;br /&gt;2期规划与测试验证&lt;br /&gt;的完整闭环&lt;/Text&gt;&#10;                &lt;Box style={{ flexDirection: 'row', gap: 24, marginTop: 28 }}&gt;&#10;                    &lt;Box&gt;&lt;Text style={{ fontSize: 36, fontWeight: 'bold', color: '#FFFFFF' }}&gt;13&lt;/Text&gt;&lt;Text style={{ fontSize: 14, color: '#FFFFFF', opacity: 0.7 }}&gt;页汇报&lt;/Text&gt;&lt;/Box&gt;&#10;                    &lt;Box&gt;&lt;Text style={{ fontSize: 36, fontWeight: 'bold', color: '#FFFFFF' }}&gt;4&lt;/Text&gt;&lt;Text style={{ fontSize: 14, color: '#FFFFFF', opacity: 0.7 }}&gt;周推进&lt;/Text&gt;&lt;/Box&gt;&#10;                    &lt;Box&gt;&lt;Text style={{ fontSize: 36, fontWeight: 'bold', color: '#FCD34D' }}&gt;22&lt;/Text&gt;&lt;Text style={{ fontSize: 14, color: '#FFFFFF', opacity: 0.7 }}&gt;候选功能&lt;/Text&gt;&lt;/Box&gt;&#10;                &lt;/Box&gt;&#10;            &lt;/Box&gt;&#10;        &lt;/Box&gt;&#10;    &lt;/Box&gt;&#10;    &lt;Box style={{ height: 60, flexDirection: 'row', justifyContent: 'space-between', alignItems: 'flex-end', paddingBottom: 12 }}&gt;&#10;        &lt;Text style={{ fontSize: 14, color: '#94A3B8' }}&gt;企业AI工作空间 · 月度汇报&lt;/Text&gt;&#10;        &lt;Text style={{ fontSize: 14, color: '#94A3B8' }}&gt;10 / 13&lt;/Text&gt;&#10;    &lt;/Box&gt;&#10;&lt;/Slide&gt;"/>
        <p:cNvGrpSpPr/>
        <p:nvPr/>
      </p:nvGrpSpPr>
      <p:grpSpPr>
        <a:xfrm rot="0">
          <a:off x="-9223372036854775808" y="-9223372036854775808"/>
          <a:ext cx="0" cy="0"/>
          <a:chOff x="571500" y="428625"/>
          <a:chExt cx="11049000" cy="371475"/>
        </a:xfrm>
      </p:grpSpPr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571500" y="428625"/>
            <a:ext cx="11049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本月成果总结</a:t>
            </a:r>
            <a:endParaRPr lang="zh-CN" sz="24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71500" y="8763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6" name="圆角矩形 15"/>
          <p:cNvSpPr/>
          <p:nvPr/>
        </p:nvSpPr>
        <p:spPr>
          <a:xfrm>
            <a:off x="609600" y="1476375"/>
            <a:ext cx="4972050" cy="781050"/>
          </a:xfrm>
          <a:prstGeom prst="roundRect">
            <a:avLst>
              <a:gd name="adj" fmla="val 17073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7" name="任意多边形 16"/>
          <p:cNvSpPr/>
          <p:nvPr/>
        </p:nvSpPr>
        <p:spPr>
          <a:xfrm>
            <a:off x="609600" y="147637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2"/>
                </a:lnTo>
                <a:cubicBezTo>
                  <a:pt x="4" y="76"/>
                  <a:pt x="7" y="80"/>
                  <a:pt x="11" y="82"/>
                </a:cubicBezTo>
                <a:cubicBezTo>
                  <a:pt x="5" y="80"/>
                  <a:pt x="0" y="75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00100" y="1590675"/>
            <a:ext cx="666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3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619250" y="1704975"/>
            <a:ext cx="1447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知识库体系</a:t>
            </a:r>
            <a:endParaRPr lang="zh-CN" sz="11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619250" y="1876425"/>
            <a:ext cx="1447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概念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项目实战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09600" y="2352675"/>
            <a:ext cx="4972050" cy="781050"/>
          </a:xfrm>
          <a:prstGeom prst="roundRect">
            <a:avLst>
              <a:gd name="adj" fmla="val 17073"/>
            </a:avLst>
          </a:prstGeom>
          <a:solidFill>
            <a:srgbClr val="F0FDFA"/>
          </a:solidFill>
        </p:spPr>
        <p:txBody>
          <a:bodyPr/>
          <a:p/>
        </p:txBody>
      </p:sp>
      <p:sp>
        <p:nvSpPr>
          <p:cNvPr id="22" name="任意多边形 21"/>
          <p:cNvSpPr/>
          <p:nvPr/>
        </p:nvSpPr>
        <p:spPr>
          <a:xfrm>
            <a:off x="609600" y="235267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2"/>
                </a:lnTo>
                <a:cubicBezTo>
                  <a:pt x="4" y="76"/>
                  <a:pt x="7" y="80"/>
                  <a:pt x="11" y="82"/>
                </a:cubicBezTo>
                <a:cubicBezTo>
                  <a:pt x="5" y="80"/>
                  <a:pt x="0" y="75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0EA5E9"/>
          </a:solidFill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800100" y="2466975"/>
            <a:ext cx="666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0EA5E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3600" b="1">
              <a:solidFill>
                <a:srgbClr val="0EA5E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1619250" y="2581275"/>
            <a:ext cx="2085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深度研究报告</a:t>
            </a:r>
            <a:endParaRPr lang="zh-CN" sz="11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1619250" y="2752725"/>
            <a:ext cx="2085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OpenWebUI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拆解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WorkBuddy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09600" y="3228975"/>
            <a:ext cx="4972050" cy="781050"/>
          </a:xfrm>
          <a:prstGeom prst="roundRect">
            <a:avLst>
              <a:gd name="adj" fmla="val 17073"/>
            </a:avLst>
          </a:prstGeom>
          <a:solidFill>
            <a:srgbClr val="F5F3FF"/>
          </a:solidFill>
        </p:spPr>
        <p:txBody>
          <a:bodyPr/>
          <a:p/>
        </p:txBody>
      </p:sp>
      <p:sp>
        <p:nvSpPr>
          <p:cNvPr id="27" name="任意多边形 26"/>
          <p:cNvSpPr/>
          <p:nvPr/>
        </p:nvSpPr>
        <p:spPr>
          <a:xfrm>
            <a:off x="609600" y="322897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2"/>
                </a:lnTo>
                <a:cubicBezTo>
                  <a:pt x="4" y="76"/>
                  <a:pt x="7" y="80"/>
                  <a:pt x="11" y="82"/>
                </a:cubicBezTo>
                <a:cubicBezTo>
                  <a:pt x="5" y="80"/>
                  <a:pt x="0" y="75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8B5CF6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800100" y="3343275"/>
            <a:ext cx="666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36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1619250" y="3457575"/>
            <a:ext cx="1571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功能规划</a:t>
            </a:r>
            <a:endParaRPr lang="zh-CN" sz="11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619250" y="3629025"/>
            <a:ext cx="1571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候选池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预选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6+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框架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09600" y="4105275"/>
            <a:ext cx="4972050" cy="781050"/>
          </a:xfrm>
          <a:prstGeom prst="roundRect">
            <a:avLst>
              <a:gd name="adj" fmla="val 17073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32" name="任意多边形 31"/>
          <p:cNvSpPr/>
          <p:nvPr/>
        </p:nvSpPr>
        <p:spPr>
          <a:xfrm>
            <a:off x="609600" y="410527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2"/>
                </a:lnTo>
                <a:cubicBezTo>
                  <a:pt x="4" y="76"/>
                  <a:pt x="7" y="80"/>
                  <a:pt x="11" y="82"/>
                </a:cubicBezTo>
                <a:cubicBezTo>
                  <a:pt x="5" y="80"/>
                  <a:pt x="0" y="75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800100" y="4219575"/>
            <a:ext cx="666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360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1619250" y="4333875"/>
            <a:ext cx="2181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原型</a:t>
            </a:r>
            <a:r>
              <a:rPr lang="en-US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/PRD/</a:t>
            </a: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endParaRPr lang="zh-CN" sz="11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1619250" y="4505325"/>
            <a:ext cx="21812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分享导出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成本看板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Prompt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09600" y="4981575"/>
            <a:ext cx="4972050" cy="781050"/>
          </a:xfrm>
          <a:prstGeom prst="roundRect">
            <a:avLst>
              <a:gd name="adj" fmla="val 17073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37" name="任意多边形 36"/>
          <p:cNvSpPr/>
          <p:nvPr/>
        </p:nvSpPr>
        <p:spPr>
          <a:xfrm>
            <a:off x="609600" y="4981575"/>
            <a:ext cx="4972050" cy="781050"/>
          </a:xfrm>
          <a:custGeom>
            <a:avLst/>
            <a:gdLst/>
            <a:ahLst/>
            <a:cxnLst/>
            <a:pathLst>
              <a:path w="522" h="8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2"/>
                </a:lnTo>
                <a:cubicBezTo>
                  <a:pt x="4" y="76"/>
                  <a:pt x="7" y="80"/>
                  <a:pt x="11" y="82"/>
                </a:cubicBezTo>
                <a:cubicBezTo>
                  <a:pt x="5" y="80"/>
                  <a:pt x="0" y="75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F4444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00100" y="5095875"/>
            <a:ext cx="66675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3600" b="1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1619250" y="5210175"/>
            <a:ext cx="1533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测试工具链</a:t>
            </a:r>
            <a:r>
              <a:rPr lang="en-US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1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endParaRPr lang="zh-CN" sz="11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619250" y="5381625"/>
            <a:ext cx="1533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自动化测试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检索质量分析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71500" y="6391275"/>
            <a:ext cx="1581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企业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月度汇报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11163300" y="63912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 / 11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772150" y="1428750"/>
            <a:ext cx="5848350" cy="4381500"/>
          </a:xfrm>
          <a:prstGeom prst="roundRect">
            <a:avLst>
              <a:gd name="adj" fmla="val 4348"/>
            </a:avLst>
          </a:prstGeom>
          <a:gradFill>
            <a:gsLst>
              <a:gs pos="0">
                <a:srgbClr val="1E40AF"/>
              </a:gs>
              <a:gs pos="100000">
                <a:srgbClr val="0EA5E9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1047750"/>
            <a:ext cx="2857500" cy="2857500"/>
          </a:xfrm>
          <a:custGeom>
            <a:avLst/>
            <a:gdLst/>
            <a:ahLst/>
            <a:cxnLst/>
            <a:pathLst>
              <a:path w="300" h="300">
                <a:moveTo>
                  <a:pt x="241" y="40"/>
                </a:moveTo>
                <a:cubicBezTo>
                  <a:pt x="251" y="40"/>
                  <a:pt x="260" y="49"/>
                  <a:pt x="260" y="60"/>
                </a:cubicBezTo>
                <a:lnTo>
                  <a:pt x="260" y="300"/>
                </a:lnTo>
                <a:lnTo>
                  <a:pt x="0" y="300"/>
                </a:lnTo>
                <a:lnTo>
                  <a:pt x="0" y="40"/>
                </a:lnTo>
                <a:lnTo>
                  <a:pt x="240" y="40"/>
                </a:lnTo>
                <a:close/>
              </a:path>
            </a:pathLst>
          </a:custGeom>
        </p:spPr>
      </p:pic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6153150" y="2114550"/>
            <a:ext cx="5086350" cy="2505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工具认知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到企业</a:t>
            </a:r>
            <a:r>
              <a:rPr lang="en-US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工作空间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期规划与测试验证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的完整闭环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6153150" y="1771650"/>
            <a:ext cx="508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本月完成</a:t>
            </a:r>
            <a:endParaRPr lang="zh-CN" sz="150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 descr="&lt;Slide style={{ width: '1280px', height: '720px', padding: 0, position: 'relative', overflow: 'hidden', background: 'linear-gradient(135deg, #1E40AF 0%, #0EA5E9 100%)' }}&gt;&#10;    &lt;svg width={700} height={720} viewBox='0 0 700 720' style={{ position: 'absolute', right: 0, top: 0, opacity: 0.1 }}&gt;&#10;        &lt;circle cx='400' cy='300' r='240' fill='#FFFFFF' /&gt;&#10;        &lt;circle cx='520' cy='480' r='160' fill='#FFFFFF' opacity='0.5' /&gt;&#10;        &lt;circle cx='280' cy='580' r='200' fill='#FFFFFF' opacity='0.3' /&gt;&#10;        &lt;rect x='340' y='120' width='200' height='200' rx='24' fill='#FFFFFF' opacity='0.1' transform='rotate(20 440 220)' /&gt;&#10;    &lt;/svg&gt;&#10;    &lt;Box style={{ height: '100%', justifyContent: 'center', alignItems: 'center', position: 'relative', zIndex: 1 }}&gt;&#10;        &lt;Box style={{ alignItems: 'center', flexDirection: 'column' }}&gt;&#10;            &lt;Text style={{ fontSize: 72, fontWeight: 'bold', color: '#FFFFFF', lineHeight: 1.2 }}&gt;感谢聆听&lt;/Text&gt;&#10;            &lt;Box style={{ width: 80, height: 4, background: '#F97316', borderRadius: 2, marginTop: 24, marginBottom: 24 }} /&gt;&#10;            &lt;Text style={{ fontSize: 28, color: '#FFFFFF', opacity: 0.85, letterSpacing: 4 }}&gt;Q &amp; A&lt;/Text&gt;&#10;            &lt;Text style={{ fontSize: 16, color: '#FFFFFF', opacity: 0.6, marginTop: 40 }}&gt;企业AI工作空间项目组 · 2026年8月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0EA5E9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1">
            <a:alphaModFix amt="1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500" y="0"/>
            <a:ext cx="6667500" cy="685800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724400" y="2238375"/>
            <a:ext cx="2743200" cy="990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5715000" y="34575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5600700" y="3724275"/>
            <a:ext cx="9906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spc="30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Q &amp; A</a:t>
            </a:r>
            <a:endParaRPr lang="en-US" sz="2100" spc="30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5600700" y="4429125"/>
            <a:ext cx="2409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2026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lang="zh-CN" sz="120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2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3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4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5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6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7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8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9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10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11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ags/tag12.xml><?xml version="1.0" encoding="utf-8"?>
<p:tagLst xmlns:p="http://schemas.openxmlformats.org/presentationml/2006/main">
  <p:tag name="KSO_WM_DIAGRAM_VIRTUALLY_FRAME" val="{&quot;height&quot;:340.5,&quot;left&quot;:45,&quot;top&quot;:114.75,&quot;width&quot;:330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2519</Words>
  <Application>WPS 演示</Application>
  <PresentationFormat/>
  <Paragraphs>404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xc</cp:lastModifiedBy>
  <cp:revision>2</cp:revision>
  <dcterms:created xsi:type="dcterms:W3CDTF">2026-08-21T07:55:12Z</dcterms:created>
  <dcterms:modified xsi:type="dcterms:W3CDTF">2026-08-21T07:59:57Z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E7A91259EA834766A370242C15305A3B_12</vt:lpwstr>
  </property>
</Properties>
</file>